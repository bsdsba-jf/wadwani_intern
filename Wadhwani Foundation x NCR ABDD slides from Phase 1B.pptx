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2147379458" r:id="rId5"/>
    <p:sldId id="2147381727" r:id="rId6"/>
    <p:sldId id="2147480251" r:id="rId7"/>
    <p:sldId id="2147480345" r:id="rId8"/>
    <p:sldId id="2147480343" r:id="rId9"/>
    <p:sldId id="2147480252" r:id="rId10"/>
    <p:sldId id="2147480253" r:id="rId11"/>
    <p:sldId id="2147480342" r:id="rId12"/>
    <p:sldId id="214748034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BBEF29-96EB-6CB0-6E17-4150AC0B80AA}" name="Angela Chen" initials="AC" userId="S::angela.chen@wadhwanifoundation.org::50c776d9-38e6-4eed-a4f6-8e3548efec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1013"/>
    <a:srgbClr val="864305"/>
    <a:srgbClr val="D86F5E"/>
    <a:srgbClr val="7ED2CB"/>
    <a:srgbClr val="005CA8"/>
    <a:srgbClr val="DCF4EC"/>
    <a:srgbClr val="FDE8D3"/>
    <a:srgbClr val="E9AAAA"/>
    <a:srgbClr val="FFF5F1"/>
    <a:srgbClr val="FED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A384E-D1A3-5B4A-A9ED-1ABC24624B56}" v="2" dt="2026-06-22T04:39:15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57"/>
    <p:restoredTop sz="94920"/>
  </p:normalViewPr>
  <p:slideViewPr>
    <p:cSldViewPr snapToGrid="0">
      <p:cViewPr varScale="1">
        <p:scale>
          <a:sx n="66" d="100"/>
          <a:sy n="66" d="100"/>
        </p:scale>
        <p:origin x="208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BF37F-AA76-F143-952C-39F8E5595C5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C85D8-A67C-8347-8026-111F8E70E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2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8F193-1F9B-5241-84E8-22F02D10C2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978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Companies were sector tagged based on the roles they were hiring for. Some companies were hiring for roles in different sectors. 3 companies were based outside of NCR, lowering the total demand estimate to </a:t>
            </a:r>
            <a:r>
              <a:rPr lang="en-PH" sz="1200" dirty="0"/>
              <a:t>128,615.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8F193-1F9B-5241-84E8-22F02D10C2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008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788B-C958-EAC6-564A-A0C12E16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6CF4F-DE2E-5BE7-2BCD-601A74F67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2EDC3-7ACD-40ED-DE03-8A579BE63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D83AF-4084-E936-7F65-2BDAA5D94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8F193-1F9B-5241-84E8-22F02D10C2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447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AA749-2F09-F0EB-E002-5CD2C9B7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50273-397B-4600-5C66-50B97B745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DA1D2-0D26-8AEE-0AB2-48DEE249E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A6FEC-B6A3-FB32-A410-AB7C27FCA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85D8-A67C-8347-8026-111F8E70E2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74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CA84-17AC-A408-E63D-1DC6BE44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E6AC9-E01A-E412-8723-546BDC415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D9852-1F2D-167C-2F34-8B094BB06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A87F3-548C-84B4-EF8B-68BA03A89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85D8-A67C-8347-8026-111F8E70E2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1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6522-FE19-ACB5-9256-818D39BC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BD27D-ED27-BE1A-F17F-F811DA26E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157A2-DDE0-5EBB-8E84-266420815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6B624-DC10-2898-F85D-0C0CA40E4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8F193-1F9B-5241-84E8-22F02D10C2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841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347C-43B5-124D-4517-F4C65F10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35B11-9426-7B1A-024B-85F808090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D4AB7-A0CC-78F2-86E7-27983AA7F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06AE-30CE-457B-0F2C-29450C65E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C85D8-A67C-8347-8026-111F8E70E2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DD67E53-F399-3A5C-A2F9-C9311ECB6E6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2144" y="1910575"/>
            <a:ext cx="1548000" cy="1512000"/>
          </a:xfrm>
          <a:prstGeom prst="rect">
            <a:avLst/>
          </a:prstGeom>
        </p:spPr>
      </p:pic>
      <p:pic>
        <p:nvPicPr>
          <p:cNvPr id="28" name="Picture Placeholder 44">
            <a:extLst>
              <a:ext uri="{FF2B5EF4-FFF2-40B4-BE49-F238E27FC236}">
                <a16:creationId xmlns:a16="http://schemas.microsoft.com/office/drawing/2014/main" id="{9FF1991E-33CE-EBFA-CEA6-5C54FC4A95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73240" y="4915571"/>
            <a:ext cx="1555200" cy="1555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75A4C7-B5E5-9971-C6D2-623634AD958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1758" y="3420000"/>
            <a:ext cx="1548000" cy="151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27245"/>
            <a:ext cx="3321586" cy="1864874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lnSpc>
                <a:spcPts val="4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</a:t>
            </a:r>
            <a:br>
              <a:rPr lang="en-GB"/>
            </a:br>
            <a:r>
              <a:rPr lang="en-GB"/>
              <a:t>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9999" y="2192119"/>
            <a:ext cx="3321585" cy="11947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subtitle style</a:t>
            </a:r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63D99F5-9A57-0037-C7AB-A03F52BABD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52146" y="379555"/>
            <a:ext cx="1512000" cy="1512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F26E3792-F707-1887-A3E6-AE15586991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7093" y="379555"/>
            <a:ext cx="1512000" cy="1512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772CB74-FF44-F8AE-2BCF-46DFA6E4A9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3603" y="379554"/>
            <a:ext cx="1530000" cy="303921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3CB30086-95D2-2790-0E5D-812524D4A9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287094" y="1889387"/>
            <a:ext cx="1512000" cy="1512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7EA5A774-5310-E211-0357-3729C99D8D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699073" y="1913221"/>
            <a:ext cx="1512000" cy="151099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DD9D0A4E-8F66-7AB1-914A-ED2DC88A8B4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280166" y="3406352"/>
            <a:ext cx="1512000" cy="1512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6C877EA0-86B8-57C4-F8E2-C418EED63E9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8292" y="3399219"/>
            <a:ext cx="1530000" cy="3060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DBBE4E26-A5FA-0667-FEBC-9F794A8DB3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92151" y="3433648"/>
            <a:ext cx="1512000" cy="1512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7A97CDFD-8C4F-2986-D2F9-C3E55CD2B86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175999" y="3433648"/>
            <a:ext cx="1512000" cy="1512000"/>
          </a:xfrm>
        </p:spPr>
        <p:txBody>
          <a:bodyPr/>
          <a:lstStyle/>
          <a:p>
            <a:endParaRPr lang="en-US"/>
          </a:p>
        </p:txBody>
      </p:sp>
      <p:pic>
        <p:nvPicPr>
          <p:cNvPr id="33" name="Picture Placeholder 48">
            <a:extLst>
              <a:ext uri="{FF2B5EF4-FFF2-40B4-BE49-F238E27FC236}">
                <a16:creationId xmlns:a16="http://schemas.microsoft.com/office/drawing/2014/main" id="{AFE1C78B-5D62-2681-6E00-840681BB4AA0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4124" y="1889387"/>
            <a:ext cx="1548000" cy="1512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900703C-51D0-BCA2-F49A-4B1B0E8CF460}"/>
              </a:ext>
            </a:extLst>
          </p:cNvPr>
          <p:cNvSpPr txBox="1"/>
          <p:nvPr userDrawn="1"/>
        </p:nvSpPr>
        <p:spPr>
          <a:xfrm>
            <a:off x="4120078" y="6627168"/>
            <a:ext cx="435610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 algn="l"/>
            <a:r>
              <a:rPr lang="en-US">
                <a:solidFill>
                  <a:schemeClr val="tx1"/>
                </a:solidFill>
              </a:rPr>
              <a:t>© Copyright 2023. Wadhwani Foundation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1D25BB8B-7664-6927-9532-9DEA140E7F5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75999" y="4947347"/>
            <a:ext cx="3028152" cy="15120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8411F-6A5A-EED1-79ED-F393243CA9C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11575" y="4421529"/>
            <a:ext cx="1732965" cy="24711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EA426F-9B1B-794B-40B5-932299144BAA}"/>
              </a:ext>
            </a:extLst>
          </p:cNvPr>
          <p:cNvSpPr/>
          <p:nvPr userDrawn="1"/>
        </p:nvSpPr>
        <p:spPr>
          <a:xfrm>
            <a:off x="2656684" y="4939200"/>
            <a:ext cx="1512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26C0EB5F-E9FB-4AF9-E258-AD934186EA8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11758" y="4940403"/>
            <a:ext cx="1512000" cy="15120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Content Placeholder 14">
            <a:extLst>
              <a:ext uri="{FF2B5EF4-FFF2-40B4-BE49-F238E27FC236}">
                <a16:creationId xmlns:a16="http://schemas.microsoft.com/office/drawing/2014/main" id="{8F67F360-423F-5789-C1A7-4FB54D3CF7C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2662610" y="4939200"/>
            <a:ext cx="1512000" cy="1512000"/>
          </a:xfrm>
        </p:spPr>
        <p:txBody>
          <a:bodyPr lIns="90000" tIns="90000" rIns="90000" bIns="90000"/>
          <a:lstStyle>
            <a:lvl1pPr marL="0" indent="0">
              <a:lnSpc>
                <a:spcPct val="100000"/>
              </a:lnSpc>
              <a:buNone/>
              <a:defRPr sz="15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C224CEE-3BAF-B866-CD2C-395DDF042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0465" y="586181"/>
            <a:ext cx="1441701" cy="109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0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11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Subtitle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A4C67A9-B9CE-84AB-B023-35262618B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0974" y="374463"/>
            <a:ext cx="8280000" cy="612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28000" y="374749"/>
            <a:ext cx="2880000" cy="720000"/>
          </a:xfrm>
        </p:spPr>
        <p:txBody>
          <a:bodyPr bIns="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subtitle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1942A4-22D9-4F77-D722-A67D278F6B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28000" y="2520000"/>
            <a:ext cx="2880000" cy="3960000"/>
          </a:xfrm>
        </p:spPr>
        <p:txBody>
          <a:bodyPr vert="horz" lIns="0" tIns="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GB" sz="1200" smtClean="0">
                <a:solidFill>
                  <a:schemeClr val="tx1"/>
                </a:solidFill>
              </a:defRPr>
            </a:lvl1pPr>
            <a:lvl2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lang="en-US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9FD2A-E444-A423-C2AF-1257D8340ECD}"/>
              </a:ext>
            </a:extLst>
          </p:cNvPr>
          <p:cNvSpPr/>
          <p:nvPr userDrawn="1"/>
        </p:nvSpPr>
        <p:spPr>
          <a:xfrm>
            <a:off x="8928000" y="1124014"/>
            <a:ext cx="2916000" cy="5543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8C66AE-E72D-8337-BE2B-BD87F88AA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475" y="3032604"/>
            <a:ext cx="2212338" cy="34618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8000" y="1296000"/>
            <a:ext cx="4687415" cy="10870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56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A4C67A9-B9CE-84AB-B023-35262618B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000" y="360000"/>
            <a:ext cx="11484000" cy="612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246" y="4512763"/>
            <a:ext cx="8904069" cy="1980000"/>
          </a:xfrm>
        </p:spPr>
        <p:txBody>
          <a:bodyPr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111" y="1087382"/>
            <a:ext cx="6568466" cy="108708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94897-42FC-D542-4330-DC6910EC0E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315" y="3032604"/>
            <a:ext cx="2212338" cy="346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61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4B03C6-BEED-50D0-F6C6-6E2068B936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38447"/>
            <a:ext cx="11484000" cy="98488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5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C1A925-25B4-1ED9-93E0-385E169809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38447"/>
            <a:ext cx="11484000" cy="98488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7707B-763D-581A-35F3-7383C8E2E14F}"/>
              </a:ext>
            </a:extLst>
          </p:cNvPr>
          <p:cNvSpPr/>
          <p:nvPr userDrawn="1"/>
        </p:nvSpPr>
        <p:spPr>
          <a:xfrm>
            <a:off x="359998" y="1488586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58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D11FF-AC02-E6F9-0122-FD66AC732E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604" y="-66299"/>
            <a:ext cx="1974396" cy="281547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D54EB96-B9D3-2208-0AC4-17E1786DDD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38447"/>
            <a:ext cx="11484000" cy="98488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1135A-7248-7096-1873-9865CEDEBAFE}"/>
              </a:ext>
            </a:extLst>
          </p:cNvPr>
          <p:cNvSpPr/>
          <p:nvPr userDrawn="1"/>
        </p:nvSpPr>
        <p:spPr>
          <a:xfrm>
            <a:off x="359998" y="1488586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41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+ descrip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38447"/>
            <a:ext cx="11484000" cy="98488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4CCC6-D9E1-619C-8A66-457AF339DE4F}"/>
              </a:ext>
            </a:extLst>
          </p:cNvPr>
          <p:cNvSpPr/>
          <p:nvPr userDrawn="1"/>
        </p:nvSpPr>
        <p:spPr>
          <a:xfrm>
            <a:off x="359998" y="1488586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0944B4D-D69F-34C2-5034-FB50E124D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719524"/>
            <a:ext cx="11484000" cy="458757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4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line title + descrip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F9AF0-26DB-AB28-FB92-5CC47C11A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604" y="-66299"/>
            <a:ext cx="1974396" cy="281547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6CDE1A2-F85B-32AA-CE59-F2FC23296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38447"/>
            <a:ext cx="11484000" cy="98488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1635F8-3916-7801-F497-D00741DD50AE}"/>
              </a:ext>
            </a:extLst>
          </p:cNvPr>
          <p:cNvSpPr/>
          <p:nvPr userDrawn="1"/>
        </p:nvSpPr>
        <p:spPr>
          <a:xfrm>
            <a:off x="359998" y="1488586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E5A60ED-7A14-BC45-201C-D633BE8DA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719524"/>
            <a:ext cx="11484000" cy="458757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90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D79123-E457-E5D4-4FD4-BF11E4AC2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308292"/>
            <a:ext cx="11484000" cy="492443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4D70F9-3063-7CBC-5684-0058796AD352}"/>
              </a:ext>
            </a:extLst>
          </p:cNvPr>
          <p:cNvSpPr/>
          <p:nvPr userDrawn="1"/>
        </p:nvSpPr>
        <p:spPr>
          <a:xfrm>
            <a:off x="359998" y="977410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00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99429A-C535-A5B7-3E33-840D80458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308292"/>
            <a:ext cx="11484000" cy="492443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7E0C8-C3F5-EEB6-80DB-33C126A0F1EF}"/>
              </a:ext>
            </a:extLst>
          </p:cNvPr>
          <p:cNvSpPr/>
          <p:nvPr userDrawn="1"/>
        </p:nvSpPr>
        <p:spPr>
          <a:xfrm>
            <a:off x="359998" y="977410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86CEBD-89F1-81DA-A849-093FE60B1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604" y="-66299"/>
            <a:ext cx="1974396" cy="28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98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title + descrip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308292"/>
            <a:ext cx="11484000" cy="492443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FD9C59-6F69-00AC-E3F3-6DE39EDC0F01}"/>
              </a:ext>
            </a:extLst>
          </p:cNvPr>
          <p:cNvSpPr/>
          <p:nvPr userDrawn="1"/>
        </p:nvSpPr>
        <p:spPr>
          <a:xfrm>
            <a:off x="359998" y="977410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02981F0-84F9-D60B-5F60-14292DF6D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187381"/>
            <a:ext cx="11484000" cy="458757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9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line title + descrip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E88B5-8AE5-FDFD-0B7D-4470E1B62B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604" y="-66299"/>
            <a:ext cx="1974396" cy="281547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AB6A95-7DFD-3C79-097F-EE03C8E1D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308292"/>
            <a:ext cx="11484000" cy="492443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FBD702-0245-F51A-D51E-DABA22336F0A}"/>
              </a:ext>
            </a:extLst>
          </p:cNvPr>
          <p:cNvSpPr/>
          <p:nvPr userDrawn="1"/>
        </p:nvSpPr>
        <p:spPr>
          <a:xfrm>
            <a:off x="359998" y="977410"/>
            <a:ext cx="5400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BD309DB-C55C-01DD-2D53-2DC71D81B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187381"/>
            <a:ext cx="11484000" cy="458757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69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2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, Subtitle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A4C67A9-B9CE-84AB-B023-35262618B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0974" y="374463"/>
            <a:ext cx="8280000" cy="612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28000" y="374749"/>
            <a:ext cx="2880000" cy="553998"/>
          </a:xfrm>
        </p:spPr>
        <p:txBody>
          <a:bodyPr bIns="0" anchor="t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subtitle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1942A4-22D9-4F77-D722-A67D278F6B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28000" y="2330206"/>
            <a:ext cx="2880000" cy="4149794"/>
          </a:xfrm>
        </p:spPr>
        <p:txBody>
          <a:bodyPr vert="horz" lIns="0" tIns="0" rIns="0" bIns="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GB" sz="1200" smtClean="0">
                <a:solidFill>
                  <a:schemeClr val="tx1"/>
                </a:solidFill>
              </a:defRPr>
            </a:lvl1pPr>
            <a:lvl2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lang="en-US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9FD2A-E444-A423-C2AF-1257D8340ECD}"/>
              </a:ext>
            </a:extLst>
          </p:cNvPr>
          <p:cNvSpPr/>
          <p:nvPr userDrawn="1"/>
        </p:nvSpPr>
        <p:spPr>
          <a:xfrm>
            <a:off x="8928000" y="873308"/>
            <a:ext cx="2916000" cy="5543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8C66AE-E72D-8337-BE2B-BD87F88AA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475" y="3032604"/>
            <a:ext cx="2212338" cy="34618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8000" y="1085936"/>
            <a:ext cx="4687415" cy="10870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32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A4C67A9-B9CE-84AB-B023-35262618B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000" y="360000"/>
            <a:ext cx="11484000" cy="612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246" y="4512763"/>
            <a:ext cx="8904069" cy="1980000"/>
          </a:xfrm>
        </p:spPr>
        <p:txBody>
          <a:bodyPr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111" y="1087382"/>
            <a:ext cx="6568466" cy="108708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94897-42FC-D542-4330-DC6910EC0E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315" y="3032604"/>
            <a:ext cx="2212338" cy="346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07571"/>
            <a:ext cx="11484000" cy="984885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06758"/>
            <a:ext cx="11484000" cy="738664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24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41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 and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461557"/>
            <a:ext cx="3799624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59624" y="540682"/>
            <a:ext cx="7684376" cy="826635"/>
          </a:xfrm>
        </p:spPr>
        <p:txBody>
          <a:bodyPr wrap="square" tIns="90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23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23E74D-EB27-47DF-3110-ABAA3F2B25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0888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60000"/>
            <a:ext cx="5736000" cy="118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620000"/>
            <a:ext cx="5736000" cy="47880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AA2868-259E-C14F-E493-A5413608CE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4161" y="4951837"/>
            <a:ext cx="1336727" cy="190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6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23E74D-EB27-47DF-3110-ABAA3F2B25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0888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8000" y="4371110"/>
            <a:ext cx="5400001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8000" y="5472000"/>
            <a:ext cx="5400001" cy="121727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AF50F-39AD-9CD4-513A-40AA832590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29000"/>
            <a:ext cx="219133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54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23E74D-EB27-47DF-3110-ABAA3F2B25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0888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60000"/>
            <a:ext cx="5736000" cy="118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620000"/>
            <a:ext cx="5736000" cy="4788000"/>
          </a:xfrm>
        </p:spPr>
        <p:txBody>
          <a:bodyPr/>
          <a:lstStyle>
            <a:lvl1pPr marL="0" indent="0" algn="l">
              <a:buNone/>
              <a:defRPr sz="3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5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, 2 colo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126C374-8A4A-C506-870A-C77579F858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88000" y="2880000"/>
            <a:ext cx="3240000" cy="3600000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GB" sz="1500" smtClean="0">
                <a:solidFill>
                  <a:schemeClr val="tx1"/>
                </a:solidFill>
              </a:defRPr>
            </a:lvl1pPr>
            <a:lvl2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lang="en-US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8" name="Content Placeholder 15">
            <a:extLst>
              <a:ext uri="{FF2B5EF4-FFF2-40B4-BE49-F238E27FC236}">
                <a16:creationId xmlns:a16="http://schemas.microsoft.com/office/drawing/2014/main" id="{09905596-FF35-BAB8-46E9-48AD016794F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88000" y="2237719"/>
            <a:ext cx="3240000" cy="458757"/>
          </a:xfrm>
        </p:spPr>
        <p:txBody>
          <a:bodyPr tIns="90000" b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23E74D-EB27-47DF-3110-ABAA3F2B25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6000" y="358775"/>
            <a:ext cx="4140000" cy="6120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017007"/>
            <a:ext cx="6840000" cy="357790"/>
          </a:xfrm>
        </p:spPr>
        <p:txBody>
          <a:bodyPr bIns="0" anchor="t" anchorCtr="0">
            <a:sp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D7E4D5-8C15-200F-FDA2-36736243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8" y="344522"/>
            <a:ext cx="6840000" cy="525144"/>
          </a:xfrm>
        </p:spPr>
        <p:txBody>
          <a:bodyPr anchor="ctr" anchorCtr="0">
            <a:sp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973E15-8277-5209-C58F-5656BDF95E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00" y="2880000"/>
            <a:ext cx="3240000" cy="3600000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GB" sz="1500" smtClean="0">
                <a:solidFill>
                  <a:schemeClr val="tx1"/>
                </a:solidFill>
              </a:defRPr>
            </a:lvl1pPr>
            <a:lvl2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lang="en-US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A6756B0-D056-CF19-A6FE-9CB92B8AC11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1474" y="2237719"/>
            <a:ext cx="3240000" cy="458757"/>
          </a:xfrm>
        </p:spPr>
        <p:txBody>
          <a:bodyPr tIns="90000" b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993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, single colo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23E74D-EB27-47DF-3110-ABAA3F2B25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6660" y="358775"/>
            <a:ext cx="5400000" cy="6120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457261"/>
            <a:ext cx="5760000" cy="357790"/>
          </a:xfrm>
        </p:spPr>
        <p:txBody>
          <a:bodyPr wrap="square" bIns="0" anchor="ctr" anchorCtr="0">
            <a:sp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D7E4D5-8C15-200F-FDA2-367362433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9216"/>
            <a:ext cx="5760000" cy="984885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973E15-8277-5209-C58F-5656BDF95E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00" y="1928211"/>
            <a:ext cx="5760000" cy="4605791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GB" sz="1500" smtClean="0">
                <a:solidFill>
                  <a:schemeClr val="tx1"/>
                </a:solidFill>
              </a:defRPr>
            </a:lvl1pPr>
            <a:lvl2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lang="en-US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32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23E74D-EB27-47DF-3110-ABAA3F2B25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358775"/>
            <a:ext cx="6120000" cy="6120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9412" y="1478221"/>
            <a:ext cx="4961113" cy="553998"/>
          </a:xfrm>
        </p:spPr>
        <p:txBody>
          <a:bodyPr wrap="square" bIns="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subtitle style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D7E4D5-8C15-200F-FDA2-367362433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9410" y="358775"/>
            <a:ext cx="4961113" cy="984885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35AD04-64EB-F994-986C-ADD0698490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021" y="3562718"/>
            <a:ext cx="2332980" cy="332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46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head, 2 colo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126C374-8A4A-C506-870A-C77579F858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03371" y="2530365"/>
            <a:ext cx="4230000" cy="3960000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GB" sz="1500" smtClean="0">
                <a:solidFill>
                  <a:schemeClr val="tx1"/>
                </a:solidFill>
              </a:defRPr>
            </a:lvl1pPr>
            <a:lvl2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lang="en-US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8" name="Content Placeholder 15">
            <a:extLst>
              <a:ext uri="{FF2B5EF4-FFF2-40B4-BE49-F238E27FC236}">
                <a16:creationId xmlns:a16="http://schemas.microsoft.com/office/drawing/2014/main" id="{09905596-FF35-BAB8-46E9-48AD016794F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603371" y="1834302"/>
            <a:ext cx="4230000" cy="458757"/>
          </a:xfrm>
        </p:spPr>
        <p:txBody>
          <a:bodyPr tIns="90000" b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973E15-8277-5209-C58F-5656BDF95E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00" y="2530365"/>
            <a:ext cx="4230000" cy="3960000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GB" sz="1500" smtClean="0">
                <a:solidFill>
                  <a:schemeClr val="tx1"/>
                </a:solidFill>
              </a:defRPr>
            </a:lvl1pPr>
            <a:lvl2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lang="en-GB" smtClean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lang="en-US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A6756B0-D056-CF19-A6FE-9CB92B8AC11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1474" y="1834302"/>
            <a:ext cx="4230000" cy="458757"/>
          </a:xfrm>
        </p:spPr>
        <p:txBody>
          <a:bodyPr tIns="90000" b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01F708-38FE-4400-3F20-A62F00555D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51" t="12427"/>
          <a:stretch/>
        </p:blipFill>
        <p:spPr>
          <a:xfrm>
            <a:off x="281679" y="220965"/>
            <a:ext cx="2618935" cy="1408407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56E82C5-9C21-AD48-1D1A-BA5485B641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69500" y="358775"/>
            <a:ext cx="1851025" cy="90524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r>
              <a:rPr lang="en-US"/>
              <a:t>Partner Institute</a:t>
            </a:r>
          </a:p>
        </p:txBody>
      </p:sp>
    </p:spTree>
    <p:extLst>
      <p:ext uri="{BB962C8B-B14F-4D97-AF65-F5344CB8AC3E}">
        <p14:creationId xmlns:p14="http://schemas.microsoft.com/office/powerpoint/2010/main" val="67808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D9BB-F10D-8166-1F9A-33E938DC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18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8D28D1-1D01-643D-E48F-C137A1D552F4}"/>
              </a:ext>
            </a:extLst>
          </p:cNvPr>
          <p:cNvSpPr/>
          <p:nvPr userDrawn="1"/>
        </p:nvSpPr>
        <p:spPr>
          <a:xfrm>
            <a:off x="0" y="0"/>
            <a:ext cx="1218088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67513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1525956"/>
            <a:ext cx="8439419" cy="658811"/>
          </a:xfrm>
        </p:spPr>
        <p:txBody>
          <a:bodyPr wrap="square">
            <a:spAutoFit/>
          </a:bodyPr>
          <a:lstStyle>
            <a:lvl1pPr marL="270000" indent="-270000" algn="l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630B6-8979-CD44-99A2-ED8283A3DC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0041" y="4334463"/>
            <a:ext cx="147706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6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8D28D1-1D01-643D-E48F-C137A1D552F4}"/>
              </a:ext>
            </a:extLst>
          </p:cNvPr>
          <p:cNvSpPr/>
          <p:nvPr userDrawn="1"/>
        </p:nvSpPr>
        <p:spPr>
          <a:xfrm>
            <a:off x="0" y="0"/>
            <a:ext cx="12180888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67513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1525956"/>
            <a:ext cx="8439419" cy="658811"/>
          </a:xfrm>
        </p:spPr>
        <p:txBody>
          <a:bodyPr wrap="square">
            <a:spAutoFit/>
          </a:bodyPr>
          <a:lstStyle>
            <a:lvl1pPr marL="270000" indent="-270000" algn="l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8637DE-C6EF-943A-090B-3FAB5A7BF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7872" y="4328430"/>
            <a:ext cx="143735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8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8D28D1-1D01-643D-E48F-C137A1D552F4}"/>
              </a:ext>
            </a:extLst>
          </p:cNvPr>
          <p:cNvSpPr/>
          <p:nvPr userDrawn="1"/>
        </p:nvSpPr>
        <p:spPr>
          <a:xfrm>
            <a:off x="0" y="0"/>
            <a:ext cx="12180888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67513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1525956"/>
            <a:ext cx="8439419" cy="658811"/>
          </a:xfrm>
        </p:spPr>
        <p:txBody>
          <a:bodyPr wrap="square">
            <a:spAutoFit/>
          </a:bodyPr>
          <a:lstStyle>
            <a:lvl1pPr marL="270000" indent="-270000" algn="l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3268210-5F8F-6930-1F51-F1E4FBA61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639" y="4350791"/>
            <a:ext cx="122313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06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8D28D1-1D01-643D-E48F-C137A1D552F4}"/>
              </a:ext>
            </a:extLst>
          </p:cNvPr>
          <p:cNvSpPr/>
          <p:nvPr userDrawn="1"/>
        </p:nvSpPr>
        <p:spPr>
          <a:xfrm>
            <a:off x="0" y="0"/>
            <a:ext cx="12180888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67513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1525956"/>
            <a:ext cx="8439419" cy="658811"/>
          </a:xfrm>
        </p:spPr>
        <p:txBody>
          <a:bodyPr wrap="square">
            <a:spAutoFit/>
          </a:bodyPr>
          <a:lstStyle>
            <a:lvl1pPr marL="270000" indent="-270000" algn="l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9FC0A-EABA-DB4D-4FD0-F0159D33F5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1475" y="4328430"/>
            <a:ext cx="210541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2BB40-2670-383A-AA42-DB1EDE9E6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1460" y="2382982"/>
            <a:ext cx="2871311" cy="44930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6238" y="2321004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6238" y="3479447"/>
            <a:ext cx="8439419" cy="579303"/>
          </a:xfrm>
        </p:spPr>
        <p:txBody>
          <a:bodyPr wrap="square">
            <a:spAutoFit/>
          </a:bodyPr>
          <a:lstStyle>
            <a:lvl1pPr marL="270000" indent="-270000" algn="l"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7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2BB40-2670-383A-AA42-DB1EDE9E6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1460" y="2382982"/>
            <a:ext cx="2871311" cy="44930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6238" y="2936558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6238" y="2321004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6238" y="3479447"/>
            <a:ext cx="8439419" cy="579303"/>
          </a:xfrm>
        </p:spPr>
        <p:txBody>
          <a:bodyPr wrap="square">
            <a:spAutoFit/>
          </a:bodyPr>
          <a:lstStyle>
            <a:lvl1pPr marL="270000" indent="-270000" algn="l"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BAD03-C25C-35F2-499D-56DC94B559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3868" y="2197894"/>
            <a:ext cx="5084657" cy="465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15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6238" y="2936558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BAD03-C25C-35F2-499D-56DC94B559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3868" y="2197894"/>
            <a:ext cx="5084657" cy="465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72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  <a:solidFill>
            <a:srgbClr val="F6872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2BB40-2670-383A-AA42-DB1EDE9E6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64983"/>
            <a:ext cx="2871311" cy="44930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6238" y="2321004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6238" y="3479447"/>
            <a:ext cx="8439419" cy="579303"/>
          </a:xfrm>
        </p:spPr>
        <p:txBody>
          <a:bodyPr wrap="square">
            <a:spAutoFit/>
          </a:bodyPr>
          <a:lstStyle>
            <a:lvl1pPr marL="270000" indent="-270000" algn="l"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38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  <a:solidFill>
            <a:srgbClr val="F6872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2BB40-2670-383A-AA42-DB1EDE9E6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64983"/>
            <a:ext cx="2871311" cy="44930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6238" y="2936558"/>
            <a:ext cx="843941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71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FFB484B-CA23-DE3E-CCBD-4D86776A1B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5" y="10509"/>
            <a:ext cx="12201525" cy="684304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1CC69-BF7B-4F92-104D-8000A4BA6743}"/>
              </a:ext>
            </a:extLst>
          </p:cNvPr>
          <p:cNvSpPr/>
          <p:nvPr userDrawn="1"/>
        </p:nvSpPr>
        <p:spPr>
          <a:xfrm>
            <a:off x="0" y="4713891"/>
            <a:ext cx="12192000" cy="2144110"/>
          </a:xfrm>
          <a:prstGeom prst="rect">
            <a:avLst/>
          </a:prstGeom>
          <a:solidFill>
            <a:srgbClr val="C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F7CE3D-5EC0-94B0-7D18-DED82F21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160" y="4946602"/>
            <a:ext cx="1241975" cy="19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6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D9BB-F10D-8166-1F9A-33E938DC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A991C6-E9AD-8195-944E-8C33984D9B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160" y="3456000"/>
            <a:ext cx="2194560" cy="3434040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88722A4-5C57-514C-AA55-C7EA3F0DAF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5" y="10510"/>
            <a:ext cx="12201525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F1A0DE-B7A1-BB6C-634D-03A40ABB9C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30625" y="3783013"/>
            <a:ext cx="7967663" cy="862012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D0CAAAF-9D52-C260-740B-D9389B1682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0625" y="4799359"/>
            <a:ext cx="7967663" cy="111796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996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1754848-8A85-8A25-4E00-11CBD12476F1}"/>
              </a:ext>
            </a:extLst>
          </p:cNvPr>
          <p:cNvSpPr/>
          <p:nvPr userDrawn="1"/>
        </p:nvSpPr>
        <p:spPr>
          <a:xfrm>
            <a:off x="12000" y="0"/>
            <a:ext cx="4377301" cy="6858000"/>
          </a:xfrm>
          <a:custGeom>
            <a:avLst/>
            <a:gdLst>
              <a:gd name="connsiteX0" fmla="*/ 0 w 4415589"/>
              <a:gd name="connsiteY0" fmla="*/ 1579486 h 6886776"/>
              <a:gd name="connsiteX1" fmla="*/ 0 w 4415589"/>
              <a:gd name="connsiteY1" fmla="*/ 6886776 h 6886776"/>
              <a:gd name="connsiteX2" fmla="*/ 4415589 w 4415589"/>
              <a:gd name="connsiteY2" fmla="*/ 0 h 6886776"/>
              <a:gd name="connsiteX3" fmla="*/ 1479884 w 4415589"/>
              <a:gd name="connsiteY3" fmla="*/ 1395663 h 6886776"/>
              <a:gd name="connsiteX4" fmla="*/ 974558 w 4415589"/>
              <a:gd name="connsiteY4" fmla="*/ 3441031 h 6886776"/>
              <a:gd name="connsiteX5" fmla="*/ 0 w 4415589"/>
              <a:gd name="connsiteY5" fmla="*/ 1579486 h 6886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15589" h="6886776">
                <a:moveTo>
                  <a:pt x="0" y="1579486"/>
                </a:moveTo>
                <a:lnTo>
                  <a:pt x="0" y="6886776"/>
                </a:lnTo>
                <a:lnTo>
                  <a:pt x="4415589" y="0"/>
                </a:lnTo>
                <a:lnTo>
                  <a:pt x="1479884" y="1395663"/>
                </a:lnTo>
                <a:lnTo>
                  <a:pt x="974558" y="3441031"/>
                </a:lnTo>
                <a:lnTo>
                  <a:pt x="0" y="1579486"/>
                </a:lnTo>
                <a:close/>
              </a:path>
            </a:pathLst>
          </a:cu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2991" y="2738704"/>
            <a:ext cx="757268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2991" y="3897147"/>
            <a:ext cx="7572689" cy="579303"/>
          </a:xfrm>
        </p:spPr>
        <p:txBody>
          <a:bodyPr wrap="square">
            <a:spAutoFit/>
          </a:bodyPr>
          <a:lstStyle>
            <a:lvl1pPr marL="0" indent="0" algn="l">
              <a:spcBef>
                <a:spcPts val="6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5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D018E-7252-47A2-DCDA-E0E4C75A9C35}"/>
              </a:ext>
            </a:extLst>
          </p:cNvPr>
          <p:cNvSpPr/>
          <p:nvPr userDrawn="1"/>
        </p:nvSpPr>
        <p:spPr>
          <a:xfrm>
            <a:off x="0" y="0"/>
            <a:ext cx="12192000" cy="68535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1754848-8A85-8A25-4E00-11CBD12476F1}"/>
              </a:ext>
            </a:extLst>
          </p:cNvPr>
          <p:cNvSpPr/>
          <p:nvPr userDrawn="1"/>
        </p:nvSpPr>
        <p:spPr>
          <a:xfrm>
            <a:off x="12000" y="0"/>
            <a:ext cx="4377301" cy="6858000"/>
          </a:xfrm>
          <a:custGeom>
            <a:avLst/>
            <a:gdLst>
              <a:gd name="connsiteX0" fmla="*/ 0 w 4415589"/>
              <a:gd name="connsiteY0" fmla="*/ 1579486 h 6886776"/>
              <a:gd name="connsiteX1" fmla="*/ 0 w 4415589"/>
              <a:gd name="connsiteY1" fmla="*/ 6886776 h 6886776"/>
              <a:gd name="connsiteX2" fmla="*/ 4415589 w 4415589"/>
              <a:gd name="connsiteY2" fmla="*/ 0 h 6886776"/>
              <a:gd name="connsiteX3" fmla="*/ 1479884 w 4415589"/>
              <a:gd name="connsiteY3" fmla="*/ 1395663 h 6886776"/>
              <a:gd name="connsiteX4" fmla="*/ 974558 w 4415589"/>
              <a:gd name="connsiteY4" fmla="*/ 3441031 h 6886776"/>
              <a:gd name="connsiteX5" fmla="*/ 0 w 4415589"/>
              <a:gd name="connsiteY5" fmla="*/ 1579486 h 6886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15589" h="6886776">
                <a:moveTo>
                  <a:pt x="0" y="1579486"/>
                </a:moveTo>
                <a:lnTo>
                  <a:pt x="0" y="6886776"/>
                </a:lnTo>
                <a:lnTo>
                  <a:pt x="4415589" y="0"/>
                </a:lnTo>
                <a:lnTo>
                  <a:pt x="1479884" y="1395663"/>
                </a:lnTo>
                <a:lnTo>
                  <a:pt x="974558" y="3441031"/>
                </a:lnTo>
                <a:lnTo>
                  <a:pt x="0" y="1579486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2991" y="2738704"/>
            <a:ext cx="757268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2991" y="3897147"/>
            <a:ext cx="7572689" cy="579303"/>
          </a:xfrm>
        </p:spPr>
        <p:txBody>
          <a:bodyPr wrap="square">
            <a:spAutoFit/>
          </a:bodyPr>
          <a:lstStyle>
            <a:lvl1pPr marL="0" indent="0" algn="l">
              <a:spcBef>
                <a:spcPts val="6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21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AE16-E711-86CE-2549-66FE4029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99D-B0AF-A240-A0DE-404081AF68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8D04E-BDD5-1F64-6209-2F4B4F200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1203677"/>
            <a:ext cx="8460000" cy="144000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4F35D-11C4-5CAB-4D65-A671ADAD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2756647"/>
            <a:ext cx="8460000" cy="2032009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0840B-C31F-745B-1099-E91FA72490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6475" y="4540125"/>
            <a:ext cx="3035525" cy="23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7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0987-06D2-B806-AFF0-582EB65B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666B-46FA-817F-B5D2-5035320F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6F66E-1FD6-43A5-F9FD-BC0220E5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960-982F-6441-B8AD-7E7102F5B63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47A19-54D2-92A4-1FD0-22279677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F3ECE-1287-301A-308E-CE39BAAF4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428AD-A62C-1D48-B7F5-7A29B21BD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F8C94-1935-5AE0-BD84-B850C2BDD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620000"/>
            <a:ext cx="11484000" cy="4788000"/>
          </a:xfrm>
          <a:prstGeom prst="rect">
            <a:avLst/>
          </a:prstGeom>
        </p:spPr>
        <p:txBody>
          <a:bodyPr vert="horz" lIns="0" tIns="0" rIns="0" bIns="18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F72E1-08D6-AA78-A3ED-F9A0D78DF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95340" y="6488430"/>
            <a:ext cx="40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1599D-B0AF-A240-A0DE-404081AF68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D731D27-D77E-2BCA-87AD-A51FD34A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8" y="358775"/>
            <a:ext cx="11484000" cy="118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</p:sldLayoutIdLst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5" orient="horz" pos="226">
          <p15:clr>
            <a:srgbClr val="F26B43"/>
          </p15:clr>
        </p15:guide>
        <p15:guide id="6" orient="horz" pos="4091">
          <p15:clr>
            <a:srgbClr val="F26B43"/>
          </p15:clr>
        </p15:guide>
        <p15:guide id="7" pos="234">
          <p15:clr>
            <a:srgbClr val="F26B43"/>
          </p15:clr>
        </p15:guide>
        <p15:guide id="8" pos="7446">
          <p15:clr>
            <a:srgbClr val="F26B43"/>
          </p15:clr>
        </p15:guide>
        <p15:guide id="9">
          <p15:clr>
            <a:srgbClr val="F26B43"/>
          </p15:clr>
        </p15:guide>
        <p15:guide id="10" pos="7673">
          <p15:clr>
            <a:srgbClr val="F26B43"/>
          </p15:clr>
        </p15:guide>
        <p15:guide id="11" orient="horz">
          <p15:clr>
            <a:srgbClr val="F26B43"/>
          </p15:clr>
        </p15:guide>
        <p15:guide id="12" orient="horz" pos="4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9" Type="http://schemas.openxmlformats.org/officeDocument/2006/relationships/image" Target="../media/image58.svg"/><Relationship Id="rId21" Type="http://schemas.openxmlformats.org/officeDocument/2006/relationships/image" Target="../media/image40.png"/><Relationship Id="rId34" Type="http://schemas.openxmlformats.org/officeDocument/2006/relationships/image" Target="../media/image53.jpeg"/><Relationship Id="rId42" Type="http://schemas.openxmlformats.org/officeDocument/2006/relationships/image" Target="../media/image61.jpeg"/><Relationship Id="rId47" Type="http://schemas.openxmlformats.org/officeDocument/2006/relationships/image" Target="../media/image66.png"/><Relationship Id="rId50" Type="http://schemas.openxmlformats.org/officeDocument/2006/relationships/image" Target="../media/image69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5.jpeg"/><Relationship Id="rId29" Type="http://schemas.openxmlformats.org/officeDocument/2006/relationships/image" Target="../media/image48.png"/><Relationship Id="rId11" Type="http://schemas.openxmlformats.org/officeDocument/2006/relationships/image" Target="../media/image30.jpeg"/><Relationship Id="rId24" Type="http://schemas.openxmlformats.org/officeDocument/2006/relationships/image" Target="../media/image43.jpeg"/><Relationship Id="rId32" Type="http://schemas.openxmlformats.org/officeDocument/2006/relationships/image" Target="../media/image51.png"/><Relationship Id="rId37" Type="http://schemas.openxmlformats.org/officeDocument/2006/relationships/image" Target="../media/image56.jpeg"/><Relationship Id="rId40" Type="http://schemas.openxmlformats.org/officeDocument/2006/relationships/image" Target="../media/image59.png"/><Relationship Id="rId45" Type="http://schemas.openxmlformats.org/officeDocument/2006/relationships/image" Target="../media/image64.png"/><Relationship Id="rId5" Type="http://schemas.openxmlformats.org/officeDocument/2006/relationships/image" Target="../media/image24.png"/><Relationship Id="rId15" Type="http://schemas.openxmlformats.org/officeDocument/2006/relationships/image" Target="../media/image34.jpe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36" Type="http://schemas.openxmlformats.org/officeDocument/2006/relationships/image" Target="../media/image55.png"/><Relationship Id="rId49" Type="http://schemas.openxmlformats.org/officeDocument/2006/relationships/image" Target="../media/image68.jpeg"/><Relationship Id="rId10" Type="http://schemas.openxmlformats.org/officeDocument/2006/relationships/image" Target="../media/image29.png"/><Relationship Id="rId19" Type="http://schemas.openxmlformats.org/officeDocument/2006/relationships/image" Target="../media/image38.jpeg"/><Relationship Id="rId31" Type="http://schemas.openxmlformats.org/officeDocument/2006/relationships/image" Target="../media/image50.png"/><Relationship Id="rId44" Type="http://schemas.openxmlformats.org/officeDocument/2006/relationships/image" Target="../media/image63.jpeg"/><Relationship Id="rId52" Type="http://schemas.openxmlformats.org/officeDocument/2006/relationships/image" Target="../media/image71.jpeg"/><Relationship Id="rId4" Type="http://schemas.openxmlformats.org/officeDocument/2006/relationships/image" Target="../media/image23.jpeg"/><Relationship Id="rId9" Type="http://schemas.openxmlformats.org/officeDocument/2006/relationships/image" Target="../media/image28.jpg"/><Relationship Id="rId14" Type="http://schemas.openxmlformats.org/officeDocument/2006/relationships/image" Target="../media/image33.jpeg"/><Relationship Id="rId22" Type="http://schemas.openxmlformats.org/officeDocument/2006/relationships/image" Target="../media/image41.png"/><Relationship Id="rId27" Type="http://schemas.openxmlformats.org/officeDocument/2006/relationships/image" Target="../media/image46.jpeg"/><Relationship Id="rId30" Type="http://schemas.openxmlformats.org/officeDocument/2006/relationships/image" Target="../media/image49.png"/><Relationship Id="rId35" Type="http://schemas.openxmlformats.org/officeDocument/2006/relationships/image" Target="../media/image54.jpeg"/><Relationship Id="rId43" Type="http://schemas.openxmlformats.org/officeDocument/2006/relationships/image" Target="../media/image62.png"/><Relationship Id="rId48" Type="http://schemas.openxmlformats.org/officeDocument/2006/relationships/image" Target="../media/image67.png"/><Relationship Id="rId8" Type="http://schemas.openxmlformats.org/officeDocument/2006/relationships/image" Target="../media/image27.jpg"/><Relationship Id="rId51" Type="http://schemas.openxmlformats.org/officeDocument/2006/relationships/image" Target="../media/image70.jpeg"/><Relationship Id="rId3" Type="http://schemas.openxmlformats.org/officeDocument/2006/relationships/image" Target="../media/image22.jpg"/><Relationship Id="rId12" Type="http://schemas.openxmlformats.org/officeDocument/2006/relationships/image" Target="../media/image31.jpeg"/><Relationship Id="rId17" Type="http://schemas.openxmlformats.org/officeDocument/2006/relationships/image" Target="../media/image36.jpe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38" Type="http://schemas.openxmlformats.org/officeDocument/2006/relationships/image" Target="../media/image57.jpeg"/><Relationship Id="rId46" Type="http://schemas.openxmlformats.org/officeDocument/2006/relationships/image" Target="../media/image65.jpeg"/><Relationship Id="rId20" Type="http://schemas.openxmlformats.org/officeDocument/2006/relationships/image" Target="../media/image39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2.png"/><Relationship Id="rId4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F1DE-1E6E-0083-EF29-CC4E75D4D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6238" y="2936558"/>
            <a:ext cx="8439419" cy="98488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National Capital Region (NCR)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EMPLOYMENT DEMAND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79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for a hotel&#10;&#10;Description automatically generated">
            <a:extLst>
              <a:ext uri="{FF2B5EF4-FFF2-40B4-BE49-F238E27FC236}">
                <a16:creationId xmlns:a16="http://schemas.microsoft.com/office/drawing/2014/main" id="{E5D2C7E8-37B9-9F7A-486C-FEB20E5B7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31" t="9363" r="29465"/>
          <a:stretch/>
        </p:blipFill>
        <p:spPr>
          <a:xfrm>
            <a:off x="2862302" y="1190840"/>
            <a:ext cx="860189" cy="82716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B1B686E-58C5-6B92-E75B-E11D570257CB}"/>
              </a:ext>
            </a:extLst>
          </p:cNvPr>
          <p:cNvSpPr txBox="1"/>
          <p:nvPr/>
        </p:nvSpPr>
        <p:spPr>
          <a:xfrm>
            <a:off x="-57420" y="1420777"/>
            <a:ext cx="1944355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F20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Tourism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C42CA7-3A4C-8FAD-F700-FD3B0817D872}"/>
              </a:ext>
            </a:extLst>
          </p:cNvPr>
          <p:cNvSpPr txBox="1"/>
          <p:nvPr/>
        </p:nvSpPr>
        <p:spPr>
          <a:xfrm>
            <a:off x="8503" y="2584492"/>
            <a:ext cx="1942051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BF2026"/>
                </a:solidFill>
                <a:latin typeface="Barlow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F20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Manufacturing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CCA794-08EB-4F01-DF61-C81002BBA1E8}"/>
              </a:ext>
            </a:extLst>
          </p:cNvPr>
          <p:cNvSpPr txBox="1"/>
          <p:nvPr/>
        </p:nvSpPr>
        <p:spPr>
          <a:xfrm>
            <a:off x="80628" y="4353388"/>
            <a:ext cx="1812285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F20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ICT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CBB7FDA-0F1A-BD70-7F7B-D7BDB519CD5E}"/>
              </a:ext>
            </a:extLst>
          </p:cNvPr>
          <p:cNvCxnSpPr>
            <a:cxnSpLocks/>
          </p:cNvCxnSpPr>
          <p:nvPr/>
        </p:nvCxnSpPr>
        <p:spPr>
          <a:xfrm flipV="1">
            <a:off x="2112901" y="1279194"/>
            <a:ext cx="0" cy="5439792"/>
          </a:xfrm>
          <a:prstGeom prst="line">
            <a:avLst/>
          </a:prstGeom>
          <a:noFill/>
          <a:ln w="6350"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771EBCF2-1707-4A4A-19C4-83693C0E0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085" y="304107"/>
            <a:ext cx="12164509" cy="430887"/>
          </a:xfrm>
        </p:spPr>
        <p:txBody>
          <a:bodyPr/>
          <a:lstStyle/>
          <a:p>
            <a:r>
              <a:rPr lang="en-US" sz="2800" dirty="0"/>
              <a:t>The study sampled 100 companies with 133,129 projected job openings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A8A71F-E5BE-0BA2-4A7D-9562D32B42DC}"/>
              </a:ext>
            </a:extLst>
          </p:cNvPr>
          <p:cNvSpPr txBox="1"/>
          <p:nvPr/>
        </p:nvSpPr>
        <p:spPr>
          <a:xfrm>
            <a:off x="146742" y="3409653"/>
            <a:ext cx="1812285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F20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Logistics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C10C32-C7D8-BABF-0B3A-7F9B9985BF86}"/>
              </a:ext>
            </a:extLst>
          </p:cNvPr>
          <p:cNvSpPr txBox="1"/>
          <p:nvPr/>
        </p:nvSpPr>
        <p:spPr>
          <a:xfrm>
            <a:off x="169078" y="0"/>
            <a:ext cx="34200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Companies including: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4D515-F64A-A2C8-7566-FDC5F5D19713}"/>
              </a:ext>
            </a:extLst>
          </p:cNvPr>
          <p:cNvSpPr txBox="1"/>
          <p:nvPr/>
        </p:nvSpPr>
        <p:spPr>
          <a:xfrm>
            <a:off x="128417" y="5369882"/>
            <a:ext cx="1812285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F20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Health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4FCF3-6616-6E30-A4ED-61C70CCCA4F5}"/>
              </a:ext>
            </a:extLst>
          </p:cNvPr>
          <p:cNvSpPr txBox="1"/>
          <p:nvPr/>
        </p:nvSpPr>
        <p:spPr>
          <a:xfrm>
            <a:off x="104596" y="6187276"/>
            <a:ext cx="1812285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F20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Construction</a:t>
            </a:r>
          </a:p>
        </p:txBody>
      </p:sp>
      <p:pic>
        <p:nvPicPr>
          <p:cNvPr id="5" name="Picture 4" descr="A group of people in a cap and helmet&#10;&#10;Description automatically generated">
            <a:extLst>
              <a:ext uri="{FF2B5EF4-FFF2-40B4-BE49-F238E27FC236}">
                <a16:creationId xmlns:a16="http://schemas.microsoft.com/office/drawing/2014/main" id="{17AE578C-CF5C-98F4-6268-E8484BAF9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006" y="1377945"/>
            <a:ext cx="589033" cy="578608"/>
          </a:xfrm>
          <a:prstGeom prst="rect">
            <a:avLst/>
          </a:prstGeom>
        </p:spPr>
      </p:pic>
      <p:pic>
        <p:nvPicPr>
          <p:cNvPr id="9" name="Picture 8" descr="A logo with black text and yellow and white triangles&#10;&#10;Description automatically generated">
            <a:extLst>
              <a:ext uri="{FF2B5EF4-FFF2-40B4-BE49-F238E27FC236}">
                <a16:creationId xmlns:a16="http://schemas.microsoft.com/office/drawing/2014/main" id="{851BC84A-4B01-6B73-8CBD-0CB956F982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536" b="24318"/>
          <a:stretch/>
        </p:blipFill>
        <p:spPr>
          <a:xfrm>
            <a:off x="3864139" y="1201380"/>
            <a:ext cx="1375245" cy="827160"/>
          </a:xfrm>
          <a:prstGeom prst="rect">
            <a:avLst/>
          </a:prstGeom>
        </p:spPr>
      </p:pic>
      <p:pic>
        <p:nvPicPr>
          <p:cNvPr id="12" name="Picture 11" descr="A logo for a company&#10;&#10;Description automatically generated">
            <a:extLst>
              <a:ext uri="{FF2B5EF4-FFF2-40B4-BE49-F238E27FC236}">
                <a16:creationId xmlns:a16="http://schemas.microsoft.com/office/drawing/2014/main" id="{B741F5E4-015E-F50D-E9B3-644BC69D0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018" y="1011003"/>
            <a:ext cx="1207913" cy="1207913"/>
          </a:xfrm>
          <a:prstGeom prst="rect">
            <a:avLst/>
          </a:prstGeom>
        </p:spPr>
      </p:pic>
      <p:pic>
        <p:nvPicPr>
          <p:cNvPr id="14" name="Picture 13" descr="A close-up of a logo&#10;&#10;Description automatically generated">
            <a:extLst>
              <a:ext uri="{FF2B5EF4-FFF2-40B4-BE49-F238E27FC236}">
                <a16:creationId xmlns:a16="http://schemas.microsoft.com/office/drawing/2014/main" id="{6056CDEE-6AF1-F763-CF73-F69DA8199F3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14634" r="351" b="22471"/>
          <a:stretch/>
        </p:blipFill>
        <p:spPr>
          <a:xfrm>
            <a:off x="6732041" y="1185651"/>
            <a:ext cx="1265535" cy="798772"/>
          </a:xfrm>
          <a:prstGeom prst="rect">
            <a:avLst/>
          </a:prstGeom>
        </p:spPr>
      </p:pic>
      <p:pic>
        <p:nvPicPr>
          <p:cNvPr id="16" name="Picture 15" descr="A logo for a restaurant&#10;&#10;Description automatically generated">
            <a:extLst>
              <a:ext uri="{FF2B5EF4-FFF2-40B4-BE49-F238E27FC236}">
                <a16:creationId xmlns:a16="http://schemas.microsoft.com/office/drawing/2014/main" id="{0D7BCF2D-7200-3AC0-F515-43E2A346F50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212" b="30982"/>
          <a:stretch/>
        </p:blipFill>
        <p:spPr>
          <a:xfrm>
            <a:off x="8140266" y="1321275"/>
            <a:ext cx="828346" cy="545102"/>
          </a:xfrm>
          <a:prstGeom prst="rect">
            <a:avLst/>
          </a:prstGeom>
        </p:spPr>
      </p:pic>
      <p:pic>
        <p:nvPicPr>
          <p:cNvPr id="18" name="Picture 17" descr="A logo for a resort&#10;&#10;Description automatically generated">
            <a:extLst>
              <a:ext uri="{FF2B5EF4-FFF2-40B4-BE49-F238E27FC236}">
                <a16:creationId xmlns:a16="http://schemas.microsoft.com/office/drawing/2014/main" id="{C82EDBB3-604B-6955-5B2B-0A7E3BA591A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9238" r="8115" b="5088"/>
          <a:stretch/>
        </p:blipFill>
        <p:spPr>
          <a:xfrm>
            <a:off x="9027677" y="1127126"/>
            <a:ext cx="1007365" cy="939272"/>
          </a:xfrm>
          <a:prstGeom prst="rect">
            <a:avLst/>
          </a:prstGeom>
        </p:spPr>
      </p:pic>
      <p:pic>
        <p:nvPicPr>
          <p:cNvPr id="20" name="Picture 19" descr="A logo for a banquet&#10;&#10;Description automatically generated">
            <a:extLst>
              <a:ext uri="{FF2B5EF4-FFF2-40B4-BE49-F238E27FC236}">
                <a16:creationId xmlns:a16="http://schemas.microsoft.com/office/drawing/2014/main" id="{948472FD-D161-C2B2-C27F-1E7CD1A714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5042" y="1071624"/>
            <a:ext cx="1133435" cy="956916"/>
          </a:xfrm>
          <a:prstGeom prst="rect">
            <a:avLst/>
          </a:prstGeom>
        </p:spPr>
      </p:pic>
      <p:pic>
        <p:nvPicPr>
          <p:cNvPr id="22" name="Picture 21" descr="A logo for a company&#10;&#10;Description automatically generated">
            <a:extLst>
              <a:ext uri="{FF2B5EF4-FFF2-40B4-BE49-F238E27FC236}">
                <a16:creationId xmlns:a16="http://schemas.microsoft.com/office/drawing/2014/main" id="{96DA6E64-666D-5E0D-B89F-A7C2FC3989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51260" y="1212898"/>
            <a:ext cx="783043" cy="783043"/>
          </a:xfrm>
          <a:prstGeom prst="rect">
            <a:avLst/>
          </a:prstGeom>
        </p:spPr>
      </p:pic>
      <p:pic>
        <p:nvPicPr>
          <p:cNvPr id="24" name="Picture 23" descr="A yellow and blue logo&#10;&#10;Description automatically generated">
            <a:extLst>
              <a:ext uri="{FF2B5EF4-FFF2-40B4-BE49-F238E27FC236}">
                <a16:creationId xmlns:a16="http://schemas.microsoft.com/office/drawing/2014/main" id="{E86D4C9E-B72F-DAB3-7DA4-67E2789967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8617" y="2400965"/>
            <a:ext cx="1160843" cy="542450"/>
          </a:xfrm>
          <a:prstGeom prst="rect">
            <a:avLst/>
          </a:prstGeom>
        </p:spPr>
      </p:pic>
      <p:pic>
        <p:nvPicPr>
          <p:cNvPr id="26" name="Picture 25" descr="A logo with orange and purple lines&#10;&#10;Description automatically generated">
            <a:extLst>
              <a:ext uri="{FF2B5EF4-FFF2-40B4-BE49-F238E27FC236}">
                <a16:creationId xmlns:a16="http://schemas.microsoft.com/office/drawing/2014/main" id="{5CAF1553-11AF-3E28-14C3-EFA183433E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4532" y="2174366"/>
            <a:ext cx="1350465" cy="827160"/>
          </a:xfrm>
          <a:prstGeom prst="rect">
            <a:avLst/>
          </a:prstGeom>
        </p:spPr>
      </p:pic>
      <p:pic>
        <p:nvPicPr>
          <p:cNvPr id="28" name="Picture 27" descr="A green logo in a circle&#10;&#10;Description automatically generated">
            <a:extLst>
              <a:ext uri="{FF2B5EF4-FFF2-40B4-BE49-F238E27FC236}">
                <a16:creationId xmlns:a16="http://schemas.microsoft.com/office/drawing/2014/main" id="{6FDE4F5F-3EC9-9F31-3246-6958E43BA6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2318" y="2232215"/>
            <a:ext cx="952500" cy="711200"/>
          </a:xfrm>
          <a:prstGeom prst="rect">
            <a:avLst/>
          </a:prstGeom>
        </p:spPr>
      </p:pic>
      <p:pic>
        <p:nvPicPr>
          <p:cNvPr id="30" name="Picture 29" descr="A logo for a company&#10;&#10;Description automatically generated">
            <a:extLst>
              <a:ext uri="{FF2B5EF4-FFF2-40B4-BE49-F238E27FC236}">
                <a16:creationId xmlns:a16="http://schemas.microsoft.com/office/drawing/2014/main" id="{CA21B706-56AB-45C2-B342-099F155A57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0637" y="2170059"/>
            <a:ext cx="835512" cy="835512"/>
          </a:xfrm>
          <a:prstGeom prst="rect">
            <a:avLst/>
          </a:prstGeom>
        </p:spPr>
      </p:pic>
      <p:pic>
        <p:nvPicPr>
          <p:cNvPr id="32" name="Picture 31" descr="A red and blue logo&#10;&#10;Description automatically generated">
            <a:extLst>
              <a:ext uri="{FF2B5EF4-FFF2-40B4-BE49-F238E27FC236}">
                <a16:creationId xmlns:a16="http://schemas.microsoft.com/office/drawing/2014/main" id="{4C16D985-017A-4F66-F301-52661FC4C1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46785" y="2140502"/>
            <a:ext cx="918321" cy="918321"/>
          </a:xfrm>
          <a:prstGeom prst="rect">
            <a:avLst/>
          </a:prstGeom>
        </p:spPr>
      </p:pic>
      <p:pic>
        <p:nvPicPr>
          <p:cNvPr id="34" name="Picture 33" descr="A logo of a company&#10;&#10;Description automatically generated">
            <a:extLst>
              <a:ext uri="{FF2B5EF4-FFF2-40B4-BE49-F238E27FC236}">
                <a16:creationId xmlns:a16="http://schemas.microsoft.com/office/drawing/2014/main" id="{37526DEE-F2F1-B837-7D82-953A5AD1EC8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47396" y="2018000"/>
            <a:ext cx="979125" cy="979125"/>
          </a:xfrm>
          <a:prstGeom prst="rect">
            <a:avLst/>
          </a:prstGeom>
        </p:spPr>
      </p:pic>
      <p:pic>
        <p:nvPicPr>
          <p:cNvPr id="36" name="Picture 35" descr="A black and yellow logo&#10;&#10;Description automatically generated">
            <a:extLst>
              <a:ext uri="{FF2B5EF4-FFF2-40B4-BE49-F238E27FC236}">
                <a16:creationId xmlns:a16="http://schemas.microsoft.com/office/drawing/2014/main" id="{91716257-6521-0EEB-29CC-F39BEA91F9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8811" y="2007402"/>
            <a:ext cx="1049834" cy="1049834"/>
          </a:xfrm>
          <a:prstGeom prst="rect">
            <a:avLst/>
          </a:prstGeom>
        </p:spPr>
      </p:pic>
      <p:pic>
        <p:nvPicPr>
          <p:cNvPr id="38" name="Picture 37" descr="A logo with text overlay&#10;&#10;Description automatically generated">
            <a:extLst>
              <a:ext uri="{FF2B5EF4-FFF2-40B4-BE49-F238E27FC236}">
                <a16:creationId xmlns:a16="http://schemas.microsoft.com/office/drawing/2014/main" id="{6589F334-3275-AAFA-6654-42E194082A6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61016" y="2149279"/>
            <a:ext cx="865606" cy="989264"/>
          </a:xfrm>
          <a:prstGeom prst="rect">
            <a:avLst/>
          </a:prstGeom>
        </p:spPr>
      </p:pic>
      <p:pic>
        <p:nvPicPr>
          <p:cNvPr id="40" name="Picture 39" descr="A brown and gold circle with white text&#10;&#10;Description automatically generated">
            <a:extLst>
              <a:ext uri="{FF2B5EF4-FFF2-40B4-BE49-F238E27FC236}">
                <a16:creationId xmlns:a16="http://schemas.microsoft.com/office/drawing/2014/main" id="{0E3C73C4-6817-0DF7-C80A-58D071F43B4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54029" y="2337490"/>
            <a:ext cx="721333" cy="721333"/>
          </a:xfrm>
          <a:prstGeom prst="rect">
            <a:avLst/>
          </a:prstGeom>
        </p:spPr>
      </p:pic>
      <p:pic>
        <p:nvPicPr>
          <p:cNvPr id="43" name="Picture 42" descr="A blue and grey text on a black background&#10;&#10;Description automatically generated">
            <a:extLst>
              <a:ext uri="{FF2B5EF4-FFF2-40B4-BE49-F238E27FC236}">
                <a16:creationId xmlns:a16="http://schemas.microsoft.com/office/drawing/2014/main" id="{D38553D4-84AC-E210-BA6B-D25D61F04C4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33383" y="3358643"/>
            <a:ext cx="1066800" cy="546100"/>
          </a:xfrm>
          <a:prstGeom prst="rect">
            <a:avLst/>
          </a:prstGeom>
        </p:spPr>
      </p:pic>
      <p:pic>
        <p:nvPicPr>
          <p:cNvPr id="45" name="Picture 44" descr="A close-up of a logo&#10;&#10;Description automatically generated">
            <a:extLst>
              <a:ext uri="{FF2B5EF4-FFF2-40B4-BE49-F238E27FC236}">
                <a16:creationId xmlns:a16="http://schemas.microsoft.com/office/drawing/2014/main" id="{DA7F0262-469F-EDB1-6256-B13966592C3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46345" y="3368825"/>
            <a:ext cx="1628325" cy="516680"/>
          </a:xfrm>
          <a:prstGeom prst="rect">
            <a:avLst/>
          </a:prstGeom>
        </p:spPr>
      </p:pic>
      <p:pic>
        <p:nvPicPr>
          <p:cNvPr id="47" name="Picture 46" descr="A green and grey logo&#10;&#10;Description automatically generated">
            <a:extLst>
              <a:ext uri="{FF2B5EF4-FFF2-40B4-BE49-F238E27FC236}">
                <a16:creationId xmlns:a16="http://schemas.microsoft.com/office/drawing/2014/main" id="{D8539D40-4A4D-AE85-B561-F922A99CFDC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72443" y="3178972"/>
            <a:ext cx="944335" cy="944335"/>
          </a:xfrm>
          <a:prstGeom prst="rect">
            <a:avLst/>
          </a:prstGeom>
        </p:spPr>
      </p:pic>
      <p:pic>
        <p:nvPicPr>
          <p:cNvPr id="49" name="Picture 48" descr="A circular design of a group of valves&#10;&#10;Description automatically generated with medium confidence">
            <a:extLst>
              <a:ext uri="{FF2B5EF4-FFF2-40B4-BE49-F238E27FC236}">
                <a16:creationId xmlns:a16="http://schemas.microsoft.com/office/drawing/2014/main" id="{AB5F2FED-970D-D425-1A5F-A3B930984FB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12323" y="3242447"/>
            <a:ext cx="827160" cy="827160"/>
          </a:xfrm>
          <a:prstGeom prst="rect">
            <a:avLst/>
          </a:prstGeom>
        </p:spPr>
      </p:pic>
      <p:pic>
        <p:nvPicPr>
          <p:cNvPr id="51" name="Picture 50" descr="A logo of a company&#10;&#10;Description automatically generated">
            <a:extLst>
              <a:ext uri="{FF2B5EF4-FFF2-40B4-BE49-F238E27FC236}">
                <a16:creationId xmlns:a16="http://schemas.microsoft.com/office/drawing/2014/main" id="{8736410E-D8F0-8B3C-6839-6C9CB6E19DC0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t="27150" b="29295"/>
          <a:stretch/>
        </p:blipFill>
        <p:spPr>
          <a:xfrm>
            <a:off x="7093357" y="3233465"/>
            <a:ext cx="1976577" cy="731250"/>
          </a:xfrm>
          <a:prstGeom prst="rect">
            <a:avLst/>
          </a:prstGeom>
        </p:spPr>
      </p:pic>
      <p:pic>
        <p:nvPicPr>
          <p:cNvPr id="54" name="Picture 53" descr="A logo with a crown&#10;&#10;Description automatically generated">
            <a:extLst>
              <a:ext uri="{FF2B5EF4-FFF2-40B4-BE49-F238E27FC236}">
                <a16:creationId xmlns:a16="http://schemas.microsoft.com/office/drawing/2014/main" id="{5E7E4995-EFC1-1F6E-5BA7-A872DD3640A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73830" y="3203822"/>
            <a:ext cx="827160" cy="827160"/>
          </a:xfrm>
          <a:prstGeom prst="rect">
            <a:avLst/>
          </a:prstGeom>
        </p:spPr>
      </p:pic>
      <p:pic>
        <p:nvPicPr>
          <p:cNvPr id="56" name="Picture 55" descr="A logo with a blue and red text&#10;&#10;Description automatically generated">
            <a:extLst>
              <a:ext uri="{FF2B5EF4-FFF2-40B4-BE49-F238E27FC236}">
                <a16:creationId xmlns:a16="http://schemas.microsoft.com/office/drawing/2014/main" id="{F49654E0-7EA2-D707-36F5-88311B3DEA7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74374" y="3107013"/>
            <a:ext cx="1102077" cy="1102077"/>
          </a:xfrm>
          <a:prstGeom prst="rect">
            <a:avLst/>
          </a:prstGeom>
        </p:spPr>
      </p:pic>
      <p:pic>
        <p:nvPicPr>
          <p:cNvPr id="61" name="Picture 60" descr="A logo of a family&#10;&#10;Description automatically generated">
            <a:extLst>
              <a:ext uri="{FF2B5EF4-FFF2-40B4-BE49-F238E27FC236}">
                <a16:creationId xmlns:a16="http://schemas.microsoft.com/office/drawing/2014/main" id="{01DC526F-E3CE-D932-0101-34C7854FA92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280734" y="3324193"/>
            <a:ext cx="783043" cy="783043"/>
          </a:xfrm>
          <a:prstGeom prst="rect">
            <a:avLst/>
          </a:prstGeom>
        </p:spPr>
      </p:pic>
      <p:pic>
        <p:nvPicPr>
          <p:cNvPr id="63" name="Picture 62" descr="A blue and white logo&#10;&#10;Description automatically generated">
            <a:extLst>
              <a:ext uri="{FF2B5EF4-FFF2-40B4-BE49-F238E27FC236}">
                <a16:creationId xmlns:a16="http://schemas.microsoft.com/office/drawing/2014/main" id="{E61DEF7D-53FF-2403-EF21-C7C7CA40E05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58684" y="4168494"/>
            <a:ext cx="712135" cy="712135"/>
          </a:xfrm>
          <a:prstGeom prst="rect">
            <a:avLst/>
          </a:prstGeom>
        </p:spPr>
      </p:pic>
      <p:pic>
        <p:nvPicPr>
          <p:cNvPr id="65" name="Picture 64" descr="A logo with a hexagon and black text&#10;&#10;Description automatically generated">
            <a:extLst>
              <a:ext uri="{FF2B5EF4-FFF2-40B4-BE49-F238E27FC236}">
                <a16:creationId xmlns:a16="http://schemas.microsoft.com/office/drawing/2014/main" id="{CFC09DCD-D1CA-8E10-59AB-719498DBDDB3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t="8840" b="26015"/>
          <a:stretch/>
        </p:blipFill>
        <p:spPr>
          <a:xfrm>
            <a:off x="3100236" y="4091611"/>
            <a:ext cx="1319216" cy="663170"/>
          </a:xfrm>
          <a:prstGeom prst="rect">
            <a:avLst/>
          </a:prstGeom>
        </p:spPr>
      </p:pic>
      <p:pic>
        <p:nvPicPr>
          <p:cNvPr id="67" name="Picture 66" descr="A black and white logo&#10;&#10;Description automatically generated">
            <a:extLst>
              <a:ext uri="{FF2B5EF4-FFF2-40B4-BE49-F238E27FC236}">
                <a16:creationId xmlns:a16="http://schemas.microsoft.com/office/drawing/2014/main" id="{AD21D9B5-0EA8-173F-F6E9-D98DE89BE2B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20663" y="4307652"/>
            <a:ext cx="1337176" cy="476547"/>
          </a:xfrm>
          <a:prstGeom prst="rect">
            <a:avLst/>
          </a:prstGeom>
        </p:spPr>
      </p:pic>
      <p:pic>
        <p:nvPicPr>
          <p:cNvPr id="69" name="Picture 68" descr="A green and orange logo&#10;&#10;Description automatically generated">
            <a:extLst>
              <a:ext uri="{FF2B5EF4-FFF2-40B4-BE49-F238E27FC236}">
                <a16:creationId xmlns:a16="http://schemas.microsoft.com/office/drawing/2014/main" id="{45BEAE8D-2F8B-967F-7F6D-3F9593E96E9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44596" y="4276838"/>
            <a:ext cx="1628670" cy="423454"/>
          </a:xfrm>
          <a:prstGeom prst="rect">
            <a:avLst/>
          </a:prstGeom>
        </p:spPr>
      </p:pic>
      <p:pic>
        <p:nvPicPr>
          <p:cNvPr id="72" name="Picture 71" descr="A blue and white logo&#10;&#10;Description automatically generated">
            <a:extLst>
              <a:ext uri="{FF2B5EF4-FFF2-40B4-BE49-F238E27FC236}">
                <a16:creationId xmlns:a16="http://schemas.microsoft.com/office/drawing/2014/main" id="{6C909C7F-0F30-D08E-4E76-4A6E6EA333B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14016" y="4135311"/>
            <a:ext cx="1337176" cy="536472"/>
          </a:xfrm>
          <a:prstGeom prst="rect">
            <a:avLst/>
          </a:prstGeom>
        </p:spPr>
      </p:pic>
      <p:pic>
        <p:nvPicPr>
          <p:cNvPr id="74" name="Picture 73" descr="A white circle with a blue background&#10;&#10;Description automatically generated">
            <a:extLst>
              <a:ext uri="{FF2B5EF4-FFF2-40B4-BE49-F238E27FC236}">
                <a16:creationId xmlns:a16="http://schemas.microsoft.com/office/drawing/2014/main" id="{73943A3E-45FE-D847-8039-5B05DA0FDE0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227830" y="4050820"/>
            <a:ext cx="744751" cy="744751"/>
          </a:xfrm>
          <a:prstGeom prst="rect">
            <a:avLst/>
          </a:prstGeom>
        </p:spPr>
      </p:pic>
      <p:pic>
        <p:nvPicPr>
          <p:cNvPr id="76" name="Picture 75" descr="A logo with green and blue text&#10;&#10;Description automatically generated">
            <a:extLst>
              <a:ext uri="{FF2B5EF4-FFF2-40B4-BE49-F238E27FC236}">
                <a16:creationId xmlns:a16="http://schemas.microsoft.com/office/drawing/2014/main" id="{E56BA0CC-49B3-91E4-06AA-80FDFD715C0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087240" y="4178636"/>
            <a:ext cx="2024132" cy="605255"/>
          </a:xfrm>
          <a:prstGeom prst="rect">
            <a:avLst/>
          </a:prstGeom>
        </p:spPr>
      </p:pic>
      <p:pic>
        <p:nvPicPr>
          <p:cNvPr id="78" name="Picture 77" descr="A logo of a house and a heart&#10;&#10;Description automatically generated">
            <a:extLst>
              <a:ext uri="{FF2B5EF4-FFF2-40B4-BE49-F238E27FC236}">
                <a16:creationId xmlns:a16="http://schemas.microsoft.com/office/drawing/2014/main" id="{8E8A4695-642C-95E9-3BE1-8C22E11999C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93727" y="5063275"/>
            <a:ext cx="771437" cy="761185"/>
          </a:xfrm>
          <a:prstGeom prst="rect">
            <a:avLst/>
          </a:prstGeom>
        </p:spPr>
      </p:pic>
      <p:pic>
        <p:nvPicPr>
          <p:cNvPr id="80" name="Picture 79" descr="A close-up of a logo&#10;&#10;Description automatically generated">
            <a:extLst>
              <a:ext uri="{FF2B5EF4-FFF2-40B4-BE49-F238E27FC236}">
                <a16:creationId xmlns:a16="http://schemas.microsoft.com/office/drawing/2014/main" id="{EC679C38-6513-4662-79E9-03D8C15C676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275294" y="5012016"/>
            <a:ext cx="761185" cy="761185"/>
          </a:xfrm>
          <a:prstGeom prst="rect">
            <a:avLst/>
          </a:prstGeom>
        </p:spPr>
      </p:pic>
      <p:pic>
        <p:nvPicPr>
          <p:cNvPr id="82" name="Picture 81" descr="A logo of a seal&#10;&#10;Description automatically generated">
            <a:extLst>
              <a:ext uri="{FF2B5EF4-FFF2-40B4-BE49-F238E27FC236}">
                <a16:creationId xmlns:a16="http://schemas.microsoft.com/office/drawing/2014/main" id="{AB881A88-ED73-3984-9158-ACC98459710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455548" y="5019534"/>
            <a:ext cx="758410" cy="758410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399D11AD-6857-CF93-CC4A-D6E81D92BC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526091" y="4984164"/>
            <a:ext cx="771436" cy="771436"/>
          </a:xfrm>
          <a:prstGeom prst="rect">
            <a:avLst/>
          </a:prstGeom>
        </p:spPr>
      </p:pic>
      <p:pic>
        <p:nvPicPr>
          <p:cNvPr id="86" name="Picture 85" descr="A logo with a blue text&#10;&#10;Description automatically generated with medium confidence">
            <a:extLst>
              <a:ext uri="{FF2B5EF4-FFF2-40B4-BE49-F238E27FC236}">
                <a16:creationId xmlns:a16="http://schemas.microsoft.com/office/drawing/2014/main" id="{7D7F0F9D-5A6B-06FA-EAC6-DB2FBCFD0DC5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519063" y="4806029"/>
            <a:ext cx="1015714" cy="1015714"/>
          </a:xfrm>
          <a:prstGeom prst="rect">
            <a:avLst/>
          </a:prstGeom>
        </p:spPr>
      </p:pic>
      <p:pic>
        <p:nvPicPr>
          <p:cNvPr id="88" name="Picture 87" descr="A yellow and green logo&#10;&#10;Description automatically generated">
            <a:extLst>
              <a:ext uri="{FF2B5EF4-FFF2-40B4-BE49-F238E27FC236}">
                <a16:creationId xmlns:a16="http://schemas.microsoft.com/office/drawing/2014/main" id="{76F05510-1383-E508-BF68-AD7810B3357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608534" y="4899060"/>
            <a:ext cx="835205" cy="835205"/>
          </a:xfrm>
          <a:prstGeom prst="rect">
            <a:avLst/>
          </a:prstGeom>
        </p:spPr>
      </p:pic>
      <p:pic>
        <p:nvPicPr>
          <p:cNvPr id="90" name="Picture 89" descr="A logo of a company&#10;&#10;Description automatically generated with medium confidence">
            <a:extLst>
              <a:ext uri="{FF2B5EF4-FFF2-40B4-BE49-F238E27FC236}">
                <a16:creationId xmlns:a16="http://schemas.microsoft.com/office/drawing/2014/main" id="{22230078-1D8C-861F-BFC3-22F788E71380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615939" y="4884752"/>
            <a:ext cx="1015714" cy="1015714"/>
          </a:xfrm>
          <a:prstGeom prst="rect">
            <a:avLst/>
          </a:prstGeom>
        </p:spPr>
      </p:pic>
      <p:pic>
        <p:nvPicPr>
          <p:cNvPr id="92" name="Picture 91" descr="A logo of a kidney&#10;&#10;Description automatically generated">
            <a:extLst>
              <a:ext uri="{FF2B5EF4-FFF2-40B4-BE49-F238E27FC236}">
                <a16:creationId xmlns:a16="http://schemas.microsoft.com/office/drawing/2014/main" id="{29FC23F3-69D5-3699-3700-67821EA39E05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flipH="1">
            <a:off x="9710812" y="4877536"/>
            <a:ext cx="900408" cy="900408"/>
          </a:xfrm>
          <a:prstGeom prst="rect">
            <a:avLst/>
          </a:prstGeom>
        </p:spPr>
      </p:pic>
      <p:pic>
        <p:nvPicPr>
          <p:cNvPr id="94" name="Picture 93" descr="A blue and white logo&#10;&#10;Description automatically generated">
            <a:extLst>
              <a:ext uri="{FF2B5EF4-FFF2-40B4-BE49-F238E27FC236}">
                <a16:creationId xmlns:a16="http://schemas.microsoft.com/office/drawing/2014/main" id="{D0015C86-8480-1537-5962-D3DF65CA69A0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823351" y="4880629"/>
            <a:ext cx="962466" cy="962466"/>
          </a:xfrm>
          <a:prstGeom prst="rect">
            <a:avLst/>
          </a:prstGeom>
        </p:spPr>
      </p:pic>
      <p:pic>
        <p:nvPicPr>
          <p:cNvPr id="98" name="Picture 97" descr="A white text on a green background&#10;&#10;Description automatically generated">
            <a:extLst>
              <a:ext uri="{FF2B5EF4-FFF2-40B4-BE49-F238E27FC236}">
                <a16:creationId xmlns:a16="http://schemas.microsoft.com/office/drawing/2014/main" id="{C1EF4C57-AB8D-1C87-3D5E-747BD183AE9D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62456" y="6132953"/>
            <a:ext cx="2201600" cy="447200"/>
          </a:xfrm>
          <a:prstGeom prst="rect">
            <a:avLst/>
          </a:prstGeom>
        </p:spPr>
      </p:pic>
      <p:pic>
        <p:nvPicPr>
          <p:cNvPr id="104" name="Picture 103" descr="A logo of a company&#10;&#10;Description automatically generated">
            <a:extLst>
              <a:ext uri="{FF2B5EF4-FFF2-40B4-BE49-F238E27FC236}">
                <a16:creationId xmlns:a16="http://schemas.microsoft.com/office/drawing/2014/main" id="{315DE8F2-6D71-3690-E7AF-853F1283E700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647465" y="6000880"/>
            <a:ext cx="718106" cy="718106"/>
          </a:xfrm>
          <a:prstGeom prst="rect">
            <a:avLst/>
          </a:prstGeom>
        </p:spPr>
      </p:pic>
      <p:pic>
        <p:nvPicPr>
          <p:cNvPr id="106" name="Picture 105" descr="A red and yellow logo&#10;&#10;Description automatically generated">
            <a:extLst>
              <a:ext uri="{FF2B5EF4-FFF2-40B4-BE49-F238E27FC236}">
                <a16:creationId xmlns:a16="http://schemas.microsoft.com/office/drawing/2014/main" id="{40D5D3E8-CBA4-9C10-D2E3-01BFB6D9134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517143" y="5930823"/>
            <a:ext cx="799270" cy="799270"/>
          </a:xfrm>
          <a:prstGeom prst="rect">
            <a:avLst/>
          </a:prstGeom>
        </p:spPr>
      </p:pic>
      <p:pic>
        <p:nvPicPr>
          <p:cNvPr id="108" name="Picture 107" descr="A close-up of a logo&#10;&#10;Description automatically generated">
            <a:extLst>
              <a:ext uri="{FF2B5EF4-FFF2-40B4-BE49-F238E27FC236}">
                <a16:creationId xmlns:a16="http://schemas.microsoft.com/office/drawing/2014/main" id="{9DBFC3D5-FB22-EA5F-6571-9BBBE3E66653}"/>
              </a:ext>
            </a:extLst>
          </p:cNvPr>
          <p:cNvPicPr>
            <a:picLocks noChangeAspect="1"/>
          </p:cNvPicPr>
          <p:nvPr/>
        </p:nvPicPr>
        <p:blipFill rotWithShape="1">
          <a:blip r:embed="rId48"/>
          <a:srcRect t="30046" b="26329"/>
          <a:stretch/>
        </p:blipFill>
        <p:spPr>
          <a:xfrm>
            <a:off x="6477734" y="6084354"/>
            <a:ext cx="1422400" cy="620533"/>
          </a:xfrm>
          <a:prstGeom prst="rect">
            <a:avLst/>
          </a:prstGeom>
        </p:spPr>
      </p:pic>
      <p:pic>
        <p:nvPicPr>
          <p:cNvPr id="110" name="Picture 109" descr="A logo of a company&#10;&#10;Description automatically generated">
            <a:extLst>
              <a:ext uri="{FF2B5EF4-FFF2-40B4-BE49-F238E27FC236}">
                <a16:creationId xmlns:a16="http://schemas.microsoft.com/office/drawing/2014/main" id="{8989BB0F-EC79-1950-AE7A-E122AA5F22FE}"/>
              </a:ext>
            </a:extLst>
          </p:cNvPr>
          <p:cNvPicPr>
            <a:picLocks noChangeAspect="1"/>
          </p:cNvPicPr>
          <p:nvPr/>
        </p:nvPicPr>
        <p:blipFill rotWithShape="1">
          <a:blip r:embed="rId49"/>
          <a:srcRect l="58" t="7151" r="1" b="12705"/>
          <a:stretch/>
        </p:blipFill>
        <p:spPr>
          <a:xfrm>
            <a:off x="7927616" y="5971729"/>
            <a:ext cx="962466" cy="771812"/>
          </a:xfrm>
          <a:prstGeom prst="rect">
            <a:avLst/>
          </a:prstGeom>
        </p:spPr>
      </p:pic>
      <p:pic>
        <p:nvPicPr>
          <p:cNvPr id="112" name="Picture 111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FB64DDC7-DF64-0C69-1994-6195E6231C15}"/>
              </a:ext>
            </a:extLst>
          </p:cNvPr>
          <p:cNvPicPr>
            <a:picLocks noChangeAspect="1"/>
          </p:cNvPicPr>
          <p:nvPr/>
        </p:nvPicPr>
        <p:blipFill rotWithShape="1">
          <a:blip r:embed="rId50"/>
          <a:srcRect t="20224" b="21152"/>
          <a:stretch/>
        </p:blipFill>
        <p:spPr>
          <a:xfrm>
            <a:off x="8851524" y="5999838"/>
            <a:ext cx="1164408" cy="682621"/>
          </a:xfrm>
          <a:prstGeom prst="rect">
            <a:avLst/>
          </a:prstGeom>
        </p:spPr>
      </p:pic>
      <p:pic>
        <p:nvPicPr>
          <p:cNvPr id="114" name="Picture 113" descr="A logo for a construction company&#10;&#10;Description automatically generated">
            <a:extLst>
              <a:ext uri="{FF2B5EF4-FFF2-40B4-BE49-F238E27FC236}">
                <a16:creationId xmlns:a16="http://schemas.microsoft.com/office/drawing/2014/main" id="{829720DF-7F71-88CE-D6C9-D9F5066C59A3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973039" y="5971729"/>
            <a:ext cx="799661" cy="799661"/>
          </a:xfrm>
          <a:prstGeom prst="rect">
            <a:avLst/>
          </a:prstGeom>
        </p:spPr>
      </p:pic>
      <p:pic>
        <p:nvPicPr>
          <p:cNvPr id="118" name="Picture 117" descr="A logo of a house&#10;&#10;Description automatically generated">
            <a:extLst>
              <a:ext uri="{FF2B5EF4-FFF2-40B4-BE49-F238E27FC236}">
                <a16:creationId xmlns:a16="http://schemas.microsoft.com/office/drawing/2014/main" id="{EC4656A7-B5E6-F59F-CBD8-0F4D59BF4F7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967093" y="5767628"/>
            <a:ext cx="962465" cy="96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6EF7-447A-0FAC-8536-30A3F4A9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389">
            <a:extLst>
              <a:ext uri="{FF2B5EF4-FFF2-40B4-BE49-F238E27FC236}">
                <a16:creationId xmlns:a16="http://schemas.microsoft.com/office/drawing/2014/main" id="{5E422F90-AF99-A28C-5D4D-82095C250631}"/>
              </a:ext>
            </a:extLst>
          </p:cNvPr>
          <p:cNvSpPr/>
          <p:nvPr/>
        </p:nvSpPr>
        <p:spPr>
          <a:xfrm>
            <a:off x="544493" y="3923837"/>
            <a:ext cx="1614507" cy="22693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Unspecified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矩形 74">
            <a:extLst>
              <a:ext uri="{FF2B5EF4-FFF2-40B4-BE49-F238E27FC236}">
                <a16:creationId xmlns:a16="http://schemas.microsoft.com/office/drawing/2014/main" id="{9C695D4C-A192-F9A2-4ED4-08CA5744C268}"/>
              </a:ext>
            </a:extLst>
          </p:cNvPr>
          <p:cNvSpPr/>
          <p:nvPr/>
        </p:nvSpPr>
        <p:spPr>
          <a:xfrm>
            <a:off x="558072" y="3940120"/>
            <a:ext cx="3401568" cy="759837"/>
          </a:xfrm>
          <a:prstGeom prst="rect">
            <a:avLst/>
          </a:prstGeom>
          <a:noFill/>
          <a:ln w="254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93" name="Google Shape;8762;p85">
            <a:extLst>
              <a:ext uri="{FF2B5EF4-FFF2-40B4-BE49-F238E27FC236}">
                <a16:creationId xmlns:a16="http://schemas.microsoft.com/office/drawing/2014/main" id="{B773633E-7462-CFB5-EA14-54518A643EE2}"/>
              </a:ext>
            </a:extLst>
          </p:cNvPr>
          <p:cNvGrpSpPr/>
          <p:nvPr/>
        </p:nvGrpSpPr>
        <p:grpSpPr>
          <a:xfrm>
            <a:off x="852856" y="4233575"/>
            <a:ext cx="368405" cy="399454"/>
            <a:chOff x="3944825" y="4076050"/>
            <a:chExt cx="280450" cy="268750"/>
          </a:xfrm>
          <a:solidFill>
            <a:schemeClr val="accent1">
              <a:lumMod val="50000"/>
            </a:schemeClr>
          </a:solidFill>
        </p:grpSpPr>
        <p:sp>
          <p:nvSpPr>
            <p:cNvPr id="94" name="Google Shape;8763;p85">
              <a:extLst>
                <a:ext uri="{FF2B5EF4-FFF2-40B4-BE49-F238E27FC236}">
                  <a16:creationId xmlns:a16="http://schemas.microsoft.com/office/drawing/2014/main" id="{249D4042-83AA-28F6-0CDC-EAD2C698310D}"/>
                </a:ext>
              </a:extLst>
            </p:cNvPr>
            <p:cNvSpPr/>
            <p:nvPr/>
          </p:nvSpPr>
          <p:spPr>
            <a:xfrm>
              <a:off x="4047825" y="4076050"/>
              <a:ext cx="177450" cy="180100"/>
            </a:xfrm>
            <a:custGeom>
              <a:avLst/>
              <a:gdLst/>
              <a:ahLst/>
              <a:cxnLst/>
              <a:rect l="l" t="t" r="r" b="b"/>
              <a:pathLst>
                <a:path w="7098" h="7204" extrusionOk="0">
                  <a:moveTo>
                    <a:pt x="4323" y="0"/>
                  </a:moveTo>
                  <a:cubicBezTo>
                    <a:pt x="3680" y="0"/>
                    <a:pt x="3037" y="244"/>
                    <a:pt x="2549" y="732"/>
                  </a:cubicBezTo>
                  <a:lnTo>
                    <a:pt x="2549" y="756"/>
                  </a:lnTo>
                  <a:lnTo>
                    <a:pt x="382" y="2923"/>
                  </a:lnTo>
                  <a:lnTo>
                    <a:pt x="382" y="2947"/>
                  </a:lnTo>
                  <a:cubicBezTo>
                    <a:pt x="538" y="2919"/>
                    <a:pt x="697" y="2905"/>
                    <a:pt x="856" y="2905"/>
                  </a:cubicBezTo>
                  <a:cubicBezTo>
                    <a:pt x="1231" y="2905"/>
                    <a:pt x="1610" y="2980"/>
                    <a:pt x="1977" y="3114"/>
                  </a:cubicBezTo>
                  <a:lnTo>
                    <a:pt x="3454" y="1637"/>
                  </a:lnTo>
                  <a:cubicBezTo>
                    <a:pt x="3731" y="1361"/>
                    <a:pt x="4040" y="1245"/>
                    <a:pt x="4336" y="1245"/>
                  </a:cubicBezTo>
                  <a:cubicBezTo>
                    <a:pt x="5314" y="1245"/>
                    <a:pt x="6154" y="2509"/>
                    <a:pt x="5240" y="3423"/>
                  </a:cubicBezTo>
                  <a:cubicBezTo>
                    <a:pt x="5171" y="3493"/>
                    <a:pt x="3066" y="5597"/>
                    <a:pt x="3045" y="5597"/>
                  </a:cubicBezTo>
                  <a:cubicBezTo>
                    <a:pt x="3044" y="5597"/>
                    <a:pt x="3045" y="5595"/>
                    <a:pt x="3049" y="5590"/>
                  </a:cubicBezTo>
                  <a:lnTo>
                    <a:pt x="3049" y="5590"/>
                  </a:lnTo>
                  <a:cubicBezTo>
                    <a:pt x="2811" y="5841"/>
                    <a:pt x="2490" y="5966"/>
                    <a:pt x="2165" y="5966"/>
                  </a:cubicBezTo>
                  <a:cubicBezTo>
                    <a:pt x="1841" y="5966"/>
                    <a:pt x="1513" y="5841"/>
                    <a:pt x="1263" y="5590"/>
                  </a:cubicBezTo>
                  <a:cubicBezTo>
                    <a:pt x="1144" y="5471"/>
                    <a:pt x="983" y="5412"/>
                    <a:pt x="822" y="5412"/>
                  </a:cubicBezTo>
                  <a:cubicBezTo>
                    <a:pt x="662" y="5412"/>
                    <a:pt x="501" y="5471"/>
                    <a:pt x="382" y="5590"/>
                  </a:cubicBezTo>
                  <a:lnTo>
                    <a:pt x="1" y="5971"/>
                  </a:lnTo>
                  <a:cubicBezTo>
                    <a:pt x="96" y="6162"/>
                    <a:pt x="215" y="6329"/>
                    <a:pt x="382" y="6472"/>
                  </a:cubicBezTo>
                  <a:cubicBezTo>
                    <a:pt x="870" y="6960"/>
                    <a:pt x="1507" y="7204"/>
                    <a:pt x="2144" y="7204"/>
                  </a:cubicBezTo>
                  <a:cubicBezTo>
                    <a:pt x="2781" y="7204"/>
                    <a:pt x="3418" y="6960"/>
                    <a:pt x="3906" y="6472"/>
                  </a:cubicBezTo>
                  <a:lnTo>
                    <a:pt x="3930" y="6472"/>
                  </a:lnTo>
                  <a:lnTo>
                    <a:pt x="6097" y="4304"/>
                  </a:lnTo>
                  <a:cubicBezTo>
                    <a:pt x="7098" y="3304"/>
                    <a:pt x="7098" y="1733"/>
                    <a:pt x="6097" y="732"/>
                  </a:cubicBezTo>
                  <a:cubicBezTo>
                    <a:pt x="5609" y="244"/>
                    <a:pt x="4966" y="0"/>
                    <a:pt x="4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95" name="Google Shape;8764;p85">
              <a:extLst>
                <a:ext uri="{FF2B5EF4-FFF2-40B4-BE49-F238E27FC236}">
                  <a16:creationId xmlns:a16="http://schemas.microsoft.com/office/drawing/2014/main" id="{AF53CF23-773E-2861-E984-6DBAA6F9D68C}"/>
                </a:ext>
              </a:extLst>
            </p:cNvPr>
            <p:cNvSpPr/>
            <p:nvPr/>
          </p:nvSpPr>
          <p:spPr>
            <a:xfrm>
              <a:off x="3944825" y="4164600"/>
              <a:ext cx="177450" cy="180200"/>
            </a:xfrm>
            <a:custGeom>
              <a:avLst/>
              <a:gdLst/>
              <a:ahLst/>
              <a:cxnLst/>
              <a:rect l="l" t="t" r="r" b="b"/>
              <a:pathLst>
                <a:path w="7098" h="7208" extrusionOk="0">
                  <a:moveTo>
                    <a:pt x="4942" y="0"/>
                  </a:moveTo>
                  <a:cubicBezTo>
                    <a:pt x="4300" y="0"/>
                    <a:pt x="3657" y="239"/>
                    <a:pt x="3168" y="715"/>
                  </a:cubicBezTo>
                  <a:lnTo>
                    <a:pt x="977" y="2906"/>
                  </a:lnTo>
                  <a:cubicBezTo>
                    <a:pt x="1" y="3882"/>
                    <a:pt x="1" y="5478"/>
                    <a:pt x="977" y="6454"/>
                  </a:cubicBezTo>
                  <a:cubicBezTo>
                    <a:pt x="1469" y="6957"/>
                    <a:pt x="2116" y="7207"/>
                    <a:pt x="2766" y="7207"/>
                  </a:cubicBezTo>
                  <a:cubicBezTo>
                    <a:pt x="3408" y="7207"/>
                    <a:pt x="4052" y="6963"/>
                    <a:pt x="4550" y="6478"/>
                  </a:cubicBezTo>
                  <a:lnTo>
                    <a:pt x="6717" y="4287"/>
                  </a:lnTo>
                  <a:lnTo>
                    <a:pt x="6717" y="4263"/>
                  </a:lnTo>
                  <a:cubicBezTo>
                    <a:pt x="6560" y="4292"/>
                    <a:pt x="6402" y="4305"/>
                    <a:pt x="6243" y="4305"/>
                  </a:cubicBezTo>
                  <a:cubicBezTo>
                    <a:pt x="5868" y="4305"/>
                    <a:pt x="5489" y="4230"/>
                    <a:pt x="5121" y="4097"/>
                  </a:cubicBezTo>
                  <a:lnTo>
                    <a:pt x="3645" y="5573"/>
                  </a:lnTo>
                  <a:cubicBezTo>
                    <a:pt x="3368" y="5850"/>
                    <a:pt x="3059" y="5966"/>
                    <a:pt x="2763" y="5966"/>
                  </a:cubicBezTo>
                  <a:cubicBezTo>
                    <a:pt x="1784" y="5966"/>
                    <a:pt x="945" y="4701"/>
                    <a:pt x="1859" y="3787"/>
                  </a:cubicBezTo>
                  <a:lnTo>
                    <a:pt x="4026" y="1596"/>
                  </a:lnTo>
                  <a:cubicBezTo>
                    <a:pt x="4276" y="1358"/>
                    <a:pt x="4603" y="1239"/>
                    <a:pt x="4928" y="1239"/>
                  </a:cubicBezTo>
                  <a:cubicBezTo>
                    <a:pt x="5252" y="1239"/>
                    <a:pt x="5574" y="1358"/>
                    <a:pt x="5812" y="1596"/>
                  </a:cubicBezTo>
                  <a:cubicBezTo>
                    <a:pt x="5943" y="1727"/>
                    <a:pt x="6109" y="1792"/>
                    <a:pt x="6273" y="1792"/>
                  </a:cubicBezTo>
                  <a:cubicBezTo>
                    <a:pt x="6437" y="1792"/>
                    <a:pt x="6598" y="1727"/>
                    <a:pt x="6717" y="1596"/>
                  </a:cubicBezTo>
                  <a:lnTo>
                    <a:pt x="7098" y="1215"/>
                  </a:lnTo>
                  <a:cubicBezTo>
                    <a:pt x="7002" y="1048"/>
                    <a:pt x="6860" y="858"/>
                    <a:pt x="6717" y="715"/>
                  </a:cubicBezTo>
                  <a:cubicBezTo>
                    <a:pt x="6228" y="239"/>
                    <a:pt x="5585" y="0"/>
                    <a:pt x="49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330" name="矩形 74">
            <a:extLst>
              <a:ext uri="{FF2B5EF4-FFF2-40B4-BE49-F238E27FC236}">
                <a16:creationId xmlns:a16="http://schemas.microsoft.com/office/drawing/2014/main" id="{44116C73-68DD-8AA4-6EE3-995736429F83}"/>
              </a:ext>
            </a:extLst>
          </p:cNvPr>
          <p:cNvSpPr/>
          <p:nvPr/>
        </p:nvSpPr>
        <p:spPr>
          <a:xfrm>
            <a:off x="4003843" y="3083106"/>
            <a:ext cx="2790657" cy="7824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4" name="文本框 412">
            <a:extLst>
              <a:ext uri="{FF2B5EF4-FFF2-40B4-BE49-F238E27FC236}">
                <a16:creationId xmlns:a16="http://schemas.microsoft.com/office/drawing/2014/main" id="{561F0E7E-A715-EA7A-7BCE-7F7F9D9417B1}"/>
              </a:ext>
            </a:extLst>
          </p:cNvPr>
          <p:cNvSpPr txBox="1"/>
          <p:nvPr/>
        </p:nvSpPr>
        <p:spPr>
          <a:xfrm>
            <a:off x="1717555" y="4163755"/>
            <a:ext cx="2358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E.g., </a:t>
            </a:r>
            <a:r>
              <a:rPr kumimoji="1" lang="en-US" altLang="zh-CN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STERILE TECHNICIAN, DATA RECORDERS</a:t>
            </a:r>
            <a:endParaRPr kumimoji="1" lang="zh-CN" altLang="en-US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75" name="矩形 390">
            <a:extLst>
              <a:ext uri="{FF2B5EF4-FFF2-40B4-BE49-F238E27FC236}">
                <a16:creationId xmlns:a16="http://schemas.microsoft.com/office/drawing/2014/main" id="{DBE0CAE0-319C-E2B3-CB76-EA3D1E71BFF7}"/>
              </a:ext>
            </a:extLst>
          </p:cNvPr>
          <p:cNvSpPr/>
          <p:nvPr/>
        </p:nvSpPr>
        <p:spPr>
          <a:xfrm>
            <a:off x="565424" y="5092706"/>
            <a:ext cx="2982173" cy="2422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400" kern="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With Training Regulation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矩形 75">
            <a:extLst>
              <a:ext uri="{FF2B5EF4-FFF2-40B4-BE49-F238E27FC236}">
                <a16:creationId xmlns:a16="http://schemas.microsoft.com/office/drawing/2014/main" id="{D23184C5-8734-09FD-E521-7DAB0224D7BB}"/>
              </a:ext>
            </a:extLst>
          </p:cNvPr>
          <p:cNvSpPr/>
          <p:nvPr/>
        </p:nvSpPr>
        <p:spPr>
          <a:xfrm>
            <a:off x="579003" y="5084629"/>
            <a:ext cx="3401568" cy="759837"/>
          </a:xfrm>
          <a:prstGeom prst="rect">
            <a:avLst/>
          </a:prstGeom>
          <a:noFill/>
          <a:ln w="254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35" name="Google Shape;9569;p88">
            <a:extLst>
              <a:ext uri="{FF2B5EF4-FFF2-40B4-BE49-F238E27FC236}">
                <a16:creationId xmlns:a16="http://schemas.microsoft.com/office/drawing/2014/main" id="{9F6617B6-4500-7369-FF05-8A0D917FD3CD}"/>
              </a:ext>
            </a:extLst>
          </p:cNvPr>
          <p:cNvGrpSpPr/>
          <p:nvPr/>
        </p:nvGrpSpPr>
        <p:grpSpPr>
          <a:xfrm>
            <a:off x="822515" y="6280254"/>
            <a:ext cx="425168" cy="355177"/>
            <a:chOff x="6264975" y="3220950"/>
            <a:chExt cx="268525" cy="267950"/>
          </a:xfrm>
          <a:solidFill>
            <a:schemeClr val="accent1">
              <a:lumMod val="50000"/>
            </a:schemeClr>
          </a:solidFill>
        </p:grpSpPr>
        <p:sp>
          <p:nvSpPr>
            <p:cNvPr id="236" name="Google Shape;9570;p88">
              <a:extLst>
                <a:ext uri="{FF2B5EF4-FFF2-40B4-BE49-F238E27FC236}">
                  <a16:creationId xmlns:a16="http://schemas.microsoft.com/office/drawing/2014/main" id="{423FDF22-FA44-1AB6-529E-7715F87CF0E5}"/>
                </a:ext>
              </a:extLst>
            </p:cNvPr>
            <p:cNvSpPr/>
            <p:nvPr/>
          </p:nvSpPr>
          <p:spPr>
            <a:xfrm>
              <a:off x="6322725" y="3276925"/>
              <a:ext cx="6550" cy="16100"/>
            </a:xfrm>
            <a:custGeom>
              <a:avLst/>
              <a:gdLst/>
              <a:ahLst/>
              <a:cxnLst/>
              <a:rect l="l" t="t" r="r" b="b"/>
              <a:pathLst>
                <a:path w="262" h="644" extrusionOk="0">
                  <a:moveTo>
                    <a:pt x="0" y="0"/>
                  </a:moveTo>
                  <a:lnTo>
                    <a:pt x="0" y="643"/>
                  </a:lnTo>
                  <a:cubicBezTo>
                    <a:pt x="119" y="596"/>
                    <a:pt x="191" y="477"/>
                    <a:pt x="214" y="357"/>
                  </a:cubicBezTo>
                  <a:cubicBezTo>
                    <a:pt x="262" y="191"/>
                    <a:pt x="167" y="4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344D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37" name="Google Shape;9571;p88">
              <a:extLst>
                <a:ext uri="{FF2B5EF4-FFF2-40B4-BE49-F238E27FC236}">
                  <a16:creationId xmlns:a16="http://schemas.microsoft.com/office/drawing/2014/main" id="{21DC7329-4A98-EBF7-AAA2-23F2F4D30233}"/>
                </a:ext>
              </a:extLst>
            </p:cNvPr>
            <p:cNvSpPr/>
            <p:nvPr/>
          </p:nvSpPr>
          <p:spPr>
            <a:xfrm>
              <a:off x="6266750" y="3221700"/>
              <a:ext cx="122075" cy="104050"/>
            </a:xfrm>
            <a:custGeom>
              <a:avLst/>
              <a:gdLst/>
              <a:ahLst/>
              <a:cxnLst/>
              <a:rect l="l" t="t" r="r" b="b"/>
              <a:pathLst>
                <a:path w="4883" h="4162" extrusionOk="0">
                  <a:moveTo>
                    <a:pt x="2084" y="661"/>
                  </a:moveTo>
                  <a:cubicBezTo>
                    <a:pt x="2162" y="661"/>
                    <a:pt x="2239" y="709"/>
                    <a:pt x="2239" y="804"/>
                  </a:cubicBezTo>
                  <a:lnTo>
                    <a:pt x="2239" y="923"/>
                  </a:lnTo>
                  <a:cubicBezTo>
                    <a:pt x="2382" y="947"/>
                    <a:pt x="2501" y="995"/>
                    <a:pt x="2596" y="1114"/>
                  </a:cubicBezTo>
                  <a:cubicBezTo>
                    <a:pt x="2668" y="1161"/>
                    <a:pt x="2668" y="1257"/>
                    <a:pt x="2596" y="1328"/>
                  </a:cubicBezTo>
                  <a:cubicBezTo>
                    <a:pt x="2561" y="1352"/>
                    <a:pt x="2519" y="1364"/>
                    <a:pt x="2480" y="1364"/>
                  </a:cubicBezTo>
                  <a:cubicBezTo>
                    <a:pt x="2441" y="1364"/>
                    <a:pt x="2406" y="1352"/>
                    <a:pt x="2382" y="1328"/>
                  </a:cubicBezTo>
                  <a:cubicBezTo>
                    <a:pt x="2334" y="1304"/>
                    <a:pt x="2287" y="1280"/>
                    <a:pt x="2263" y="1257"/>
                  </a:cubicBezTo>
                  <a:lnTo>
                    <a:pt x="2263" y="1876"/>
                  </a:lnTo>
                  <a:lnTo>
                    <a:pt x="2358" y="1923"/>
                  </a:lnTo>
                  <a:cubicBezTo>
                    <a:pt x="2668" y="2019"/>
                    <a:pt x="2834" y="2328"/>
                    <a:pt x="2787" y="2638"/>
                  </a:cubicBezTo>
                  <a:cubicBezTo>
                    <a:pt x="2739" y="2900"/>
                    <a:pt x="2525" y="3138"/>
                    <a:pt x="2263" y="3186"/>
                  </a:cubicBezTo>
                  <a:lnTo>
                    <a:pt x="2263" y="3352"/>
                  </a:lnTo>
                  <a:cubicBezTo>
                    <a:pt x="2263" y="3448"/>
                    <a:pt x="2180" y="3495"/>
                    <a:pt x="2096" y="3495"/>
                  </a:cubicBezTo>
                  <a:cubicBezTo>
                    <a:pt x="2013" y="3495"/>
                    <a:pt x="1929" y="3448"/>
                    <a:pt x="1929" y="3352"/>
                  </a:cubicBezTo>
                  <a:lnTo>
                    <a:pt x="1929" y="3209"/>
                  </a:lnTo>
                  <a:cubicBezTo>
                    <a:pt x="1787" y="3209"/>
                    <a:pt x="1620" y="3138"/>
                    <a:pt x="1501" y="3043"/>
                  </a:cubicBezTo>
                  <a:cubicBezTo>
                    <a:pt x="1406" y="2995"/>
                    <a:pt x="1406" y="2900"/>
                    <a:pt x="1453" y="2828"/>
                  </a:cubicBezTo>
                  <a:lnTo>
                    <a:pt x="1429" y="2805"/>
                  </a:lnTo>
                  <a:cubicBezTo>
                    <a:pt x="1456" y="2765"/>
                    <a:pt x="1496" y="2748"/>
                    <a:pt x="1539" y="2748"/>
                  </a:cubicBezTo>
                  <a:cubicBezTo>
                    <a:pt x="1575" y="2748"/>
                    <a:pt x="1612" y="2759"/>
                    <a:pt x="1644" y="2781"/>
                  </a:cubicBezTo>
                  <a:cubicBezTo>
                    <a:pt x="1739" y="2828"/>
                    <a:pt x="1810" y="2876"/>
                    <a:pt x="1929" y="2876"/>
                  </a:cubicBezTo>
                  <a:lnTo>
                    <a:pt x="1929" y="2090"/>
                  </a:lnTo>
                  <a:cubicBezTo>
                    <a:pt x="1834" y="2043"/>
                    <a:pt x="1739" y="1995"/>
                    <a:pt x="1644" y="1923"/>
                  </a:cubicBezTo>
                  <a:cubicBezTo>
                    <a:pt x="1501" y="1804"/>
                    <a:pt x="1429" y="1590"/>
                    <a:pt x="1477" y="1423"/>
                  </a:cubicBezTo>
                  <a:cubicBezTo>
                    <a:pt x="1525" y="1209"/>
                    <a:pt x="1667" y="1019"/>
                    <a:pt x="1882" y="947"/>
                  </a:cubicBezTo>
                  <a:lnTo>
                    <a:pt x="1929" y="947"/>
                  </a:lnTo>
                  <a:lnTo>
                    <a:pt x="1929" y="804"/>
                  </a:lnTo>
                  <a:cubicBezTo>
                    <a:pt x="1929" y="709"/>
                    <a:pt x="2007" y="661"/>
                    <a:pt x="2084" y="661"/>
                  </a:cubicBezTo>
                  <a:close/>
                  <a:moveTo>
                    <a:pt x="2103" y="1"/>
                  </a:moveTo>
                  <a:cubicBezTo>
                    <a:pt x="1026" y="1"/>
                    <a:pt x="0" y="833"/>
                    <a:pt x="0" y="2090"/>
                  </a:cubicBezTo>
                  <a:cubicBezTo>
                    <a:pt x="0" y="3233"/>
                    <a:pt x="929" y="4162"/>
                    <a:pt x="2096" y="4162"/>
                  </a:cubicBezTo>
                  <a:cubicBezTo>
                    <a:pt x="3954" y="4162"/>
                    <a:pt x="4882" y="1923"/>
                    <a:pt x="3573" y="614"/>
                  </a:cubicBezTo>
                  <a:cubicBezTo>
                    <a:pt x="3142" y="190"/>
                    <a:pt x="2616" y="1"/>
                    <a:pt x="2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344D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38" name="Google Shape;9572;p88">
              <a:extLst>
                <a:ext uri="{FF2B5EF4-FFF2-40B4-BE49-F238E27FC236}">
                  <a16:creationId xmlns:a16="http://schemas.microsoft.com/office/drawing/2014/main" id="{6A21087B-84D6-1D1C-7F8E-1CA35E3960EC}"/>
                </a:ext>
              </a:extLst>
            </p:cNvPr>
            <p:cNvSpPr/>
            <p:nvPr/>
          </p:nvSpPr>
          <p:spPr>
            <a:xfrm>
              <a:off x="6310800" y="3253700"/>
              <a:ext cx="4200" cy="11325"/>
            </a:xfrm>
            <a:custGeom>
              <a:avLst/>
              <a:gdLst/>
              <a:ahLst/>
              <a:cxnLst/>
              <a:rect l="l" t="t" r="r" b="b"/>
              <a:pathLst>
                <a:path w="168" h="453" extrusionOk="0">
                  <a:moveTo>
                    <a:pt x="167" y="0"/>
                  </a:moveTo>
                  <a:cubicBezTo>
                    <a:pt x="96" y="24"/>
                    <a:pt x="25" y="120"/>
                    <a:pt x="25" y="191"/>
                  </a:cubicBezTo>
                  <a:cubicBezTo>
                    <a:pt x="1" y="262"/>
                    <a:pt x="25" y="334"/>
                    <a:pt x="72" y="405"/>
                  </a:cubicBezTo>
                  <a:lnTo>
                    <a:pt x="167" y="453"/>
                  </a:lnTo>
                  <a:lnTo>
                    <a:pt x="1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344D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39" name="Google Shape;9573;p88">
              <a:extLst>
                <a:ext uri="{FF2B5EF4-FFF2-40B4-BE49-F238E27FC236}">
                  <a16:creationId xmlns:a16="http://schemas.microsoft.com/office/drawing/2014/main" id="{15E624F8-4EE2-2CC0-08E2-F0D420831F1D}"/>
                </a:ext>
              </a:extLst>
            </p:cNvPr>
            <p:cNvSpPr/>
            <p:nvPr/>
          </p:nvSpPr>
          <p:spPr>
            <a:xfrm>
              <a:off x="6366175" y="3379325"/>
              <a:ext cx="67900" cy="109575"/>
            </a:xfrm>
            <a:custGeom>
              <a:avLst/>
              <a:gdLst/>
              <a:ahLst/>
              <a:cxnLst/>
              <a:rect l="l" t="t" r="r" b="b"/>
              <a:pathLst>
                <a:path w="2716" h="4383" extrusionOk="0">
                  <a:moveTo>
                    <a:pt x="334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4073"/>
                  </a:lnTo>
                  <a:cubicBezTo>
                    <a:pt x="0" y="4239"/>
                    <a:pt x="143" y="4382"/>
                    <a:pt x="334" y="4382"/>
                  </a:cubicBezTo>
                  <a:lnTo>
                    <a:pt x="2406" y="4382"/>
                  </a:lnTo>
                  <a:cubicBezTo>
                    <a:pt x="2572" y="4382"/>
                    <a:pt x="2715" y="4239"/>
                    <a:pt x="2715" y="4073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344D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40" name="Google Shape;9574;p88">
              <a:extLst>
                <a:ext uri="{FF2B5EF4-FFF2-40B4-BE49-F238E27FC236}">
                  <a16:creationId xmlns:a16="http://schemas.microsoft.com/office/drawing/2014/main" id="{44D4D8D5-6FAE-F9C0-DD6C-8BBDD5624FCB}"/>
                </a:ext>
              </a:extLst>
            </p:cNvPr>
            <p:cNvSpPr/>
            <p:nvPr/>
          </p:nvSpPr>
          <p:spPr>
            <a:xfrm>
              <a:off x="6465600" y="3347775"/>
              <a:ext cx="67900" cy="141125"/>
            </a:xfrm>
            <a:custGeom>
              <a:avLst/>
              <a:gdLst/>
              <a:ahLst/>
              <a:cxnLst/>
              <a:rect l="l" t="t" r="r" b="b"/>
              <a:pathLst>
                <a:path w="2716" h="5645" extrusionOk="0">
                  <a:moveTo>
                    <a:pt x="310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5335"/>
                  </a:lnTo>
                  <a:cubicBezTo>
                    <a:pt x="1" y="5501"/>
                    <a:pt x="143" y="5644"/>
                    <a:pt x="310" y="5644"/>
                  </a:cubicBezTo>
                  <a:lnTo>
                    <a:pt x="2406" y="5644"/>
                  </a:lnTo>
                  <a:cubicBezTo>
                    <a:pt x="2572" y="5644"/>
                    <a:pt x="2715" y="5501"/>
                    <a:pt x="2715" y="5335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344D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41" name="Google Shape;9575;p88">
              <a:extLst>
                <a:ext uri="{FF2B5EF4-FFF2-40B4-BE49-F238E27FC236}">
                  <a16:creationId xmlns:a16="http://schemas.microsoft.com/office/drawing/2014/main" id="{20800901-C5AB-01C0-FC80-277150ACDC2D}"/>
                </a:ext>
              </a:extLst>
            </p:cNvPr>
            <p:cNvSpPr/>
            <p:nvPr/>
          </p:nvSpPr>
          <p:spPr>
            <a:xfrm>
              <a:off x="6266750" y="3410275"/>
              <a:ext cx="67900" cy="78625"/>
            </a:xfrm>
            <a:custGeom>
              <a:avLst/>
              <a:gdLst/>
              <a:ahLst/>
              <a:cxnLst/>
              <a:rect l="l" t="t" r="r" b="b"/>
              <a:pathLst>
                <a:path w="2716" h="3145" extrusionOk="0">
                  <a:moveTo>
                    <a:pt x="334" y="1"/>
                  </a:moveTo>
                  <a:cubicBezTo>
                    <a:pt x="143" y="1"/>
                    <a:pt x="0" y="144"/>
                    <a:pt x="0" y="334"/>
                  </a:cubicBezTo>
                  <a:lnTo>
                    <a:pt x="0" y="2835"/>
                  </a:lnTo>
                  <a:cubicBezTo>
                    <a:pt x="0" y="3001"/>
                    <a:pt x="143" y="3144"/>
                    <a:pt x="334" y="3144"/>
                  </a:cubicBezTo>
                  <a:lnTo>
                    <a:pt x="2406" y="3144"/>
                  </a:lnTo>
                  <a:cubicBezTo>
                    <a:pt x="2572" y="3144"/>
                    <a:pt x="2715" y="3001"/>
                    <a:pt x="2715" y="2835"/>
                  </a:cubicBezTo>
                  <a:lnTo>
                    <a:pt x="2715" y="334"/>
                  </a:lnTo>
                  <a:cubicBezTo>
                    <a:pt x="2715" y="144"/>
                    <a:pt x="2572" y="1"/>
                    <a:pt x="2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344D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42" name="Google Shape;9576;p88">
              <a:extLst>
                <a:ext uri="{FF2B5EF4-FFF2-40B4-BE49-F238E27FC236}">
                  <a16:creationId xmlns:a16="http://schemas.microsoft.com/office/drawing/2014/main" id="{F72EFEEF-3EDA-992F-DE35-CA8480F954F7}"/>
                </a:ext>
              </a:extLst>
            </p:cNvPr>
            <p:cNvSpPr/>
            <p:nvPr/>
          </p:nvSpPr>
          <p:spPr>
            <a:xfrm>
              <a:off x="6264975" y="3220950"/>
              <a:ext cx="268525" cy="162550"/>
            </a:xfrm>
            <a:custGeom>
              <a:avLst/>
              <a:gdLst/>
              <a:ahLst/>
              <a:cxnLst/>
              <a:rect l="l" t="t" r="r" b="b"/>
              <a:pathLst>
                <a:path w="10741" h="6502" extrusionOk="0">
                  <a:moveTo>
                    <a:pt x="8764" y="1"/>
                  </a:moveTo>
                  <a:cubicBezTo>
                    <a:pt x="8383" y="48"/>
                    <a:pt x="8383" y="596"/>
                    <a:pt x="8764" y="644"/>
                  </a:cubicBezTo>
                  <a:lnTo>
                    <a:pt x="9645" y="644"/>
                  </a:lnTo>
                  <a:cubicBezTo>
                    <a:pt x="9502" y="763"/>
                    <a:pt x="9359" y="906"/>
                    <a:pt x="9216" y="1049"/>
                  </a:cubicBezTo>
                  <a:cubicBezTo>
                    <a:pt x="7335" y="2906"/>
                    <a:pt x="4477" y="5692"/>
                    <a:pt x="381" y="5859"/>
                  </a:cubicBezTo>
                  <a:cubicBezTo>
                    <a:pt x="0" y="5907"/>
                    <a:pt x="0" y="6454"/>
                    <a:pt x="381" y="6502"/>
                  </a:cubicBezTo>
                  <a:cubicBezTo>
                    <a:pt x="4715" y="6311"/>
                    <a:pt x="7668" y="3430"/>
                    <a:pt x="9645" y="1501"/>
                  </a:cubicBezTo>
                  <a:lnTo>
                    <a:pt x="10097" y="1049"/>
                  </a:lnTo>
                  <a:lnTo>
                    <a:pt x="10097" y="2001"/>
                  </a:lnTo>
                  <a:cubicBezTo>
                    <a:pt x="10121" y="2192"/>
                    <a:pt x="10270" y="2287"/>
                    <a:pt x="10419" y="2287"/>
                  </a:cubicBezTo>
                  <a:cubicBezTo>
                    <a:pt x="10568" y="2287"/>
                    <a:pt x="10717" y="2192"/>
                    <a:pt x="10740" y="2001"/>
                  </a:cubicBezTo>
                  <a:lnTo>
                    <a:pt x="10740" y="334"/>
                  </a:lnTo>
                  <a:cubicBezTo>
                    <a:pt x="10740" y="144"/>
                    <a:pt x="10597" y="1"/>
                    <a:pt x="10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344D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331" name="矩形 75">
            <a:extLst>
              <a:ext uri="{FF2B5EF4-FFF2-40B4-BE49-F238E27FC236}">
                <a16:creationId xmlns:a16="http://schemas.microsoft.com/office/drawing/2014/main" id="{5E894C48-851E-5DB1-F410-F21001AEF85F}"/>
              </a:ext>
            </a:extLst>
          </p:cNvPr>
          <p:cNvSpPr/>
          <p:nvPr/>
        </p:nvSpPr>
        <p:spPr>
          <a:xfrm>
            <a:off x="3984049" y="3969694"/>
            <a:ext cx="2404051" cy="7544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5" name="文本框 412">
            <a:extLst>
              <a:ext uri="{FF2B5EF4-FFF2-40B4-BE49-F238E27FC236}">
                <a16:creationId xmlns:a16="http://schemas.microsoft.com/office/drawing/2014/main" id="{5F90DADD-2C03-902E-7EF2-53038EADAFE7}"/>
              </a:ext>
            </a:extLst>
          </p:cNvPr>
          <p:cNvSpPr txBox="1"/>
          <p:nvPr/>
        </p:nvSpPr>
        <p:spPr>
          <a:xfrm>
            <a:off x="1253726" y="5355662"/>
            <a:ext cx="28980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kumimoji="1" lang="en-US" altLang="zh-CN" sz="14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E.g., </a:t>
            </a:r>
            <a:r>
              <a:rPr kumimoji="1" lang="en-PH" altLang="zh-CN" sz="1400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ptos Narrow" panose="020B0004020202020204" pitchFamily="34" charset="0"/>
                <a:ea typeface="Alibaba PuHuiTi Medium" pitchFamily="18" charset="-122"/>
                <a:cs typeface="Calibri" panose="020F0502020204030204" pitchFamily="34" charset="0"/>
              </a:rPr>
              <a:t>COOK, PLUMBER, MACHINE OPERATION, </a:t>
            </a:r>
            <a:r>
              <a:rPr kumimoji="1" lang="en-PH" altLang="zh-CN" sz="1400" dirty="0">
                <a:solidFill>
                  <a:srgbClr val="000000"/>
                </a:solidFill>
                <a:latin typeface="Aptos Narrow" panose="020B0004020202020204" pitchFamily="34" charset="0"/>
                <a:ea typeface="Alibaba PuHuiTi Medium" pitchFamily="18" charset="-122"/>
                <a:cs typeface="Calibri" panose="020F0502020204030204" pitchFamily="34" charset="0"/>
              </a:rPr>
              <a:t>BARISTA, ELECTRICIAN</a:t>
            </a:r>
            <a:endParaRPr lang="en-US" sz="105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78" name="矩形 82">
            <a:extLst>
              <a:ext uri="{FF2B5EF4-FFF2-40B4-BE49-F238E27FC236}">
                <a16:creationId xmlns:a16="http://schemas.microsoft.com/office/drawing/2014/main" id="{5EDC1728-57DF-BF71-80A7-90C6CD460FDE}"/>
              </a:ext>
            </a:extLst>
          </p:cNvPr>
          <p:cNvSpPr/>
          <p:nvPr/>
        </p:nvSpPr>
        <p:spPr>
          <a:xfrm>
            <a:off x="542989" y="2201591"/>
            <a:ext cx="1210623" cy="2422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Level I-II NCs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9" name="矩形 72">
            <a:extLst>
              <a:ext uri="{FF2B5EF4-FFF2-40B4-BE49-F238E27FC236}">
                <a16:creationId xmlns:a16="http://schemas.microsoft.com/office/drawing/2014/main" id="{77B7360A-04B9-BFB2-BDAA-2F6E71B1202C}"/>
              </a:ext>
            </a:extLst>
          </p:cNvPr>
          <p:cNvSpPr/>
          <p:nvPr/>
        </p:nvSpPr>
        <p:spPr>
          <a:xfrm>
            <a:off x="546397" y="2191667"/>
            <a:ext cx="3401568" cy="765349"/>
          </a:xfrm>
          <a:prstGeom prst="rect">
            <a:avLst/>
          </a:prstGeom>
          <a:noFill/>
          <a:ln w="254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43" name="Google Shape;8208;p82">
            <a:extLst>
              <a:ext uri="{FF2B5EF4-FFF2-40B4-BE49-F238E27FC236}">
                <a16:creationId xmlns:a16="http://schemas.microsoft.com/office/drawing/2014/main" id="{D4620D23-1246-B769-6328-FEB92DBB8241}"/>
              </a:ext>
            </a:extLst>
          </p:cNvPr>
          <p:cNvGrpSpPr/>
          <p:nvPr/>
        </p:nvGrpSpPr>
        <p:grpSpPr>
          <a:xfrm>
            <a:off x="894897" y="3370810"/>
            <a:ext cx="382122" cy="421225"/>
            <a:chOff x="-2310650" y="3958175"/>
            <a:chExt cx="293825" cy="291450"/>
          </a:xfrm>
          <a:solidFill>
            <a:schemeClr val="accent1">
              <a:lumMod val="50000"/>
            </a:schemeClr>
          </a:solidFill>
        </p:grpSpPr>
        <p:sp>
          <p:nvSpPr>
            <p:cNvPr id="244" name="Google Shape;8209;p82">
              <a:extLst>
                <a:ext uri="{FF2B5EF4-FFF2-40B4-BE49-F238E27FC236}">
                  <a16:creationId xmlns:a16="http://schemas.microsoft.com/office/drawing/2014/main" id="{BD394378-F596-5C76-F0F3-3C3E3AAD1335}"/>
                </a:ext>
              </a:extLst>
            </p:cNvPr>
            <p:cNvSpPr/>
            <p:nvPr/>
          </p:nvSpPr>
          <p:spPr>
            <a:xfrm>
              <a:off x="-2310650" y="3958175"/>
              <a:ext cx="185925" cy="118950"/>
            </a:xfrm>
            <a:custGeom>
              <a:avLst/>
              <a:gdLst/>
              <a:ahLst/>
              <a:cxnLst/>
              <a:rect l="l" t="t" r="r" b="b"/>
              <a:pathLst>
                <a:path w="7437" h="4758" extrusionOk="0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45" name="Google Shape;8210;p82">
              <a:extLst>
                <a:ext uri="{FF2B5EF4-FFF2-40B4-BE49-F238E27FC236}">
                  <a16:creationId xmlns:a16="http://schemas.microsoft.com/office/drawing/2014/main" id="{88A9829E-AE4A-8234-3B46-C550B47C6111}"/>
                </a:ext>
              </a:extLst>
            </p:cNvPr>
            <p:cNvSpPr/>
            <p:nvPr/>
          </p:nvSpPr>
          <p:spPr>
            <a:xfrm>
              <a:off x="-2309075" y="3992050"/>
              <a:ext cx="292250" cy="257575"/>
            </a:xfrm>
            <a:custGeom>
              <a:avLst/>
              <a:gdLst/>
              <a:ahLst/>
              <a:cxnLst/>
              <a:rect l="l" t="t" r="r" b="b"/>
              <a:pathLst>
                <a:path w="11690" h="10303" extrusionOk="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318" name="文本框 412">
            <a:extLst>
              <a:ext uri="{FF2B5EF4-FFF2-40B4-BE49-F238E27FC236}">
                <a16:creationId xmlns:a16="http://schemas.microsoft.com/office/drawing/2014/main" id="{2473E719-7F2C-A6E0-ACF8-AF6FA9562F04}"/>
              </a:ext>
            </a:extLst>
          </p:cNvPr>
          <p:cNvSpPr txBox="1"/>
          <p:nvPr/>
        </p:nvSpPr>
        <p:spPr>
          <a:xfrm>
            <a:off x="1708143" y="2288556"/>
            <a:ext cx="2368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kumimoji="1" lang="en-US" altLang="zh-CN" sz="14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E.g., </a:t>
            </a:r>
            <a:r>
              <a:rPr lang="en-PH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BARTENDING NC II</a:t>
            </a:r>
            <a:r>
              <a:rPr lang="en-PH" sz="1050" dirty="0"/>
              <a:t> </a:t>
            </a:r>
            <a:r>
              <a:rPr kumimoji="1" lang="en-US" sz="1400" dirty="0">
                <a:solidFill>
                  <a:srgbClr val="000000"/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, CAREGIVING NC II</a:t>
            </a:r>
            <a:endParaRPr lang="en-US" sz="1050" dirty="0"/>
          </a:p>
        </p:txBody>
      </p:sp>
      <p:sp>
        <p:nvSpPr>
          <p:cNvPr id="328" name="矩形 72">
            <a:extLst>
              <a:ext uri="{FF2B5EF4-FFF2-40B4-BE49-F238E27FC236}">
                <a16:creationId xmlns:a16="http://schemas.microsoft.com/office/drawing/2014/main" id="{EF716ED4-2EA3-A99E-AF4A-0BEDC9CC859D}"/>
              </a:ext>
            </a:extLst>
          </p:cNvPr>
          <p:cNvSpPr/>
          <p:nvPr/>
        </p:nvSpPr>
        <p:spPr>
          <a:xfrm>
            <a:off x="3973219" y="2201591"/>
            <a:ext cx="3459141" cy="7538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7" name="矩形 388">
            <a:extLst>
              <a:ext uri="{FF2B5EF4-FFF2-40B4-BE49-F238E27FC236}">
                <a16:creationId xmlns:a16="http://schemas.microsoft.com/office/drawing/2014/main" id="{B015AF03-2358-00E1-F443-0CD8F4800E2C}"/>
              </a:ext>
            </a:extLst>
          </p:cNvPr>
          <p:cNvSpPr/>
          <p:nvPr/>
        </p:nvSpPr>
        <p:spPr>
          <a:xfrm>
            <a:off x="569026" y="3071107"/>
            <a:ext cx="1210623" cy="2422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kumimoji="1" lang="e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Levels III-IV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0" name="矩形 73">
            <a:extLst>
              <a:ext uri="{FF2B5EF4-FFF2-40B4-BE49-F238E27FC236}">
                <a16:creationId xmlns:a16="http://schemas.microsoft.com/office/drawing/2014/main" id="{13B43697-A6B1-F6DB-50BF-9327EE076A11}"/>
              </a:ext>
            </a:extLst>
          </p:cNvPr>
          <p:cNvSpPr/>
          <p:nvPr/>
        </p:nvSpPr>
        <p:spPr>
          <a:xfrm>
            <a:off x="571651" y="3070138"/>
            <a:ext cx="3401568" cy="755370"/>
          </a:xfrm>
          <a:prstGeom prst="rect">
            <a:avLst/>
          </a:prstGeom>
          <a:noFill/>
          <a:ln w="254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96" name="Google Shape;8773;p85">
            <a:extLst>
              <a:ext uri="{FF2B5EF4-FFF2-40B4-BE49-F238E27FC236}">
                <a16:creationId xmlns:a16="http://schemas.microsoft.com/office/drawing/2014/main" id="{A551C868-88F0-59D9-E86A-B857A5DD0988}"/>
              </a:ext>
            </a:extLst>
          </p:cNvPr>
          <p:cNvGrpSpPr/>
          <p:nvPr/>
        </p:nvGrpSpPr>
        <p:grpSpPr>
          <a:xfrm>
            <a:off x="900512" y="2503058"/>
            <a:ext cx="332130" cy="387255"/>
            <a:chOff x="5694756" y="4076475"/>
            <a:chExt cx="253858" cy="268550"/>
          </a:xfrm>
          <a:solidFill>
            <a:schemeClr val="accent1">
              <a:lumMod val="50000"/>
            </a:schemeClr>
          </a:solidFill>
        </p:grpSpPr>
        <p:sp>
          <p:nvSpPr>
            <p:cNvPr id="97" name="Google Shape;8774;p85">
              <a:extLst>
                <a:ext uri="{FF2B5EF4-FFF2-40B4-BE49-F238E27FC236}">
                  <a16:creationId xmlns:a16="http://schemas.microsoft.com/office/drawing/2014/main" id="{15CFA889-0BE8-0983-04B7-40D15DDB369B}"/>
                </a:ext>
              </a:extLst>
            </p:cNvPr>
            <p:cNvSpPr/>
            <p:nvPr/>
          </p:nvSpPr>
          <p:spPr>
            <a:xfrm>
              <a:off x="5694756" y="4170488"/>
              <a:ext cx="253858" cy="39754"/>
            </a:xfrm>
            <a:custGeom>
              <a:avLst/>
              <a:gdLst/>
              <a:ahLst/>
              <a:cxnLst/>
              <a:rect l="l" t="t" r="r" b="b"/>
              <a:pathLst>
                <a:path w="188043" h="29502" extrusionOk="0">
                  <a:moveTo>
                    <a:pt x="0" y="1"/>
                  </a:moveTo>
                  <a:lnTo>
                    <a:pt x="0" y="6229"/>
                  </a:lnTo>
                  <a:cubicBezTo>
                    <a:pt x="0" y="20269"/>
                    <a:pt x="11538" y="29502"/>
                    <a:pt x="23488" y="29502"/>
                  </a:cubicBezTo>
                  <a:cubicBezTo>
                    <a:pt x="29715" y="29502"/>
                    <a:pt x="36054" y="26995"/>
                    <a:pt x="40931" y="21356"/>
                  </a:cubicBezTo>
                  <a:cubicBezTo>
                    <a:pt x="45603" y="26695"/>
                    <a:pt x="52054" y="29365"/>
                    <a:pt x="58560" y="29365"/>
                  </a:cubicBezTo>
                  <a:cubicBezTo>
                    <a:pt x="65067" y="29365"/>
                    <a:pt x="71629" y="26695"/>
                    <a:pt x="76523" y="21356"/>
                  </a:cubicBezTo>
                  <a:cubicBezTo>
                    <a:pt x="80972" y="26695"/>
                    <a:pt x="87201" y="29365"/>
                    <a:pt x="93875" y="29365"/>
                  </a:cubicBezTo>
                  <a:cubicBezTo>
                    <a:pt x="100548" y="29365"/>
                    <a:pt x="107222" y="26250"/>
                    <a:pt x="111671" y="21356"/>
                  </a:cubicBezTo>
                  <a:cubicBezTo>
                    <a:pt x="116342" y="26695"/>
                    <a:pt x="122793" y="29365"/>
                    <a:pt x="129244" y="29365"/>
                  </a:cubicBezTo>
                  <a:cubicBezTo>
                    <a:pt x="135696" y="29365"/>
                    <a:pt x="142147" y="26695"/>
                    <a:pt x="146818" y="21356"/>
                  </a:cubicBezTo>
                  <a:cubicBezTo>
                    <a:pt x="151678" y="26975"/>
                    <a:pt x="158041" y="29484"/>
                    <a:pt x="164297" y="29484"/>
                  </a:cubicBezTo>
                  <a:cubicBezTo>
                    <a:pt x="176369" y="29484"/>
                    <a:pt x="188042" y="20143"/>
                    <a:pt x="187749" y="5785"/>
                  </a:cubicBezTo>
                  <a:lnTo>
                    <a:pt x="1877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98" name="Google Shape;8775;p85">
              <a:extLst>
                <a:ext uri="{FF2B5EF4-FFF2-40B4-BE49-F238E27FC236}">
                  <a16:creationId xmlns:a16="http://schemas.microsoft.com/office/drawing/2014/main" id="{BCAE13F9-4A22-9880-C71F-659DBF96C9CE}"/>
                </a:ext>
              </a:extLst>
            </p:cNvPr>
            <p:cNvSpPr/>
            <p:nvPr/>
          </p:nvSpPr>
          <p:spPr>
            <a:xfrm>
              <a:off x="5845510" y="4265810"/>
              <a:ext cx="39643" cy="79136"/>
            </a:xfrm>
            <a:custGeom>
              <a:avLst/>
              <a:gdLst/>
              <a:ahLst/>
              <a:cxnLst/>
              <a:rect l="l" t="t" r="r" b="b"/>
              <a:pathLst>
                <a:path w="29365" h="58728" extrusionOk="0">
                  <a:moveTo>
                    <a:pt x="1" y="1"/>
                  </a:moveTo>
                  <a:lnTo>
                    <a:pt x="1" y="58728"/>
                  </a:lnTo>
                  <a:lnTo>
                    <a:pt x="29364" y="58728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99" name="Google Shape;8776;p85">
              <a:extLst>
                <a:ext uri="{FF2B5EF4-FFF2-40B4-BE49-F238E27FC236}">
                  <a16:creationId xmlns:a16="http://schemas.microsoft.com/office/drawing/2014/main" id="{527BA385-1E5F-BCD0-FFB9-2D43FB2A83DF}"/>
                </a:ext>
              </a:extLst>
            </p:cNvPr>
            <p:cNvSpPr/>
            <p:nvPr/>
          </p:nvSpPr>
          <p:spPr>
            <a:xfrm>
              <a:off x="5758420" y="4265810"/>
              <a:ext cx="39643" cy="31176"/>
            </a:xfrm>
            <a:custGeom>
              <a:avLst/>
              <a:gdLst/>
              <a:ahLst/>
              <a:cxnLst/>
              <a:rect l="l" t="t" r="r" b="b"/>
              <a:pathLst>
                <a:path w="29365" h="23136" extrusionOk="0">
                  <a:moveTo>
                    <a:pt x="1" y="1"/>
                  </a:moveTo>
                  <a:lnTo>
                    <a:pt x="1" y="23136"/>
                  </a:lnTo>
                  <a:lnTo>
                    <a:pt x="29364" y="23136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0" name="Google Shape;8777;p85">
              <a:extLst>
                <a:ext uri="{FF2B5EF4-FFF2-40B4-BE49-F238E27FC236}">
                  <a16:creationId xmlns:a16="http://schemas.microsoft.com/office/drawing/2014/main" id="{95AB004B-8C9E-C84D-34C1-E5333BA2582F}"/>
                </a:ext>
              </a:extLst>
            </p:cNvPr>
            <p:cNvSpPr/>
            <p:nvPr/>
          </p:nvSpPr>
          <p:spPr>
            <a:xfrm>
              <a:off x="5758300" y="4076475"/>
              <a:ext cx="126250" cy="31600"/>
            </a:xfrm>
            <a:custGeom>
              <a:avLst/>
              <a:gdLst/>
              <a:ahLst/>
              <a:cxnLst/>
              <a:rect l="l" t="t" r="r" b="b"/>
              <a:pathLst>
                <a:path w="5050" h="1264" extrusionOk="0">
                  <a:moveTo>
                    <a:pt x="334" y="1"/>
                  </a:moveTo>
                  <a:cubicBezTo>
                    <a:pt x="168" y="1"/>
                    <a:pt x="25" y="120"/>
                    <a:pt x="1" y="310"/>
                  </a:cubicBezTo>
                  <a:lnTo>
                    <a:pt x="1" y="1263"/>
                  </a:lnTo>
                  <a:lnTo>
                    <a:pt x="5050" y="1263"/>
                  </a:lnTo>
                  <a:lnTo>
                    <a:pt x="5050" y="310"/>
                  </a:lnTo>
                  <a:cubicBezTo>
                    <a:pt x="5026" y="120"/>
                    <a:pt x="4883" y="1"/>
                    <a:pt x="47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1" name="Google Shape;8778;p85">
              <a:extLst>
                <a:ext uri="{FF2B5EF4-FFF2-40B4-BE49-F238E27FC236}">
                  <a16:creationId xmlns:a16="http://schemas.microsoft.com/office/drawing/2014/main" id="{26788DA4-A4EB-A305-20D6-A447D2ABD53C}"/>
                </a:ext>
              </a:extLst>
            </p:cNvPr>
            <p:cNvSpPr/>
            <p:nvPr/>
          </p:nvSpPr>
          <p:spPr>
            <a:xfrm>
              <a:off x="5699975" y="4124125"/>
              <a:ext cx="242925" cy="31575"/>
            </a:xfrm>
            <a:custGeom>
              <a:avLst/>
              <a:gdLst/>
              <a:ahLst/>
              <a:cxnLst/>
              <a:rect l="l" t="t" r="r" b="b"/>
              <a:pathLst>
                <a:path w="9717" h="1263" extrusionOk="0">
                  <a:moveTo>
                    <a:pt x="1405" y="0"/>
                  </a:moveTo>
                  <a:cubicBezTo>
                    <a:pt x="1310" y="0"/>
                    <a:pt x="1215" y="48"/>
                    <a:pt x="1167" y="119"/>
                  </a:cubicBezTo>
                  <a:lnTo>
                    <a:pt x="0" y="1262"/>
                  </a:lnTo>
                  <a:lnTo>
                    <a:pt x="9716" y="1262"/>
                  </a:lnTo>
                  <a:lnTo>
                    <a:pt x="8573" y="119"/>
                  </a:lnTo>
                  <a:cubicBezTo>
                    <a:pt x="8502" y="48"/>
                    <a:pt x="8407" y="0"/>
                    <a:pt x="8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2" name="Google Shape;8779;p85">
              <a:extLst>
                <a:ext uri="{FF2B5EF4-FFF2-40B4-BE49-F238E27FC236}">
                  <a16:creationId xmlns:a16="http://schemas.microsoft.com/office/drawing/2014/main" id="{D8F0956D-B42A-7272-73A1-92B5953DE15A}"/>
                </a:ext>
              </a:extLst>
            </p:cNvPr>
            <p:cNvSpPr/>
            <p:nvPr/>
          </p:nvSpPr>
          <p:spPr>
            <a:xfrm>
              <a:off x="5845225" y="4265225"/>
              <a:ext cx="39325" cy="79200"/>
            </a:xfrm>
            <a:custGeom>
              <a:avLst/>
              <a:gdLst/>
              <a:ahLst/>
              <a:cxnLst/>
              <a:rect l="l" t="t" r="r" b="b"/>
              <a:pathLst>
                <a:path w="1573" h="3168" extrusionOk="0">
                  <a:moveTo>
                    <a:pt x="1" y="0"/>
                  </a:moveTo>
                  <a:lnTo>
                    <a:pt x="1" y="3167"/>
                  </a:lnTo>
                  <a:lnTo>
                    <a:pt x="1573" y="3167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3" name="Google Shape;8780;p85">
              <a:extLst>
                <a:ext uri="{FF2B5EF4-FFF2-40B4-BE49-F238E27FC236}">
                  <a16:creationId xmlns:a16="http://schemas.microsoft.com/office/drawing/2014/main" id="{D598DDA9-53ED-583E-D3FA-C5F7F095661F}"/>
                </a:ext>
              </a:extLst>
            </p:cNvPr>
            <p:cNvSpPr/>
            <p:nvPr/>
          </p:nvSpPr>
          <p:spPr>
            <a:xfrm>
              <a:off x="5758300" y="4265225"/>
              <a:ext cx="39325" cy="31575"/>
            </a:xfrm>
            <a:custGeom>
              <a:avLst/>
              <a:gdLst/>
              <a:ahLst/>
              <a:cxnLst/>
              <a:rect l="l" t="t" r="r" b="b"/>
              <a:pathLst>
                <a:path w="1573" h="1263" extrusionOk="0">
                  <a:moveTo>
                    <a:pt x="1" y="0"/>
                  </a:moveTo>
                  <a:lnTo>
                    <a:pt x="1" y="1262"/>
                  </a:lnTo>
                  <a:lnTo>
                    <a:pt x="1573" y="1262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4" name="Google Shape;8781;p85">
              <a:extLst>
                <a:ext uri="{FF2B5EF4-FFF2-40B4-BE49-F238E27FC236}">
                  <a16:creationId xmlns:a16="http://schemas.microsoft.com/office/drawing/2014/main" id="{2BCFB216-A9A0-5D09-601D-D5785B8C07BC}"/>
                </a:ext>
              </a:extLst>
            </p:cNvPr>
            <p:cNvSpPr/>
            <p:nvPr/>
          </p:nvSpPr>
          <p:spPr>
            <a:xfrm>
              <a:off x="5711275" y="4219975"/>
              <a:ext cx="220300" cy="125050"/>
            </a:xfrm>
            <a:custGeom>
              <a:avLst/>
              <a:gdLst/>
              <a:ahLst/>
              <a:cxnLst/>
              <a:rect l="l" t="t" r="r" b="b"/>
              <a:pathLst>
                <a:path w="8812" h="5002" extrusionOk="0">
                  <a:moveTo>
                    <a:pt x="3787" y="1191"/>
                  </a:moveTo>
                  <a:cubicBezTo>
                    <a:pt x="3954" y="1191"/>
                    <a:pt x="4097" y="1334"/>
                    <a:pt x="4097" y="1500"/>
                  </a:cubicBezTo>
                  <a:lnTo>
                    <a:pt x="4097" y="3382"/>
                  </a:lnTo>
                  <a:cubicBezTo>
                    <a:pt x="4097" y="3549"/>
                    <a:pt x="3954" y="3691"/>
                    <a:pt x="3787" y="3715"/>
                  </a:cubicBezTo>
                  <a:lnTo>
                    <a:pt x="1596" y="3715"/>
                  </a:lnTo>
                  <a:cubicBezTo>
                    <a:pt x="1429" y="3715"/>
                    <a:pt x="1287" y="3572"/>
                    <a:pt x="1287" y="3382"/>
                  </a:cubicBezTo>
                  <a:lnTo>
                    <a:pt x="1287" y="1500"/>
                  </a:lnTo>
                  <a:cubicBezTo>
                    <a:pt x="1287" y="1334"/>
                    <a:pt x="1429" y="1191"/>
                    <a:pt x="1596" y="1191"/>
                  </a:cubicBezTo>
                  <a:close/>
                  <a:moveTo>
                    <a:pt x="1572" y="0"/>
                  </a:moveTo>
                  <a:cubicBezTo>
                    <a:pt x="1287" y="172"/>
                    <a:pt x="966" y="257"/>
                    <a:pt x="643" y="257"/>
                  </a:cubicBezTo>
                  <a:cubicBezTo>
                    <a:pt x="427" y="257"/>
                    <a:pt x="210" y="219"/>
                    <a:pt x="1" y="143"/>
                  </a:cubicBezTo>
                  <a:lnTo>
                    <a:pt x="1" y="4692"/>
                  </a:lnTo>
                  <a:cubicBezTo>
                    <a:pt x="1" y="4858"/>
                    <a:pt x="143" y="5001"/>
                    <a:pt x="334" y="5001"/>
                  </a:cubicBezTo>
                  <a:lnTo>
                    <a:pt x="4716" y="5001"/>
                  </a:lnTo>
                  <a:lnTo>
                    <a:pt x="4716" y="1500"/>
                  </a:lnTo>
                  <a:cubicBezTo>
                    <a:pt x="4716" y="1334"/>
                    <a:pt x="4859" y="1191"/>
                    <a:pt x="5025" y="1191"/>
                  </a:cubicBezTo>
                  <a:lnTo>
                    <a:pt x="7240" y="1191"/>
                  </a:lnTo>
                  <a:cubicBezTo>
                    <a:pt x="7407" y="1191"/>
                    <a:pt x="7550" y="1334"/>
                    <a:pt x="7550" y="1500"/>
                  </a:cubicBezTo>
                  <a:lnTo>
                    <a:pt x="7550" y="4977"/>
                  </a:lnTo>
                  <a:lnTo>
                    <a:pt x="8502" y="4977"/>
                  </a:lnTo>
                  <a:cubicBezTo>
                    <a:pt x="8669" y="4977"/>
                    <a:pt x="8812" y="4834"/>
                    <a:pt x="8812" y="4668"/>
                  </a:cubicBezTo>
                  <a:lnTo>
                    <a:pt x="8812" y="143"/>
                  </a:lnTo>
                  <a:cubicBezTo>
                    <a:pt x="8598" y="214"/>
                    <a:pt x="8383" y="238"/>
                    <a:pt x="8169" y="238"/>
                  </a:cubicBezTo>
                  <a:cubicBezTo>
                    <a:pt x="7836" y="238"/>
                    <a:pt x="7526" y="167"/>
                    <a:pt x="7240" y="0"/>
                  </a:cubicBezTo>
                  <a:cubicBezTo>
                    <a:pt x="6942" y="167"/>
                    <a:pt x="6615" y="250"/>
                    <a:pt x="6291" y="250"/>
                  </a:cubicBezTo>
                  <a:cubicBezTo>
                    <a:pt x="5966" y="250"/>
                    <a:pt x="5645" y="167"/>
                    <a:pt x="5359" y="0"/>
                  </a:cubicBezTo>
                  <a:cubicBezTo>
                    <a:pt x="5073" y="167"/>
                    <a:pt x="4740" y="238"/>
                    <a:pt x="4406" y="238"/>
                  </a:cubicBezTo>
                  <a:cubicBezTo>
                    <a:pt x="4073" y="238"/>
                    <a:pt x="3739" y="167"/>
                    <a:pt x="3454" y="0"/>
                  </a:cubicBezTo>
                  <a:cubicBezTo>
                    <a:pt x="3168" y="167"/>
                    <a:pt x="2846" y="250"/>
                    <a:pt x="2522" y="250"/>
                  </a:cubicBezTo>
                  <a:cubicBezTo>
                    <a:pt x="2197" y="250"/>
                    <a:pt x="1870" y="167"/>
                    <a:pt x="1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333" name="文本框 412">
            <a:extLst>
              <a:ext uri="{FF2B5EF4-FFF2-40B4-BE49-F238E27FC236}">
                <a16:creationId xmlns:a16="http://schemas.microsoft.com/office/drawing/2014/main" id="{E373EC4F-FFD0-ED56-A98A-254515C46615}"/>
              </a:ext>
            </a:extLst>
          </p:cNvPr>
          <p:cNvSpPr txBox="1"/>
          <p:nvPr/>
        </p:nvSpPr>
        <p:spPr>
          <a:xfrm>
            <a:off x="1755685" y="3078567"/>
            <a:ext cx="21639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E.g., </a:t>
            </a:r>
            <a:r>
              <a:rPr lang="en-PH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CAD/CAM OPERATION NCIII, EMERGENCY MEDICAL SERVICE NC III</a:t>
            </a:r>
            <a:endParaRPr kumimoji="1" lang="zh-CN" altLang="en-US" sz="14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74" name="矩形 391">
            <a:extLst>
              <a:ext uri="{FF2B5EF4-FFF2-40B4-BE49-F238E27FC236}">
                <a16:creationId xmlns:a16="http://schemas.microsoft.com/office/drawing/2014/main" id="{625E1135-8FDE-2559-1EFE-B972AD329940}"/>
              </a:ext>
            </a:extLst>
          </p:cNvPr>
          <p:cNvSpPr/>
          <p:nvPr/>
        </p:nvSpPr>
        <p:spPr>
          <a:xfrm>
            <a:off x="563920" y="5985286"/>
            <a:ext cx="2982173" cy="2422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New and Emerging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 76">
            <a:extLst>
              <a:ext uri="{FF2B5EF4-FFF2-40B4-BE49-F238E27FC236}">
                <a16:creationId xmlns:a16="http://schemas.microsoft.com/office/drawing/2014/main" id="{5D378845-6794-D9A7-3D32-8B641B140DD1}"/>
              </a:ext>
            </a:extLst>
          </p:cNvPr>
          <p:cNvSpPr/>
          <p:nvPr/>
        </p:nvSpPr>
        <p:spPr>
          <a:xfrm>
            <a:off x="577499" y="5997847"/>
            <a:ext cx="3401568" cy="695122"/>
          </a:xfrm>
          <a:prstGeom prst="rect">
            <a:avLst/>
          </a:prstGeom>
          <a:noFill/>
          <a:ln w="254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4" name="Google Shape;8685;p85">
            <a:extLst>
              <a:ext uri="{FF2B5EF4-FFF2-40B4-BE49-F238E27FC236}">
                <a16:creationId xmlns:a16="http://schemas.microsoft.com/office/drawing/2014/main" id="{E3483C27-5C3F-792A-42B6-323DA0BC5489}"/>
              </a:ext>
            </a:extLst>
          </p:cNvPr>
          <p:cNvGrpSpPr/>
          <p:nvPr/>
        </p:nvGrpSpPr>
        <p:grpSpPr>
          <a:xfrm>
            <a:off x="806049" y="5453612"/>
            <a:ext cx="402995" cy="277721"/>
            <a:chOff x="3370900" y="3228700"/>
            <a:chExt cx="268550" cy="251850"/>
          </a:xfrm>
          <a:solidFill>
            <a:schemeClr val="accent1">
              <a:lumMod val="50000"/>
            </a:schemeClr>
          </a:solidFill>
        </p:grpSpPr>
        <p:sp>
          <p:nvSpPr>
            <p:cNvPr id="85" name="Google Shape;8686;p85">
              <a:extLst>
                <a:ext uri="{FF2B5EF4-FFF2-40B4-BE49-F238E27FC236}">
                  <a16:creationId xmlns:a16="http://schemas.microsoft.com/office/drawing/2014/main" id="{876330E1-BE0F-8076-F96C-42296D83864A}"/>
                </a:ext>
              </a:extLst>
            </p:cNvPr>
            <p:cNvSpPr/>
            <p:nvPr/>
          </p:nvSpPr>
          <p:spPr>
            <a:xfrm>
              <a:off x="3481650" y="3370400"/>
              <a:ext cx="47050" cy="15500"/>
            </a:xfrm>
            <a:custGeom>
              <a:avLst/>
              <a:gdLst/>
              <a:ahLst/>
              <a:cxnLst/>
              <a:rect l="l" t="t" r="r" b="b"/>
              <a:pathLst>
                <a:path w="1882" h="620" extrusionOk="0">
                  <a:moveTo>
                    <a:pt x="0" y="0"/>
                  </a:moveTo>
                  <a:lnTo>
                    <a:pt x="0" y="619"/>
                  </a:lnTo>
                  <a:lnTo>
                    <a:pt x="1882" y="619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86" name="Google Shape;8687;p85">
              <a:extLst>
                <a:ext uri="{FF2B5EF4-FFF2-40B4-BE49-F238E27FC236}">
                  <a16:creationId xmlns:a16="http://schemas.microsoft.com/office/drawing/2014/main" id="{44BEEB90-EAE5-9BB4-30F4-BD6D54DE9B15}"/>
                </a:ext>
              </a:extLst>
            </p:cNvPr>
            <p:cNvSpPr/>
            <p:nvPr/>
          </p:nvSpPr>
          <p:spPr>
            <a:xfrm>
              <a:off x="3497125" y="3401950"/>
              <a:ext cx="15500" cy="28000"/>
            </a:xfrm>
            <a:custGeom>
              <a:avLst/>
              <a:gdLst/>
              <a:ahLst/>
              <a:cxnLst/>
              <a:rect l="l" t="t" r="r" b="b"/>
              <a:pathLst>
                <a:path w="620" h="1120" extrusionOk="0">
                  <a:moveTo>
                    <a:pt x="0" y="0"/>
                  </a:moveTo>
                  <a:lnTo>
                    <a:pt x="0" y="810"/>
                  </a:lnTo>
                  <a:lnTo>
                    <a:pt x="334" y="1120"/>
                  </a:lnTo>
                  <a:lnTo>
                    <a:pt x="620" y="810"/>
                  </a:lnTo>
                  <a:lnTo>
                    <a:pt x="6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87" name="Google Shape;8688;p85">
              <a:extLst>
                <a:ext uri="{FF2B5EF4-FFF2-40B4-BE49-F238E27FC236}">
                  <a16:creationId xmlns:a16="http://schemas.microsoft.com/office/drawing/2014/main" id="{8B888D38-11FA-C614-3D6A-E26DC1FE9B0F}"/>
                </a:ext>
              </a:extLst>
            </p:cNvPr>
            <p:cNvSpPr/>
            <p:nvPr/>
          </p:nvSpPr>
          <p:spPr>
            <a:xfrm>
              <a:off x="3370900" y="3228700"/>
              <a:ext cx="268550" cy="139925"/>
            </a:xfrm>
            <a:custGeom>
              <a:avLst/>
              <a:gdLst/>
              <a:ahLst/>
              <a:cxnLst/>
              <a:rect l="l" t="t" r="r" b="b"/>
              <a:pathLst>
                <a:path w="10742" h="5597" extrusionOk="0">
                  <a:moveTo>
                    <a:pt x="3478" y="0"/>
                  </a:moveTo>
                  <a:cubicBezTo>
                    <a:pt x="3311" y="0"/>
                    <a:pt x="3168" y="143"/>
                    <a:pt x="3168" y="334"/>
                  </a:cubicBezTo>
                  <a:lnTo>
                    <a:pt x="3168" y="1905"/>
                  </a:lnTo>
                  <a:lnTo>
                    <a:pt x="310" y="1905"/>
                  </a:lnTo>
                  <a:cubicBezTo>
                    <a:pt x="298" y="1904"/>
                    <a:pt x="286" y="1903"/>
                    <a:pt x="274" y="1903"/>
                  </a:cubicBezTo>
                  <a:cubicBezTo>
                    <a:pt x="124" y="1903"/>
                    <a:pt x="1" y="2038"/>
                    <a:pt x="1" y="2215"/>
                  </a:cubicBezTo>
                  <a:lnTo>
                    <a:pt x="1" y="4692"/>
                  </a:lnTo>
                  <a:cubicBezTo>
                    <a:pt x="1" y="4835"/>
                    <a:pt x="96" y="4954"/>
                    <a:pt x="239" y="5001"/>
                  </a:cubicBezTo>
                  <a:cubicBezTo>
                    <a:pt x="1406" y="5287"/>
                    <a:pt x="2597" y="5478"/>
                    <a:pt x="3787" y="5597"/>
                  </a:cubicBezTo>
                  <a:lnTo>
                    <a:pt x="3787" y="5358"/>
                  </a:lnTo>
                  <a:cubicBezTo>
                    <a:pt x="3787" y="5168"/>
                    <a:pt x="3930" y="5025"/>
                    <a:pt x="4097" y="5025"/>
                  </a:cubicBezTo>
                  <a:lnTo>
                    <a:pt x="4407" y="5025"/>
                  </a:lnTo>
                  <a:lnTo>
                    <a:pt x="4407" y="1905"/>
                  </a:lnTo>
                  <a:lnTo>
                    <a:pt x="3787" y="1905"/>
                  </a:lnTo>
                  <a:lnTo>
                    <a:pt x="3787" y="643"/>
                  </a:lnTo>
                  <a:lnTo>
                    <a:pt x="6931" y="643"/>
                  </a:lnTo>
                  <a:lnTo>
                    <a:pt x="6931" y="1905"/>
                  </a:lnTo>
                  <a:lnTo>
                    <a:pt x="6312" y="1905"/>
                  </a:lnTo>
                  <a:lnTo>
                    <a:pt x="6312" y="5049"/>
                  </a:lnTo>
                  <a:lnTo>
                    <a:pt x="6621" y="5049"/>
                  </a:lnTo>
                  <a:cubicBezTo>
                    <a:pt x="6633" y="5047"/>
                    <a:pt x="6646" y="5046"/>
                    <a:pt x="6658" y="5046"/>
                  </a:cubicBezTo>
                  <a:cubicBezTo>
                    <a:pt x="6808" y="5046"/>
                    <a:pt x="6931" y="5182"/>
                    <a:pt x="6931" y="5358"/>
                  </a:cubicBezTo>
                  <a:lnTo>
                    <a:pt x="6931" y="5597"/>
                  </a:lnTo>
                  <a:cubicBezTo>
                    <a:pt x="8122" y="5478"/>
                    <a:pt x="9312" y="5287"/>
                    <a:pt x="10479" y="5001"/>
                  </a:cubicBezTo>
                  <a:cubicBezTo>
                    <a:pt x="10622" y="4954"/>
                    <a:pt x="10717" y="4835"/>
                    <a:pt x="10741" y="4692"/>
                  </a:cubicBezTo>
                  <a:lnTo>
                    <a:pt x="10741" y="2215"/>
                  </a:lnTo>
                  <a:cubicBezTo>
                    <a:pt x="10717" y="2024"/>
                    <a:pt x="10598" y="1905"/>
                    <a:pt x="10408" y="1905"/>
                  </a:cubicBezTo>
                  <a:lnTo>
                    <a:pt x="7574" y="1905"/>
                  </a:lnTo>
                  <a:lnTo>
                    <a:pt x="7574" y="334"/>
                  </a:lnTo>
                  <a:cubicBezTo>
                    <a:pt x="7574" y="143"/>
                    <a:pt x="7431" y="0"/>
                    <a:pt x="7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88" name="Google Shape;8689;p85">
              <a:extLst>
                <a:ext uri="{FF2B5EF4-FFF2-40B4-BE49-F238E27FC236}">
                  <a16:creationId xmlns:a16="http://schemas.microsoft.com/office/drawing/2014/main" id="{1EC2C6C3-170C-49E2-5BFD-33523FE4D765}"/>
                </a:ext>
              </a:extLst>
            </p:cNvPr>
            <p:cNvSpPr/>
            <p:nvPr/>
          </p:nvSpPr>
          <p:spPr>
            <a:xfrm>
              <a:off x="3497125" y="3276325"/>
              <a:ext cx="15500" cy="78600"/>
            </a:xfrm>
            <a:custGeom>
              <a:avLst/>
              <a:gdLst/>
              <a:ahLst/>
              <a:cxnLst/>
              <a:rect l="l" t="t" r="r" b="b"/>
              <a:pathLst>
                <a:path w="620" h="3144" extrusionOk="0">
                  <a:moveTo>
                    <a:pt x="0" y="0"/>
                  </a:moveTo>
                  <a:lnTo>
                    <a:pt x="0" y="3144"/>
                  </a:lnTo>
                  <a:lnTo>
                    <a:pt x="620" y="3144"/>
                  </a:lnTo>
                  <a:lnTo>
                    <a:pt x="6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89" name="Google Shape;8690;p85">
              <a:extLst>
                <a:ext uri="{FF2B5EF4-FFF2-40B4-BE49-F238E27FC236}">
                  <a16:creationId xmlns:a16="http://schemas.microsoft.com/office/drawing/2014/main" id="{DE74634B-5CE9-C617-9FF3-0B7C46C12346}"/>
                </a:ext>
              </a:extLst>
            </p:cNvPr>
            <p:cNvSpPr/>
            <p:nvPr/>
          </p:nvSpPr>
          <p:spPr>
            <a:xfrm>
              <a:off x="3386400" y="3372175"/>
              <a:ext cx="236975" cy="108375"/>
            </a:xfrm>
            <a:custGeom>
              <a:avLst/>
              <a:gdLst/>
              <a:ahLst/>
              <a:cxnLst/>
              <a:rect l="l" t="t" r="r" b="b"/>
              <a:pathLst>
                <a:path w="9479" h="4335" extrusionOk="0">
                  <a:moveTo>
                    <a:pt x="0" y="1"/>
                  </a:moveTo>
                  <a:lnTo>
                    <a:pt x="0" y="4001"/>
                  </a:lnTo>
                  <a:cubicBezTo>
                    <a:pt x="0" y="4192"/>
                    <a:pt x="143" y="4311"/>
                    <a:pt x="333" y="4335"/>
                  </a:cubicBezTo>
                  <a:lnTo>
                    <a:pt x="9169" y="4335"/>
                  </a:lnTo>
                  <a:cubicBezTo>
                    <a:pt x="9335" y="4311"/>
                    <a:pt x="9478" y="4192"/>
                    <a:pt x="9478" y="4001"/>
                  </a:cubicBezTo>
                  <a:lnTo>
                    <a:pt x="9478" y="1"/>
                  </a:lnTo>
                  <a:cubicBezTo>
                    <a:pt x="8430" y="239"/>
                    <a:pt x="7382" y="382"/>
                    <a:pt x="6311" y="501"/>
                  </a:cubicBezTo>
                  <a:lnTo>
                    <a:pt x="6311" y="882"/>
                  </a:lnTo>
                  <a:cubicBezTo>
                    <a:pt x="6311" y="1048"/>
                    <a:pt x="6168" y="1191"/>
                    <a:pt x="6001" y="1191"/>
                  </a:cubicBezTo>
                  <a:lnTo>
                    <a:pt x="5692" y="1191"/>
                  </a:lnTo>
                  <a:lnTo>
                    <a:pt x="5692" y="2144"/>
                  </a:lnTo>
                  <a:cubicBezTo>
                    <a:pt x="5692" y="2215"/>
                    <a:pt x="5668" y="2287"/>
                    <a:pt x="5596" y="2358"/>
                  </a:cubicBezTo>
                  <a:lnTo>
                    <a:pt x="4977" y="2977"/>
                  </a:lnTo>
                  <a:cubicBezTo>
                    <a:pt x="4906" y="3037"/>
                    <a:pt x="4822" y="3067"/>
                    <a:pt x="4742" y="3067"/>
                  </a:cubicBezTo>
                  <a:cubicBezTo>
                    <a:pt x="4662" y="3067"/>
                    <a:pt x="4584" y="3037"/>
                    <a:pt x="4525" y="2977"/>
                  </a:cubicBezTo>
                  <a:lnTo>
                    <a:pt x="3882" y="2358"/>
                  </a:lnTo>
                  <a:cubicBezTo>
                    <a:pt x="3834" y="2287"/>
                    <a:pt x="3810" y="2215"/>
                    <a:pt x="3810" y="2144"/>
                  </a:cubicBezTo>
                  <a:lnTo>
                    <a:pt x="3810" y="1191"/>
                  </a:lnTo>
                  <a:lnTo>
                    <a:pt x="3477" y="1191"/>
                  </a:lnTo>
                  <a:cubicBezTo>
                    <a:pt x="3310" y="1191"/>
                    <a:pt x="3167" y="1048"/>
                    <a:pt x="3167" y="882"/>
                  </a:cubicBezTo>
                  <a:lnTo>
                    <a:pt x="3167" y="501"/>
                  </a:lnTo>
                  <a:cubicBezTo>
                    <a:pt x="2119" y="382"/>
                    <a:pt x="1048" y="239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332" name="矩形 76">
            <a:extLst>
              <a:ext uri="{FF2B5EF4-FFF2-40B4-BE49-F238E27FC236}">
                <a16:creationId xmlns:a16="http://schemas.microsoft.com/office/drawing/2014/main" id="{A8F32868-B736-DDE0-A002-3397D609A0AE}"/>
              </a:ext>
            </a:extLst>
          </p:cNvPr>
          <p:cNvSpPr/>
          <p:nvPr/>
        </p:nvSpPr>
        <p:spPr>
          <a:xfrm>
            <a:off x="4003843" y="5137887"/>
            <a:ext cx="3365899" cy="69512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6" name="文本框 412">
            <a:extLst>
              <a:ext uri="{FF2B5EF4-FFF2-40B4-BE49-F238E27FC236}">
                <a16:creationId xmlns:a16="http://schemas.microsoft.com/office/drawing/2014/main" id="{CE51FD7F-2AEE-068C-6F24-DF1FF17ACD6A}"/>
              </a:ext>
            </a:extLst>
          </p:cNvPr>
          <p:cNvSpPr txBox="1"/>
          <p:nvPr/>
        </p:nvSpPr>
        <p:spPr>
          <a:xfrm>
            <a:off x="1281881" y="6195150"/>
            <a:ext cx="26142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kumimoji="1" lang="en-US" altLang="zh-CN" sz="14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Alibaba PuHuiTi Medium" pitchFamily="18" charset="-122"/>
                <a:cs typeface="Calibri" panose="020F0502020204030204" pitchFamily="34" charset="0"/>
              </a:rPr>
              <a:t>E.g., </a:t>
            </a:r>
            <a:r>
              <a:rPr lang="en-PH" sz="1400" dirty="0">
                <a:effectLst/>
                <a:latin typeface="Aptos Narrow" panose="020B0004020202020204" pitchFamily="34" charset="0"/>
              </a:rPr>
              <a:t>CLOUD COMPUTING, HEALTH COORDINATOR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4E980E-F999-5BE3-31ED-EB6AB6CB44EF}"/>
              </a:ext>
            </a:extLst>
          </p:cNvPr>
          <p:cNvSpPr/>
          <p:nvPr/>
        </p:nvSpPr>
        <p:spPr>
          <a:xfrm>
            <a:off x="524791" y="1832799"/>
            <a:ext cx="3401569" cy="286895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Poppins"/>
              </a:rPr>
              <a:t>Jobs by Qualification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61852-DC13-F6C3-0832-F0F6EA2A1EC3}"/>
              </a:ext>
            </a:extLst>
          </p:cNvPr>
          <p:cNvSpPr txBox="1"/>
          <p:nvPr/>
        </p:nvSpPr>
        <p:spPr>
          <a:xfrm>
            <a:off x="3984050" y="1780500"/>
            <a:ext cx="3842753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Job Openings (%) By </a:t>
            </a:r>
            <a:r>
              <a:rPr lang="en-US" sz="1600" b="1" dirty="0">
                <a:solidFill>
                  <a:srgbClr val="414041"/>
                </a:solidFill>
                <a:latin typeface="Aptos" panose="020B0004020202020204" pitchFamily="34" charset="0"/>
              </a:rPr>
              <a:t>Hiring Volume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1404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835C1-C6E9-0314-1A52-ACE14F6DCC95}"/>
              </a:ext>
            </a:extLst>
          </p:cNvPr>
          <p:cNvSpPr txBox="1"/>
          <p:nvPr/>
        </p:nvSpPr>
        <p:spPr>
          <a:xfrm>
            <a:off x="6983839" y="4290287"/>
            <a:ext cx="1033108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sng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n=106,179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485C4-E868-3603-9557-3233D4F565AB}"/>
              </a:ext>
            </a:extLst>
          </p:cNvPr>
          <p:cNvSpPr txBox="1"/>
          <p:nvPr/>
        </p:nvSpPr>
        <p:spPr>
          <a:xfrm>
            <a:off x="545722" y="1205979"/>
            <a:ext cx="1115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/>
              <a:t>Majority of the jobs declared by employers only require basic skilling through existing training regulations</a:t>
            </a:r>
          </a:p>
          <a:p>
            <a:r>
              <a:rPr lang="en-CA" sz="1200" dirty="0"/>
              <a:t>However, there is a significant growing number of jobs that require higher level competencies, and also jobs with emerging competency needs</a:t>
            </a:r>
            <a:endParaRPr lang="en-US" sz="1200" i="1" dirty="0">
              <a:latin typeface="Aptos" panose="020B0004020202020204" pitchFamily="34" charset="0"/>
            </a:endParaRPr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1DB11A85-94D5-1C37-2B99-825CBFCAC103}"/>
              </a:ext>
            </a:extLst>
          </p:cNvPr>
          <p:cNvSpPr>
            <a:spLocks/>
          </p:cNvSpPr>
          <p:nvPr/>
        </p:nvSpPr>
        <p:spPr>
          <a:xfrm>
            <a:off x="8001660" y="2126631"/>
            <a:ext cx="3874366" cy="4731357"/>
          </a:xfrm>
          <a:prstGeom prst="rect">
            <a:avLst/>
          </a:prstGeom>
          <a:solidFill>
            <a:srgbClr val="00205A">
              <a:alpha val="4000"/>
            </a:srgbClr>
          </a:solidFill>
          <a:ln w="34925" cap="flat" cmpd="sng" algn="ctr">
            <a:noFill/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Google Shape;6889;p79">
            <a:extLst>
              <a:ext uri="{FF2B5EF4-FFF2-40B4-BE49-F238E27FC236}">
                <a16:creationId xmlns:a16="http://schemas.microsoft.com/office/drawing/2014/main" id="{966FE0DF-EA61-63EF-205E-A9551FABF771}"/>
              </a:ext>
            </a:extLst>
          </p:cNvPr>
          <p:cNvGrpSpPr/>
          <p:nvPr/>
        </p:nvGrpSpPr>
        <p:grpSpPr>
          <a:xfrm>
            <a:off x="8233558" y="2321377"/>
            <a:ext cx="419549" cy="478665"/>
            <a:chOff x="-55576850" y="3198125"/>
            <a:chExt cx="279625" cy="319025"/>
          </a:xfrm>
          <a:solidFill>
            <a:schemeClr val="tx2">
              <a:lumMod val="50000"/>
            </a:schemeClr>
          </a:solidFill>
        </p:grpSpPr>
        <p:sp>
          <p:nvSpPr>
            <p:cNvPr id="8" name="Google Shape;6890;p79">
              <a:extLst>
                <a:ext uri="{FF2B5EF4-FFF2-40B4-BE49-F238E27FC236}">
                  <a16:creationId xmlns:a16="http://schemas.microsoft.com/office/drawing/2014/main" id="{94CCEAA9-B5D1-DE3A-F05F-2C1906A4A647}"/>
                </a:ext>
              </a:extLst>
            </p:cNvPr>
            <p:cNvSpPr/>
            <p:nvPr/>
          </p:nvSpPr>
          <p:spPr>
            <a:xfrm>
              <a:off x="-55576850" y="3335975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756" y="0"/>
                  </a:moveTo>
                  <a:cubicBezTo>
                    <a:pt x="315" y="221"/>
                    <a:pt x="0" y="693"/>
                    <a:pt x="0" y="1260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6" name="Google Shape;6891;p79">
              <a:extLst>
                <a:ext uri="{FF2B5EF4-FFF2-40B4-BE49-F238E27FC236}">
                  <a16:creationId xmlns:a16="http://schemas.microsoft.com/office/drawing/2014/main" id="{B6E5B0D3-3471-7B14-605B-0CAE8F1A1B64}"/>
                </a:ext>
              </a:extLst>
            </p:cNvPr>
            <p:cNvSpPr/>
            <p:nvPr/>
          </p:nvSpPr>
          <p:spPr>
            <a:xfrm>
              <a:off x="-55539850" y="3198125"/>
              <a:ext cx="206375" cy="99275"/>
            </a:xfrm>
            <a:custGeom>
              <a:avLst/>
              <a:gdLst/>
              <a:ahLst/>
              <a:cxnLst/>
              <a:rect l="l" t="t" r="r" b="b"/>
              <a:pathLst>
                <a:path w="8255" h="3971" extrusionOk="0">
                  <a:moveTo>
                    <a:pt x="2616" y="1"/>
                  </a:moveTo>
                  <a:cubicBezTo>
                    <a:pt x="2348" y="1"/>
                    <a:pt x="2080" y="95"/>
                    <a:pt x="1860" y="284"/>
                  </a:cubicBezTo>
                  <a:cubicBezTo>
                    <a:pt x="1671" y="95"/>
                    <a:pt x="1387" y="32"/>
                    <a:pt x="1103" y="32"/>
                  </a:cubicBezTo>
                  <a:cubicBezTo>
                    <a:pt x="473" y="32"/>
                    <a:pt x="1" y="536"/>
                    <a:pt x="1" y="1135"/>
                  </a:cubicBezTo>
                  <a:lnTo>
                    <a:pt x="1" y="3970"/>
                  </a:lnTo>
                  <a:lnTo>
                    <a:pt x="1639" y="2364"/>
                  </a:lnTo>
                  <a:cubicBezTo>
                    <a:pt x="1715" y="2287"/>
                    <a:pt x="1815" y="2246"/>
                    <a:pt x="1916" y="2246"/>
                  </a:cubicBezTo>
                  <a:cubicBezTo>
                    <a:pt x="1982" y="2246"/>
                    <a:pt x="2049" y="2263"/>
                    <a:pt x="2112" y="2301"/>
                  </a:cubicBezTo>
                  <a:cubicBezTo>
                    <a:pt x="2726" y="2726"/>
                    <a:pt x="3435" y="2939"/>
                    <a:pt x="4144" y="2939"/>
                  </a:cubicBezTo>
                  <a:cubicBezTo>
                    <a:pt x="4853" y="2939"/>
                    <a:pt x="5561" y="2726"/>
                    <a:pt x="6176" y="2301"/>
                  </a:cubicBezTo>
                  <a:cubicBezTo>
                    <a:pt x="6225" y="2263"/>
                    <a:pt x="6290" y="2246"/>
                    <a:pt x="6355" y="2246"/>
                  </a:cubicBezTo>
                  <a:cubicBezTo>
                    <a:pt x="6456" y="2246"/>
                    <a:pt x="6560" y="2287"/>
                    <a:pt x="6617" y="2364"/>
                  </a:cubicBezTo>
                  <a:lnTo>
                    <a:pt x="8255" y="3970"/>
                  </a:lnTo>
                  <a:lnTo>
                    <a:pt x="8255" y="1135"/>
                  </a:lnTo>
                  <a:cubicBezTo>
                    <a:pt x="8192" y="536"/>
                    <a:pt x="7719" y="32"/>
                    <a:pt x="7089" y="32"/>
                  </a:cubicBezTo>
                  <a:cubicBezTo>
                    <a:pt x="6837" y="32"/>
                    <a:pt x="6554" y="158"/>
                    <a:pt x="6365" y="284"/>
                  </a:cubicBezTo>
                  <a:cubicBezTo>
                    <a:pt x="6144" y="95"/>
                    <a:pt x="5876" y="1"/>
                    <a:pt x="5609" y="1"/>
                  </a:cubicBezTo>
                  <a:cubicBezTo>
                    <a:pt x="5341" y="1"/>
                    <a:pt x="5073" y="95"/>
                    <a:pt x="4853" y="284"/>
                  </a:cubicBezTo>
                  <a:cubicBezTo>
                    <a:pt x="4632" y="95"/>
                    <a:pt x="4372" y="1"/>
                    <a:pt x="4112" y="1"/>
                  </a:cubicBezTo>
                  <a:cubicBezTo>
                    <a:pt x="3852" y="1"/>
                    <a:pt x="3592" y="95"/>
                    <a:pt x="3372" y="284"/>
                  </a:cubicBezTo>
                  <a:cubicBezTo>
                    <a:pt x="3151" y="95"/>
                    <a:pt x="2883" y="1"/>
                    <a:pt x="2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7" name="Google Shape;6892;p79">
              <a:extLst>
                <a:ext uri="{FF2B5EF4-FFF2-40B4-BE49-F238E27FC236}">
                  <a16:creationId xmlns:a16="http://schemas.microsoft.com/office/drawing/2014/main" id="{F3921A34-0B10-B345-9E19-3ECA0F704B88}"/>
                </a:ext>
              </a:extLst>
            </p:cNvPr>
            <p:cNvSpPr/>
            <p:nvPr/>
          </p:nvSpPr>
          <p:spPr>
            <a:xfrm>
              <a:off x="-55539850" y="3275325"/>
              <a:ext cx="204800" cy="241825"/>
            </a:xfrm>
            <a:custGeom>
              <a:avLst/>
              <a:gdLst/>
              <a:ahLst/>
              <a:cxnLst/>
              <a:rect l="l" t="t" r="r" b="b"/>
              <a:pathLst>
                <a:path w="8192" h="9673" extrusionOk="0">
                  <a:moveTo>
                    <a:pt x="2616" y="2962"/>
                  </a:moveTo>
                  <a:cubicBezTo>
                    <a:pt x="2805" y="2962"/>
                    <a:pt x="2962" y="3119"/>
                    <a:pt x="2962" y="3308"/>
                  </a:cubicBezTo>
                  <a:cubicBezTo>
                    <a:pt x="2962" y="3529"/>
                    <a:pt x="2805" y="3686"/>
                    <a:pt x="2616" y="3686"/>
                  </a:cubicBezTo>
                  <a:cubicBezTo>
                    <a:pt x="2427" y="3686"/>
                    <a:pt x="2269" y="3560"/>
                    <a:pt x="2269" y="3308"/>
                  </a:cubicBezTo>
                  <a:cubicBezTo>
                    <a:pt x="2269" y="3119"/>
                    <a:pt x="2427" y="2962"/>
                    <a:pt x="2616" y="2962"/>
                  </a:cubicBezTo>
                  <a:close/>
                  <a:moveTo>
                    <a:pt x="5609" y="2993"/>
                  </a:moveTo>
                  <a:cubicBezTo>
                    <a:pt x="5798" y="2993"/>
                    <a:pt x="5955" y="3151"/>
                    <a:pt x="5955" y="3371"/>
                  </a:cubicBezTo>
                  <a:cubicBezTo>
                    <a:pt x="5987" y="3560"/>
                    <a:pt x="5798" y="3718"/>
                    <a:pt x="5609" y="3718"/>
                  </a:cubicBezTo>
                  <a:cubicBezTo>
                    <a:pt x="5420" y="3718"/>
                    <a:pt x="5262" y="3560"/>
                    <a:pt x="5262" y="3371"/>
                  </a:cubicBezTo>
                  <a:cubicBezTo>
                    <a:pt x="5262" y="3151"/>
                    <a:pt x="5420" y="2993"/>
                    <a:pt x="5609" y="2993"/>
                  </a:cubicBezTo>
                  <a:close/>
                  <a:moveTo>
                    <a:pt x="5164" y="6278"/>
                  </a:moveTo>
                  <a:cubicBezTo>
                    <a:pt x="5262" y="6278"/>
                    <a:pt x="5357" y="6317"/>
                    <a:pt x="5420" y="6396"/>
                  </a:cubicBezTo>
                  <a:cubicBezTo>
                    <a:pt x="5577" y="6522"/>
                    <a:pt x="5577" y="6742"/>
                    <a:pt x="5451" y="6900"/>
                  </a:cubicBezTo>
                  <a:cubicBezTo>
                    <a:pt x="5105" y="7246"/>
                    <a:pt x="4632" y="7435"/>
                    <a:pt x="4096" y="7435"/>
                  </a:cubicBezTo>
                  <a:cubicBezTo>
                    <a:pt x="3592" y="7435"/>
                    <a:pt x="3120" y="7246"/>
                    <a:pt x="2805" y="6900"/>
                  </a:cubicBezTo>
                  <a:cubicBezTo>
                    <a:pt x="2647" y="6742"/>
                    <a:pt x="2647" y="6522"/>
                    <a:pt x="2805" y="6396"/>
                  </a:cubicBezTo>
                  <a:cubicBezTo>
                    <a:pt x="2883" y="6317"/>
                    <a:pt x="2986" y="6278"/>
                    <a:pt x="3080" y="6278"/>
                  </a:cubicBezTo>
                  <a:cubicBezTo>
                    <a:pt x="3175" y="6278"/>
                    <a:pt x="3262" y="6317"/>
                    <a:pt x="3309" y="6396"/>
                  </a:cubicBezTo>
                  <a:cubicBezTo>
                    <a:pt x="3529" y="6616"/>
                    <a:pt x="3821" y="6727"/>
                    <a:pt x="4108" y="6727"/>
                  </a:cubicBezTo>
                  <a:cubicBezTo>
                    <a:pt x="4396" y="6727"/>
                    <a:pt x="4679" y="6616"/>
                    <a:pt x="4884" y="6396"/>
                  </a:cubicBezTo>
                  <a:cubicBezTo>
                    <a:pt x="4963" y="6317"/>
                    <a:pt x="5065" y="6278"/>
                    <a:pt x="5164" y="6278"/>
                  </a:cubicBezTo>
                  <a:close/>
                  <a:moveTo>
                    <a:pt x="1954" y="0"/>
                  </a:moveTo>
                  <a:lnTo>
                    <a:pt x="1" y="1954"/>
                  </a:lnTo>
                  <a:lnTo>
                    <a:pt x="1" y="5577"/>
                  </a:lnTo>
                  <a:cubicBezTo>
                    <a:pt x="1" y="7813"/>
                    <a:pt x="1860" y="9672"/>
                    <a:pt x="4096" y="9672"/>
                  </a:cubicBezTo>
                  <a:cubicBezTo>
                    <a:pt x="6365" y="9672"/>
                    <a:pt x="8192" y="7813"/>
                    <a:pt x="8192" y="5577"/>
                  </a:cubicBezTo>
                  <a:lnTo>
                    <a:pt x="8192" y="1954"/>
                  </a:lnTo>
                  <a:lnTo>
                    <a:pt x="6270" y="0"/>
                  </a:lnTo>
                  <a:cubicBezTo>
                    <a:pt x="5609" y="394"/>
                    <a:pt x="4860" y="591"/>
                    <a:pt x="4112" y="591"/>
                  </a:cubicBezTo>
                  <a:cubicBezTo>
                    <a:pt x="3364" y="591"/>
                    <a:pt x="2616" y="394"/>
                    <a:pt x="19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8" name="Google Shape;6893;p79">
              <a:extLst>
                <a:ext uri="{FF2B5EF4-FFF2-40B4-BE49-F238E27FC236}">
                  <a16:creationId xmlns:a16="http://schemas.microsoft.com/office/drawing/2014/main" id="{F5811A7E-C91A-2352-793E-57ACFE3A1D7A}"/>
                </a:ext>
              </a:extLst>
            </p:cNvPr>
            <p:cNvSpPr/>
            <p:nvPr/>
          </p:nvSpPr>
          <p:spPr>
            <a:xfrm>
              <a:off x="-55316150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0"/>
                  </a:cubicBezTo>
                  <a:cubicBezTo>
                    <a:pt x="756" y="693"/>
                    <a:pt x="473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文本框 412">
            <a:extLst>
              <a:ext uri="{FF2B5EF4-FFF2-40B4-BE49-F238E27FC236}">
                <a16:creationId xmlns:a16="http://schemas.microsoft.com/office/drawing/2014/main" id="{4507C398-66E8-E355-5854-736180FA0CDB}"/>
              </a:ext>
            </a:extLst>
          </p:cNvPr>
          <p:cNvSpPr txBox="1"/>
          <p:nvPr/>
        </p:nvSpPr>
        <p:spPr>
          <a:xfrm>
            <a:off x="9010273" y="3331920"/>
            <a:ext cx="2754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Job requirements that look for national certificates with more advanced competencies, or for managerial roles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27" name="文本框 413">
            <a:extLst>
              <a:ext uri="{FF2B5EF4-FFF2-40B4-BE49-F238E27FC236}">
                <a16:creationId xmlns:a16="http://schemas.microsoft.com/office/drawing/2014/main" id="{EAE86F30-5E4A-275B-2FDA-18E1A48961A8}"/>
              </a:ext>
            </a:extLst>
          </p:cNvPr>
          <p:cNvSpPr txBox="1"/>
          <p:nvPr/>
        </p:nvSpPr>
        <p:spPr>
          <a:xfrm>
            <a:off x="8883768" y="3075738"/>
            <a:ext cx="2427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Intermediate/Managerial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grpSp>
        <p:nvGrpSpPr>
          <p:cNvPr id="28" name="Google Shape;7111;p79">
            <a:extLst>
              <a:ext uri="{FF2B5EF4-FFF2-40B4-BE49-F238E27FC236}">
                <a16:creationId xmlns:a16="http://schemas.microsoft.com/office/drawing/2014/main" id="{CFC690BB-F6F2-5F74-54A4-0B278D9B1249}"/>
              </a:ext>
            </a:extLst>
          </p:cNvPr>
          <p:cNvGrpSpPr/>
          <p:nvPr/>
        </p:nvGrpSpPr>
        <p:grpSpPr>
          <a:xfrm>
            <a:off x="8261916" y="3138732"/>
            <a:ext cx="475064" cy="475964"/>
            <a:chOff x="-52458650" y="3194400"/>
            <a:chExt cx="316625" cy="317225"/>
          </a:xfrm>
          <a:solidFill>
            <a:schemeClr val="tx2">
              <a:lumMod val="50000"/>
            </a:schemeClr>
          </a:solidFill>
        </p:grpSpPr>
        <p:sp>
          <p:nvSpPr>
            <p:cNvPr id="29" name="Google Shape;7112;p79">
              <a:extLst>
                <a:ext uri="{FF2B5EF4-FFF2-40B4-BE49-F238E27FC236}">
                  <a16:creationId xmlns:a16="http://schemas.microsoft.com/office/drawing/2014/main" id="{747D9BA7-E195-0E4B-0524-87DAB2233118}"/>
                </a:ext>
              </a:extLst>
            </p:cNvPr>
            <p:cNvSpPr/>
            <p:nvPr/>
          </p:nvSpPr>
          <p:spPr>
            <a:xfrm>
              <a:off x="-52458650" y="3194400"/>
              <a:ext cx="316625" cy="166000"/>
            </a:xfrm>
            <a:custGeom>
              <a:avLst/>
              <a:gdLst/>
              <a:ahLst/>
              <a:cxnLst/>
              <a:rect l="l" t="t" r="r" b="b"/>
              <a:pathLst>
                <a:path w="12665" h="6640" extrusionOk="0">
                  <a:moveTo>
                    <a:pt x="6309" y="0"/>
                  </a:moveTo>
                  <a:cubicBezTo>
                    <a:pt x="6254" y="0"/>
                    <a:pt x="6207" y="8"/>
                    <a:pt x="6175" y="24"/>
                  </a:cubicBezTo>
                  <a:lnTo>
                    <a:pt x="189" y="3017"/>
                  </a:lnTo>
                  <a:cubicBezTo>
                    <a:pt x="63" y="3080"/>
                    <a:pt x="0" y="3206"/>
                    <a:pt x="0" y="3332"/>
                  </a:cubicBezTo>
                  <a:cubicBezTo>
                    <a:pt x="0" y="3489"/>
                    <a:pt x="63" y="3615"/>
                    <a:pt x="189" y="3647"/>
                  </a:cubicBezTo>
                  <a:lnTo>
                    <a:pt x="2394" y="4434"/>
                  </a:lnTo>
                  <a:lnTo>
                    <a:pt x="3025" y="3143"/>
                  </a:lnTo>
                  <a:cubicBezTo>
                    <a:pt x="3088" y="3017"/>
                    <a:pt x="3214" y="2922"/>
                    <a:pt x="3340" y="2922"/>
                  </a:cubicBezTo>
                  <a:lnTo>
                    <a:pt x="9326" y="2922"/>
                  </a:lnTo>
                  <a:cubicBezTo>
                    <a:pt x="9483" y="2922"/>
                    <a:pt x="9609" y="3017"/>
                    <a:pt x="9641" y="3143"/>
                  </a:cubicBezTo>
                  <a:lnTo>
                    <a:pt x="10271" y="4434"/>
                  </a:lnTo>
                  <a:lnTo>
                    <a:pt x="11940" y="3836"/>
                  </a:lnTo>
                  <a:lnTo>
                    <a:pt x="11940" y="6293"/>
                  </a:lnTo>
                  <a:cubicBezTo>
                    <a:pt x="11940" y="6482"/>
                    <a:pt x="12098" y="6640"/>
                    <a:pt x="12287" y="6640"/>
                  </a:cubicBezTo>
                  <a:cubicBezTo>
                    <a:pt x="12476" y="6640"/>
                    <a:pt x="12634" y="6482"/>
                    <a:pt x="12634" y="6293"/>
                  </a:cubicBezTo>
                  <a:lnTo>
                    <a:pt x="12634" y="3300"/>
                  </a:lnTo>
                  <a:cubicBezTo>
                    <a:pt x="12665" y="3206"/>
                    <a:pt x="12634" y="3048"/>
                    <a:pt x="12508" y="3017"/>
                  </a:cubicBezTo>
                  <a:lnTo>
                    <a:pt x="6490" y="24"/>
                  </a:lnTo>
                  <a:cubicBezTo>
                    <a:pt x="6427" y="8"/>
                    <a:pt x="6364" y="0"/>
                    <a:pt x="63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0" name="Google Shape;7113;p79">
              <a:extLst>
                <a:ext uri="{FF2B5EF4-FFF2-40B4-BE49-F238E27FC236}">
                  <a16:creationId xmlns:a16="http://schemas.microsoft.com/office/drawing/2014/main" id="{1BFCBA50-6463-75F3-69E8-021BE078A060}"/>
                </a:ext>
              </a:extLst>
            </p:cNvPr>
            <p:cNvSpPr/>
            <p:nvPr/>
          </p:nvSpPr>
          <p:spPr>
            <a:xfrm>
              <a:off x="-52379100" y="3287125"/>
              <a:ext cx="156750" cy="18925"/>
            </a:xfrm>
            <a:custGeom>
              <a:avLst/>
              <a:gdLst/>
              <a:ahLst/>
              <a:cxnLst/>
              <a:rect l="l" t="t" r="r" b="b"/>
              <a:pathLst>
                <a:path w="6270" h="757" extrusionOk="0">
                  <a:moveTo>
                    <a:pt x="378" y="1"/>
                  </a:moveTo>
                  <a:lnTo>
                    <a:pt x="0" y="757"/>
                  </a:lnTo>
                  <a:lnTo>
                    <a:pt x="6270" y="757"/>
                  </a:lnTo>
                  <a:lnTo>
                    <a:pt x="58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1" name="Google Shape;7114;p79">
              <a:extLst>
                <a:ext uri="{FF2B5EF4-FFF2-40B4-BE49-F238E27FC236}">
                  <a16:creationId xmlns:a16="http://schemas.microsoft.com/office/drawing/2014/main" id="{54BF657A-5A2E-86C4-86CB-C7A887C6E871}"/>
                </a:ext>
              </a:extLst>
            </p:cNvPr>
            <p:cNvSpPr/>
            <p:nvPr/>
          </p:nvSpPr>
          <p:spPr>
            <a:xfrm>
              <a:off x="-52383825" y="3361950"/>
              <a:ext cx="55150" cy="37050"/>
            </a:xfrm>
            <a:custGeom>
              <a:avLst/>
              <a:gdLst/>
              <a:ahLst/>
              <a:cxnLst/>
              <a:rect l="l" t="t" r="r" b="b"/>
              <a:pathLst>
                <a:path w="2206" h="1482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104"/>
                  </a:lnTo>
                  <a:cubicBezTo>
                    <a:pt x="0" y="1293"/>
                    <a:pt x="158" y="1450"/>
                    <a:pt x="347" y="1450"/>
                  </a:cubicBezTo>
                  <a:lnTo>
                    <a:pt x="1103" y="1450"/>
                  </a:lnTo>
                  <a:lnTo>
                    <a:pt x="1103" y="1482"/>
                  </a:lnTo>
                  <a:cubicBezTo>
                    <a:pt x="1733" y="1482"/>
                    <a:pt x="2205" y="946"/>
                    <a:pt x="2205" y="379"/>
                  </a:cubicBezTo>
                  <a:cubicBezTo>
                    <a:pt x="2205" y="158"/>
                    <a:pt x="2048" y="1"/>
                    <a:pt x="18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2" name="Google Shape;7115;p79">
              <a:extLst>
                <a:ext uri="{FF2B5EF4-FFF2-40B4-BE49-F238E27FC236}">
                  <a16:creationId xmlns:a16="http://schemas.microsoft.com/office/drawing/2014/main" id="{4AEE80D9-84B7-DEC5-9300-9E5B485F4B76}"/>
                </a:ext>
              </a:extLst>
            </p:cNvPr>
            <p:cNvSpPr/>
            <p:nvPr/>
          </p:nvSpPr>
          <p:spPr>
            <a:xfrm>
              <a:off x="-52401950" y="3380075"/>
              <a:ext cx="204800" cy="131550"/>
            </a:xfrm>
            <a:custGeom>
              <a:avLst/>
              <a:gdLst/>
              <a:ahLst/>
              <a:cxnLst/>
              <a:rect l="l" t="t" r="r" b="b"/>
              <a:pathLst>
                <a:path w="8192" h="5262" extrusionOk="0">
                  <a:moveTo>
                    <a:pt x="5085" y="1804"/>
                  </a:moveTo>
                  <a:cubicBezTo>
                    <a:pt x="5175" y="1804"/>
                    <a:pt x="5262" y="1843"/>
                    <a:pt x="5325" y="1922"/>
                  </a:cubicBezTo>
                  <a:cubicBezTo>
                    <a:pt x="5514" y="2080"/>
                    <a:pt x="5514" y="2332"/>
                    <a:pt x="5356" y="2426"/>
                  </a:cubicBezTo>
                  <a:cubicBezTo>
                    <a:pt x="5010" y="2804"/>
                    <a:pt x="4537" y="2993"/>
                    <a:pt x="4065" y="2993"/>
                  </a:cubicBezTo>
                  <a:cubicBezTo>
                    <a:pt x="3561" y="2993"/>
                    <a:pt x="3088" y="2804"/>
                    <a:pt x="2710" y="2426"/>
                  </a:cubicBezTo>
                  <a:cubicBezTo>
                    <a:pt x="2552" y="2269"/>
                    <a:pt x="2552" y="2048"/>
                    <a:pt x="2710" y="1922"/>
                  </a:cubicBezTo>
                  <a:cubicBezTo>
                    <a:pt x="2789" y="1843"/>
                    <a:pt x="2891" y="1804"/>
                    <a:pt x="2990" y="1804"/>
                  </a:cubicBezTo>
                  <a:cubicBezTo>
                    <a:pt x="3088" y="1804"/>
                    <a:pt x="3182" y="1843"/>
                    <a:pt x="3245" y="1922"/>
                  </a:cubicBezTo>
                  <a:cubicBezTo>
                    <a:pt x="3450" y="2143"/>
                    <a:pt x="3734" y="2253"/>
                    <a:pt x="4021" y="2253"/>
                  </a:cubicBezTo>
                  <a:cubicBezTo>
                    <a:pt x="4309" y="2253"/>
                    <a:pt x="4600" y="2143"/>
                    <a:pt x="4821" y="1922"/>
                  </a:cubicBezTo>
                  <a:cubicBezTo>
                    <a:pt x="4899" y="1843"/>
                    <a:pt x="4994" y="1804"/>
                    <a:pt x="5085" y="1804"/>
                  </a:cubicBezTo>
                  <a:close/>
                  <a:moveTo>
                    <a:pt x="3655" y="0"/>
                  </a:moveTo>
                  <a:cubicBezTo>
                    <a:pt x="3498" y="851"/>
                    <a:pt x="2710" y="1481"/>
                    <a:pt x="1859" y="1481"/>
                  </a:cubicBezTo>
                  <a:lnTo>
                    <a:pt x="1103" y="1481"/>
                  </a:lnTo>
                  <a:cubicBezTo>
                    <a:pt x="473" y="1481"/>
                    <a:pt x="0" y="977"/>
                    <a:pt x="0" y="379"/>
                  </a:cubicBezTo>
                  <a:lnTo>
                    <a:pt x="0" y="1135"/>
                  </a:lnTo>
                  <a:cubicBezTo>
                    <a:pt x="0" y="3371"/>
                    <a:pt x="1859" y="5262"/>
                    <a:pt x="4096" y="5262"/>
                  </a:cubicBezTo>
                  <a:cubicBezTo>
                    <a:pt x="6333" y="5262"/>
                    <a:pt x="8192" y="3403"/>
                    <a:pt x="8192" y="1135"/>
                  </a:cubicBezTo>
                  <a:lnTo>
                    <a:pt x="8192" y="379"/>
                  </a:lnTo>
                  <a:cubicBezTo>
                    <a:pt x="8160" y="1009"/>
                    <a:pt x="7656" y="1481"/>
                    <a:pt x="7058" y="1481"/>
                  </a:cubicBezTo>
                  <a:lnTo>
                    <a:pt x="6301" y="1481"/>
                  </a:lnTo>
                  <a:cubicBezTo>
                    <a:pt x="5388" y="1481"/>
                    <a:pt x="4663" y="851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3" name="Google Shape;7116;p79">
              <a:extLst>
                <a:ext uri="{FF2B5EF4-FFF2-40B4-BE49-F238E27FC236}">
                  <a16:creationId xmlns:a16="http://schemas.microsoft.com/office/drawing/2014/main" id="{8F5B17A9-2D05-F07F-253C-4A51CB79C6E5}"/>
                </a:ext>
              </a:extLst>
            </p:cNvPr>
            <p:cNvSpPr/>
            <p:nvPr/>
          </p:nvSpPr>
          <p:spPr>
            <a:xfrm>
              <a:off x="-52272000" y="3361950"/>
              <a:ext cx="55175" cy="37050"/>
            </a:xfrm>
            <a:custGeom>
              <a:avLst/>
              <a:gdLst/>
              <a:ahLst/>
              <a:cxnLst/>
              <a:rect l="l" t="t" r="r" b="b"/>
              <a:pathLst>
                <a:path w="2207" h="1482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1009"/>
                    <a:pt x="505" y="1482"/>
                    <a:pt x="1103" y="1482"/>
                  </a:cubicBezTo>
                  <a:lnTo>
                    <a:pt x="1860" y="1482"/>
                  </a:lnTo>
                  <a:cubicBezTo>
                    <a:pt x="2049" y="1482"/>
                    <a:pt x="2206" y="1324"/>
                    <a:pt x="2206" y="1104"/>
                  </a:cubicBezTo>
                  <a:lnTo>
                    <a:pt x="2206" y="379"/>
                  </a:lnTo>
                  <a:cubicBezTo>
                    <a:pt x="2206" y="158"/>
                    <a:pt x="2049" y="1"/>
                    <a:pt x="18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4" name="Google Shape;7117;p79">
              <a:extLst>
                <a:ext uri="{FF2B5EF4-FFF2-40B4-BE49-F238E27FC236}">
                  <a16:creationId xmlns:a16="http://schemas.microsoft.com/office/drawing/2014/main" id="{434F611E-1D40-60C4-1F16-893F93C41C0C}"/>
                </a:ext>
              </a:extLst>
            </p:cNvPr>
            <p:cNvSpPr/>
            <p:nvPr/>
          </p:nvSpPr>
          <p:spPr>
            <a:xfrm>
              <a:off x="-52402750" y="3324950"/>
              <a:ext cx="204825" cy="46475"/>
            </a:xfrm>
            <a:custGeom>
              <a:avLst/>
              <a:gdLst/>
              <a:ahLst/>
              <a:cxnLst/>
              <a:rect l="l" t="t" r="r" b="b"/>
              <a:pathLst>
                <a:path w="8193" h="1859" extrusionOk="0">
                  <a:moveTo>
                    <a:pt x="1" y="0"/>
                  </a:moveTo>
                  <a:lnTo>
                    <a:pt x="1" y="1859"/>
                  </a:lnTo>
                  <a:cubicBezTo>
                    <a:pt x="1" y="1229"/>
                    <a:pt x="505" y="725"/>
                    <a:pt x="1104" y="725"/>
                  </a:cubicBezTo>
                  <a:lnTo>
                    <a:pt x="2584" y="725"/>
                  </a:lnTo>
                  <a:cubicBezTo>
                    <a:pt x="3057" y="725"/>
                    <a:pt x="3498" y="1071"/>
                    <a:pt x="3656" y="1481"/>
                  </a:cubicBezTo>
                  <a:lnTo>
                    <a:pt x="4538" y="1481"/>
                  </a:lnTo>
                  <a:cubicBezTo>
                    <a:pt x="4695" y="1071"/>
                    <a:pt x="5073" y="725"/>
                    <a:pt x="5577" y="725"/>
                  </a:cubicBezTo>
                  <a:lnTo>
                    <a:pt x="7090" y="725"/>
                  </a:lnTo>
                  <a:cubicBezTo>
                    <a:pt x="7720" y="725"/>
                    <a:pt x="8192" y="1260"/>
                    <a:pt x="8192" y="1859"/>
                  </a:cubicBez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7118;p79">
              <a:extLst>
                <a:ext uri="{FF2B5EF4-FFF2-40B4-BE49-F238E27FC236}">
                  <a16:creationId xmlns:a16="http://schemas.microsoft.com/office/drawing/2014/main" id="{96819B2B-1A17-B9C6-9A33-7CECA58D199B}"/>
                </a:ext>
              </a:extLst>
            </p:cNvPr>
            <p:cNvSpPr/>
            <p:nvPr/>
          </p:nvSpPr>
          <p:spPr>
            <a:xfrm>
              <a:off x="-52440550" y="33493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190"/>
                    <a:pt x="1" y="725"/>
                    <a:pt x="1" y="1261"/>
                  </a:cubicBezTo>
                  <a:cubicBezTo>
                    <a:pt x="1" y="1797"/>
                    <a:pt x="316" y="2301"/>
                    <a:pt x="757" y="2553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6" name="Google Shape;7119;p79">
              <a:extLst>
                <a:ext uri="{FF2B5EF4-FFF2-40B4-BE49-F238E27FC236}">
                  <a16:creationId xmlns:a16="http://schemas.microsoft.com/office/drawing/2014/main" id="{62E0C4BF-8674-C14E-6D4A-6FAB7B83E164}"/>
                </a:ext>
              </a:extLst>
            </p:cNvPr>
            <p:cNvSpPr/>
            <p:nvPr/>
          </p:nvSpPr>
          <p:spPr>
            <a:xfrm>
              <a:off x="-52179050" y="334857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0"/>
                  </a:cubicBezTo>
                  <a:cubicBezTo>
                    <a:pt x="725" y="756"/>
                    <a:pt x="410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41" name="文本框 412">
            <a:extLst>
              <a:ext uri="{FF2B5EF4-FFF2-40B4-BE49-F238E27FC236}">
                <a16:creationId xmlns:a16="http://schemas.microsoft.com/office/drawing/2014/main" id="{46400AEE-9576-A851-5A80-5110FE66CEED}"/>
              </a:ext>
            </a:extLst>
          </p:cNvPr>
          <p:cNvSpPr txBox="1"/>
          <p:nvPr/>
        </p:nvSpPr>
        <p:spPr>
          <a:xfrm>
            <a:off x="8993484" y="2532960"/>
            <a:ext cx="2754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Job requirements that look for national certificates for entry level roles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42" name="文本框 413">
            <a:extLst>
              <a:ext uri="{FF2B5EF4-FFF2-40B4-BE49-F238E27FC236}">
                <a16:creationId xmlns:a16="http://schemas.microsoft.com/office/drawing/2014/main" id="{99FEA718-04FA-EFDE-BA68-807AAACC82C5}"/>
              </a:ext>
            </a:extLst>
          </p:cNvPr>
          <p:cNvSpPr txBox="1"/>
          <p:nvPr/>
        </p:nvSpPr>
        <p:spPr>
          <a:xfrm>
            <a:off x="8855389" y="2256888"/>
            <a:ext cx="2427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Basic/Entry Level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46" name="文本框 413">
            <a:extLst>
              <a:ext uri="{FF2B5EF4-FFF2-40B4-BE49-F238E27FC236}">
                <a16:creationId xmlns:a16="http://schemas.microsoft.com/office/drawing/2014/main" id="{ABA7BBF8-3FBF-1FCE-B62B-4C1502BAF2CC}"/>
              </a:ext>
            </a:extLst>
          </p:cNvPr>
          <p:cNvSpPr txBox="1"/>
          <p:nvPr/>
        </p:nvSpPr>
        <p:spPr>
          <a:xfrm>
            <a:off x="8468763" y="4124276"/>
            <a:ext cx="3371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67% Entry Level Versus 33% Intermediate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IF unspecified jobs are labeled Level I-II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48" name="文本框 413">
            <a:extLst>
              <a:ext uri="{FF2B5EF4-FFF2-40B4-BE49-F238E27FC236}">
                <a16:creationId xmlns:a16="http://schemas.microsoft.com/office/drawing/2014/main" id="{98857E52-74C2-57AC-91B4-DD1ED8825C28}"/>
              </a:ext>
            </a:extLst>
          </p:cNvPr>
          <p:cNvSpPr txBox="1"/>
          <p:nvPr/>
        </p:nvSpPr>
        <p:spPr>
          <a:xfrm>
            <a:off x="8104161" y="5301509"/>
            <a:ext cx="3783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" altLang="zh-CN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J</a:t>
            </a:r>
            <a:r>
              <a:rPr kumimoji="1" lang="en-PH" altLang="zh-CN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o</a:t>
            </a:r>
            <a:r>
              <a:rPr kumimoji="1" lang="en" altLang="zh-CN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b requirements where </a:t>
            </a:r>
            <a:r>
              <a:rPr kumimoji="1" lang="en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TESDA has existing training regulations that match their needed competencies</a:t>
            </a:r>
            <a:endParaRPr kumimoji="1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F22ECBE-86FC-7608-E356-4E127936D16A}"/>
              </a:ext>
            </a:extLst>
          </p:cNvPr>
          <p:cNvSpPr/>
          <p:nvPr/>
        </p:nvSpPr>
        <p:spPr>
          <a:xfrm>
            <a:off x="8025203" y="1837908"/>
            <a:ext cx="3842753" cy="286895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Poppins"/>
              </a:rPr>
              <a:t>Education </a:t>
            </a:r>
            <a:r>
              <a:rPr lang="en-CA" kern="0" dirty="0">
                <a:solidFill>
                  <a:srgbClr val="FFFFFF"/>
                </a:solidFill>
                <a:latin typeface="Aptos" panose="020B0004020202020204" pitchFamily="34" charset="0"/>
                <a:cs typeface="Poppins"/>
              </a:rPr>
              <a:t>Requirements</a:t>
            </a:r>
            <a:endParaRPr kumimoji="0" lang="en-C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Poppins"/>
            </a:endParaRPr>
          </a:p>
        </p:txBody>
      </p:sp>
      <p:sp>
        <p:nvSpPr>
          <p:cNvPr id="51" name="Title 50">
            <a:extLst>
              <a:ext uri="{FF2B5EF4-FFF2-40B4-BE49-F238E27FC236}">
                <a16:creationId xmlns:a16="http://schemas.microsoft.com/office/drawing/2014/main" id="{76120503-7490-4B32-F0B5-189309DA7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Who do employers want to hire?</a:t>
            </a:r>
          </a:p>
        </p:txBody>
      </p:sp>
      <p:pic>
        <p:nvPicPr>
          <p:cNvPr id="2" name="Picture 1" descr="A logo for a foundation&#10;&#10;Description automatically generated">
            <a:extLst>
              <a:ext uri="{FF2B5EF4-FFF2-40B4-BE49-F238E27FC236}">
                <a16:creationId xmlns:a16="http://schemas.microsoft.com/office/drawing/2014/main" id="{DD2BB1A2-7ECF-EE4A-6C63-86347502A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559" y="298830"/>
            <a:ext cx="1106467" cy="779795"/>
          </a:xfrm>
          <a:prstGeom prst="roundRect">
            <a:avLst/>
          </a:prstGeom>
        </p:spPr>
      </p:pic>
      <p:sp>
        <p:nvSpPr>
          <p:cNvPr id="10" name="文本框 412">
            <a:extLst>
              <a:ext uri="{FF2B5EF4-FFF2-40B4-BE49-F238E27FC236}">
                <a16:creationId xmlns:a16="http://schemas.microsoft.com/office/drawing/2014/main" id="{A3C542D7-9928-3E9E-3CBE-92A6E7404989}"/>
              </a:ext>
            </a:extLst>
          </p:cNvPr>
          <p:cNvSpPr txBox="1"/>
          <p:nvPr/>
        </p:nvSpPr>
        <p:spPr>
          <a:xfrm>
            <a:off x="4945435" y="2365987"/>
            <a:ext cx="99895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43%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11" name="文本框 412">
            <a:extLst>
              <a:ext uri="{FF2B5EF4-FFF2-40B4-BE49-F238E27FC236}">
                <a16:creationId xmlns:a16="http://schemas.microsoft.com/office/drawing/2014/main" id="{7F2BC400-D9AA-6042-403F-11C38F067608}"/>
              </a:ext>
            </a:extLst>
          </p:cNvPr>
          <p:cNvSpPr txBox="1"/>
          <p:nvPr/>
        </p:nvSpPr>
        <p:spPr>
          <a:xfrm>
            <a:off x="4960035" y="3256712"/>
            <a:ext cx="76190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33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%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14" name="文本框 412">
            <a:extLst>
              <a:ext uri="{FF2B5EF4-FFF2-40B4-BE49-F238E27FC236}">
                <a16:creationId xmlns:a16="http://schemas.microsoft.com/office/drawing/2014/main" id="{C95F7D41-5E29-6E19-5EC3-A6922D7628E9}"/>
              </a:ext>
            </a:extLst>
          </p:cNvPr>
          <p:cNvSpPr txBox="1"/>
          <p:nvPr/>
        </p:nvSpPr>
        <p:spPr>
          <a:xfrm>
            <a:off x="4968600" y="4114650"/>
            <a:ext cx="76190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24%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61125A-88E7-C3E6-705E-9CB5E39648BB}"/>
              </a:ext>
            </a:extLst>
          </p:cNvPr>
          <p:cNvSpPr txBox="1"/>
          <p:nvPr/>
        </p:nvSpPr>
        <p:spPr>
          <a:xfrm>
            <a:off x="7073399" y="6378648"/>
            <a:ext cx="107854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sng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n=93,666</a:t>
            </a:r>
          </a:p>
        </p:txBody>
      </p:sp>
      <p:sp>
        <p:nvSpPr>
          <p:cNvPr id="53" name="矩形 75">
            <a:extLst>
              <a:ext uri="{FF2B5EF4-FFF2-40B4-BE49-F238E27FC236}">
                <a16:creationId xmlns:a16="http://schemas.microsoft.com/office/drawing/2014/main" id="{EA0D41AA-1FB4-2499-27C8-680BCADED1E2}"/>
              </a:ext>
            </a:extLst>
          </p:cNvPr>
          <p:cNvSpPr/>
          <p:nvPr/>
        </p:nvSpPr>
        <p:spPr>
          <a:xfrm>
            <a:off x="4002328" y="5974433"/>
            <a:ext cx="1969074" cy="7544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文本框 412">
            <a:extLst>
              <a:ext uri="{FF2B5EF4-FFF2-40B4-BE49-F238E27FC236}">
                <a16:creationId xmlns:a16="http://schemas.microsoft.com/office/drawing/2014/main" id="{84845934-640E-F6B1-55D9-E598D8958382}"/>
              </a:ext>
            </a:extLst>
          </p:cNvPr>
          <p:cNvSpPr txBox="1"/>
          <p:nvPr/>
        </p:nvSpPr>
        <p:spPr>
          <a:xfrm>
            <a:off x="4999414" y="5282402"/>
            <a:ext cx="76190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74%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55" name="文本框 412">
            <a:extLst>
              <a:ext uri="{FF2B5EF4-FFF2-40B4-BE49-F238E27FC236}">
                <a16:creationId xmlns:a16="http://schemas.microsoft.com/office/drawing/2014/main" id="{9E59E198-85FF-5650-0336-765F5DBD167E}"/>
              </a:ext>
            </a:extLst>
          </p:cNvPr>
          <p:cNvSpPr txBox="1"/>
          <p:nvPr/>
        </p:nvSpPr>
        <p:spPr>
          <a:xfrm>
            <a:off x="4999414" y="6149598"/>
            <a:ext cx="76190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26%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F9CAB7-522A-ED3C-04EF-853CD07E6A63}"/>
              </a:ext>
            </a:extLst>
          </p:cNvPr>
          <p:cNvSpPr txBox="1"/>
          <p:nvPr/>
        </p:nvSpPr>
        <p:spPr>
          <a:xfrm>
            <a:off x="4325292" y="4167176"/>
            <a:ext cx="73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26,443</a:t>
            </a:r>
            <a:endParaRPr 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4A700C-727E-96EB-3F92-3F4D087FD8C7}"/>
              </a:ext>
            </a:extLst>
          </p:cNvPr>
          <p:cNvSpPr txBox="1"/>
          <p:nvPr/>
        </p:nvSpPr>
        <p:spPr>
          <a:xfrm>
            <a:off x="4317258" y="3275793"/>
            <a:ext cx="73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34,878</a:t>
            </a:r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7E0301-C1B6-06AE-F7DA-5EC3D8F2BD62}"/>
              </a:ext>
            </a:extLst>
          </p:cNvPr>
          <p:cNvSpPr txBox="1"/>
          <p:nvPr/>
        </p:nvSpPr>
        <p:spPr>
          <a:xfrm>
            <a:off x="4288530" y="2418533"/>
            <a:ext cx="73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44,858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83FE4B-C24B-ABA5-275B-A199C40CBB4C}"/>
              </a:ext>
            </a:extLst>
          </p:cNvPr>
          <p:cNvSpPr txBox="1"/>
          <p:nvPr/>
        </p:nvSpPr>
        <p:spPr>
          <a:xfrm>
            <a:off x="4378665" y="5319881"/>
            <a:ext cx="73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69,328</a:t>
            </a:r>
            <a:endParaRPr lang="en-US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2CA318-F874-B6B4-23C2-CEDCB6C89C06}"/>
              </a:ext>
            </a:extLst>
          </p:cNvPr>
          <p:cNvSpPr txBox="1"/>
          <p:nvPr/>
        </p:nvSpPr>
        <p:spPr>
          <a:xfrm>
            <a:off x="4343338" y="6204247"/>
            <a:ext cx="735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24,338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2B592E-CBC5-94E5-1DA0-88B1CD02A960}"/>
              </a:ext>
            </a:extLst>
          </p:cNvPr>
          <p:cNvSpPr txBox="1"/>
          <p:nvPr/>
        </p:nvSpPr>
        <p:spPr>
          <a:xfrm>
            <a:off x="6693240" y="6633139"/>
            <a:ext cx="1353102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414041"/>
                </a:solidFill>
                <a:latin typeface="Aptos" panose="020B0004020202020204" pitchFamily="34" charset="0"/>
              </a:rPr>
              <a:t>39,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413 excluded, blanks</a:t>
            </a:r>
          </a:p>
        </p:txBody>
      </p:sp>
      <p:sp>
        <p:nvSpPr>
          <p:cNvPr id="21" name="文本框 413">
            <a:extLst>
              <a:ext uri="{FF2B5EF4-FFF2-40B4-BE49-F238E27FC236}">
                <a16:creationId xmlns:a16="http://schemas.microsoft.com/office/drawing/2014/main" id="{E2F0350B-3DD9-BAA1-C1A0-0DC0F1A8343B}"/>
              </a:ext>
            </a:extLst>
          </p:cNvPr>
          <p:cNvSpPr txBox="1"/>
          <p:nvPr/>
        </p:nvSpPr>
        <p:spPr>
          <a:xfrm>
            <a:off x="8046342" y="5073383"/>
            <a:ext cx="3674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Jobs With Corresponding TRs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22" name="文本框 413">
            <a:extLst>
              <a:ext uri="{FF2B5EF4-FFF2-40B4-BE49-F238E27FC236}">
                <a16:creationId xmlns:a16="http://schemas.microsoft.com/office/drawing/2014/main" id="{DB733813-290C-860F-001C-B919A1524F9D}"/>
              </a:ext>
            </a:extLst>
          </p:cNvPr>
          <p:cNvSpPr txBox="1"/>
          <p:nvPr/>
        </p:nvSpPr>
        <p:spPr>
          <a:xfrm>
            <a:off x="8016947" y="5956162"/>
            <a:ext cx="4165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Jobs with New and Emerging Competencies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37" name="文本框 413">
            <a:extLst>
              <a:ext uri="{FF2B5EF4-FFF2-40B4-BE49-F238E27FC236}">
                <a16:creationId xmlns:a16="http://schemas.microsoft.com/office/drawing/2014/main" id="{D0B44BF4-275C-9250-26FC-8CB57C3598E3}"/>
              </a:ext>
            </a:extLst>
          </p:cNvPr>
          <p:cNvSpPr txBox="1"/>
          <p:nvPr/>
        </p:nvSpPr>
        <p:spPr>
          <a:xfrm>
            <a:off x="8140909" y="6216256"/>
            <a:ext cx="3783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" altLang="zh-CN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J</a:t>
            </a:r>
            <a:r>
              <a:rPr kumimoji="1" lang="en-PH" altLang="zh-CN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o</a:t>
            </a:r>
            <a:r>
              <a:rPr kumimoji="1" lang="en" altLang="zh-CN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b requirements where </a:t>
            </a:r>
            <a:r>
              <a:rPr kumimoji="1" lang="en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TESDA must develop new or update existing training regulations to address demand. </a:t>
            </a:r>
            <a:r>
              <a:rPr kumimoji="1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Alibaba PuHuiTi Medium" pitchFamily="18" charset="-122"/>
                <a:cs typeface="Calibri" panose="020F0502020204030204" pitchFamily="34" charset="0"/>
              </a:rPr>
              <a:t>Top sectors with these jobs are Tourism and Healthcare.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Alibaba PuHuiTi Medium" pitchFamily="18" charset="-122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EF4EFA-6CEE-20CC-B322-7C5E592684BE}"/>
              </a:ext>
            </a:extLst>
          </p:cNvPr>
          <p:cNvSpPr/>
          <p:nvPr/>
        </p:nvSpPr>
        <p:spPr>
          <a:xfrm>
            <a:off x="558072" y="4819881"/>
            <a:ext cx="11329956" cy="122220"/>
          </a:xfrm>
          <a:prstGeom prst="rect">
            <a:avLst/>
          </a:prstGeom>
          <a:solidFill>
            <a:srgbClr val="60101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95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B26B-2578-9F10-1BA9-B25A0E8008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NCR ABDD VS CEBU CHAMBER</a:t>
            </a:r>
          </a:p>
        </p:txBody>
      </p:sp>
      <p:pic>
        <p:nvPicPr>
          <p:cNvPr id="3" name="Picture 2" descr="A screenshot of a job search&#10;&#10;AI-generated content may be incorrect.">
            <a:extLst>
              <a:ext uri="{FF2B5EF4-FFF2-40B4-BE49-F238E27FC236}">
                <a16:creationId xmlns:a16="http://schemas.microsoft.com/office/drawing/2014/main" id="{214A6F27-EC55-2623-6900-150DF558A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90" y="1302058"/>
            <a:ext cx="6129848" cy="3452932"/>
          </a:xfrm>
          <a:prstGeom prst="rect">
            <a:avLst/>
          </a:prstGeom>
        </p:spPr>
      </p:pic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03048FD6-0711-F287-B224-6492D7EE3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137" y="1287301"/>
            <a:ext cx="6255800" cy="3469283"/>
          </a:xfrm>
          <a:prstGeom prst="rect">
            <a:avLst/>
          </a:prstGeom>
        </p:spPr>
      </p:pic>
      <p:pic>
        <p:nvPicPr>
          <p:cNvPr id="5" name="Picture 4" descr="A screenshot of a job search&#10;&#10;AI-generated content may be incorrect.">
            <a:extLst>
              <a:ext uri="{FF2B5EF4-FFF2-40B4-BE49-F238E27FC236}">
                <a16:creationId xmlns:a16="http://schemas.microsoft.com/office/drawing/2014/main" id="{C8E6DA08-6F0D-5F03-851A-97FD061A2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431" y="2352582"/>
            <a:ext cx="803247" cy="45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0359-B253-FA38-625D-FF43140F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3">
            <a:extLst>
              <a:ext uri="{FF2B5EF4-FFF2-40B4-BE49-F238E27FC236}">
                <a16:creationId xmlns:a16="http://schemas.microsoft.com/office/drawing/2014/main" id="{80338236-3DE7-D5BD-FDB5-B2CBA110B698}"/>
              </a:ext>
            </a:extLst>
          </p:cNvPr>
          <p:cNvSpPr/>
          <p:nvPr/>
        </p:nvSpPr>
        <p:spPr>
          <a:xfrm>
            <a:off x="691930" y="5084863"/>
            <a:ext cx="10938791" cy="1474307"/>
          </a:xfrm>
          <a:prstGeom prst="rect">
            <a:avLst/>
          </a:prstGeom>
          <a:solidFill>
            <a:srgbClr val="00205A">
              <a:alpha val="4000"/>
            </a:srgbClr>
          </a:solidFill>
          <a:ln w="34925" cap="flat" cmpd="sng" algn="ctr">
            <a:noFill/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ECB78-910C-3610-C3C1-448FB7DEE8CD}"/>
              </a:ext>
            </a:extLst>
          </p:cNvPr>
          <p:cNvSpPr txBox="1"/>
          <p:nvPr/>
        </p:nvSpPr>
        <p:spPr>
          <a:xfrm>
            <a:off x="822292" y="5397783"/>
            <a:ext cx="57563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u="sng" dirty="0">
                <a:latin typeface="Aptos" panose="020B0004020202020204" pitchFamily="34" charset="0"/>
              </a:rPr>
              <a:t>Across all districts the top sectors based on hiring volume are:</a:t>
            </a:r>
          </a:p>
          <a:p>
            <a:r>
              <a:rPr lang="en-CA" sz="1600" dirty="0">
                <a:latin typeface="Aptos" panose="020B0004020202020204" pitchFamily="34" charset="0"/>
              </a:rPr>
              <a:t>1. Construction (30,253)</a:t>
            </a:r>
          </a:p>
          <a:p>
            <a:r>
              <a:rPr lang="en-CA" sz="1600" dirty="0">
                <a:latin typeface="Aptos" panose="020B0004020202020204" pitchFamily="34" charset="0"/>
              </a:rPr>
              <a:t>2. Logistics (29,308)</a:t>
            </a:r>
            <a:br>
              <a:rPr lang="en-CA" sz="1600" dirty="0">
                <a:latin typeface="Aptos" panose="020B0004020202020204" pitchFamily="34" charset="0"/>
              </a:rPr>
            </a:br>
            <a:r>
              <a:rPr lang="en-CA" sz="1600" dirty="0">
                <a:latin typeface="Aptos" panose="020B0004020202020204" pitchFamily="34" charset="0"/>
              </a:rPr>
              <a:t>3. Tourism (18,500)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BF68355-36D1-4B36-8D5D-03EB31592C02}"/>
              </a:ext>
            </a:extLst>
          </p:cNvPr>
          <p:cNvSpPr/>
          <p:nvPr/>
        </p:nvSpPr>
        <p:spPr>
          <a:xfrm>
            <a:off x="691930" y="5026720"/>
            <a:ext cx="10938790" cy="286895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kern="0" dirty="0">
                <a:solidFill>
                  <a:srgbClr val="FFFFFF"/>
                </a:solidFill>
                <a:latin typeface="Aptos" panose="020B0004020202020204" pitchFamily="34" charset="0"/>
                <a:cs typeface="Poppins"/>
              </a:rPr>
              <a:t>Key Insights</a:t>
            </a:r>
            <a:endParaRPr kumimoji="0" lang="en-CA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Poppins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CAE38337-8E01-49A1-8D39-19220E6CF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131546"/>
            <a:ext cx="9973973" cy="861774"/>
          </a:xfrm>
        </p:spPr>
        <p:txBody>
          <a:bodyPr/>
          <a:lstStyle/>
          <a:p>
            <a:r>
              <a:rPr lang="en-PH" sz="2800" dirty="0"/>
              <a:t>128,615 potential hiring in NCR from 97 companies, mainly in Pasay &amp; Makati, </a:t>
            </a:r>
            <a:r>
              <a:rPr lang="en-PH" sz="2800" dirty="0" err="1"/>
              <a:t>MuntiParLasTapaT</a:t>
            </a:r>
            <a:r>
              <a:rPr lang="en-PH" sz="2800" dirty="0"/>
              <a:t>, and CAMANAVA</a:t>
            </a:r>
          </a:p>
        </p:txBody>
      </p:sp>
      <p:pic>
        <p:nvPicPr>
          <p:cNvPr id="3" name="Picture 2" descr="A logo for a foundation&#10;&#10;Description automatically generated">
            <a:extLst>
              <a:ext uri="{FF2B5EF4-FFF2-40B4-BE49-F238E27FC236}">
                <a16:creationId xmlns:a16="http://schemas.microsoft.com/office/drawing/2014/main" id="{865B216B-ADC3-5D24-919F-A150C9F5D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559" y="298830"/>
            <a:ext cx="1106467" cy="779795"/>
          </a:xfrm>
          <a:prstGeom prst="roundRect">
            <a:avLst/>
          </a:prstGeom>
        </p:spPr>
      </p:pic>
      <p:pic>
        <p:nvPicPr>
          <p:cNvPr id="10" name="Picture 9" descr="A graph of data showing the region&#10;&#10;Description automatically generated with medium confidence">
            <a:extLst>
              <a:ext uri="{FF2B5EF4-FFF2-40B4-BE49-F238E27FC236}">
                <a16:creationId xmlns:a16="http://schemas.microsoft.com/office/drawing/2014/main" id="{6D15C805-E276-8FFB-D3F5-37E2455A4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95" y="1130027"/>
            <a:ext cx="8662743" cy="38563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BBE93B1-4309-8FB5-7BC8-6C5DC4CDA512}"/>
              </a:ext>
            </a:extLst>
          </p:cNvPr>
          <p:cNvSpPr txBox="1"/>
          <p:nvPr/>
        </p:nvSpPr>
        <p:spPr>
          <a:xfrm>
            <a:off x="3691107" y="5611364"/>
            <a:ext cx="28874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latin typeface="Aptos" panose="020B0004020202020204" pitchFamily="34" charset="0"/>
              </a:rPr>
              <a:t>4. ICT (14,435)</a:t>
            </a:r>
          </a:p>
          <a:p>
            <a:r>
              <a:rPr lang="en-CA" sz="1600" dirty="0">
                <a:latin typeface="Aptos" panose="020B0004020202020204" pitchFamily="34" charset="0"/>
              </a:rPr>
              <a:t>5. Manufacturing (6,330)</a:t>
            </a:r>
          </a:p>
          <a:p>
            <a:r>
              <a:rPr lang="en-CA" sz="1600" dirty="0">
                <a:latin typeface="Aptos" panose="020B0004020202020204" pitchFamily="34" charset="0"/>
              </a:rPr>
              <a:t>6. Others (1,079)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6715A3-29BE-AF90-9E65-B16DCDE13B54}"/>
              </a:ext>
            </a:extLst>
          </p:cNvPr>
          <p:cNvSpPr txBox="1"/>
          <p:nvPr/>
        </p:nvSpPr>
        <p:spPr>
          <a:xfrm>
            <a:off x="10622023" y="6026862"/>
            <a:ext cx="107854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sng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n=128,615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CB3BC-DC25-1624-C62B-2444676EADB8}"/>
              </a:ext>
            </a:extLst>
          </p:cNvPr>
          <p:cNvSpPr txBox="1"/>
          <p:nvPr/>
        </p:nvSpPr>
        <p:spPr>
          <a:xfrm>
            <a:off x="10277618" y="6262312"/>
            <a:ext cx="1422952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srgbClr val="41404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4,514 excluded, not in NCR</a:t>
            </a:r>
          </a:p>
        </p:txBody>
      </p:sp>
    </p:spTree>
    <p:extLst>
      <p:ext uri="{BB962C8B-B14F-4D97-AF65-F5344CB8AC3E}">
        <p14:creationId xmlns:p14="http://schemas.microsoft.com/office/powerpoint/2010/main" val="28668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92A1-6333-7A44-04EF-C6A4B100C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map of a country&#10;&#10;Description automatically generated">
            <a:extLst>
              <a:ext uri="{FF2B5EF4-FFF2-40B4-BE49-F238E27FC236}">
                <a16:creationId xmlns:a16="http://schemas.microsoft.com/office/drawing/2014/main" id="{DCB754C4-F643-11A6-8AA6-A14F63050C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03" t="5606" r="32250" b="5981"/>
          <a:stretch/>
        </p:blipFill>
        <p:spPr>
          <a:xfrm>
            <a:off x="2092811" y="1169740"/>
            <a:ext cx="3237999" cy="5379968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5DD5F649-9C0E-A18C-F1AE-C28402A027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is the hiring taking place?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E3F00-6676-D91B-ABE0-9A76D7AABB9E}"/>
              </a:ext>
            </a:extLst>
          </p:cNvPr>
          <p:cNvSpPr txBox="1"/>
          <p:nvPr/>
        </p:nvSpPr>
        <p:spPr>
          <a:xfrm>
            <a:off x="5560060" y="2009238"/>
            <a:ext cx="6310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b="1" dirty="0">
                <a:effectLst/>
                <a:latin typeface="Helvetica Neue" panose="02000503000000020004" pitchFamily="2" charset="0"/>
              </a:rPr>
              <a:t>City o</a:t>
            </a:r>
            <a:r>
              <a:rPr lang="en-PH" b="1" dirty="0">
                <a:latin typeface="Helvetica Neue" panose="02000503000000020004" pitchFamily="2" charset="0"/>
              </a:rPr>
              <a:t>f Makati (24,773)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Helvetica Neue" panose="02000503000000020004" pitchFamily="2" charset="0"/>
              </a:rPr>
              <a:t>Sectors: IT, Healthcare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Helvetica Neue" panose="02000503000000020004" pitchFamily="2" charset="0"/>
              </a:rPr>
              <a:t>Jobs: Data Analyst, Data Scientist, Advanced Pre-Hospital Care, Critical Care Paramedic, Customer Care Representative</a:t>
            </a:r>
            <a:br>
              <a:rPr lang="en-PH" dirty="0">
                <a:latin typeface="Helvetica Neue" panose="02000503000000020004" pitchFamily="2" charset="0"/>
              </a:rPr>
            </a:br>
            <a:endParaRPr lang="en-PH" dirty="0"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b="1" dirty="0">
                <a:effectLst/>
                <a:latin typeface="Helvetica Neue" panose="02000503000000020004" pitchFamily="2" charset="0"/>
              </a:rPr>
              <a:t>City of </a:t>
            </a:r>
            <a:r>
              <a:rPr lang="en-PH" b="1" dirty="0" err="1">
                <a:effectLst/>
                <a:latin typeface="Helvetica Neue" panose="02000503000000020004" pitchFamily="2" charset="0"/>
              </a:rPr>
              <a:t>Parañaque</a:t>
            </a:r>
            <a:r>
              <a:rPr lang="en-PH" b="1" dirty="0">
                <a:effectLst/>
                <a:latin typeface="Helvetica Neue" panose="02000503000000020004" pitchFamily="2" charset="0"/>
              </a:rPr>
              <a:t> (22,148)</a:t>
            </a:r>
            <a:endParaRPr lang="en-PH" b="1" dirty="0"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effectLst/>
                <a:latin typeface="Helvetica Neue" panose="02000503000000020004" pitchFamily="2" charset="0"/>
              </a:rPr>
              <a:t>Sectors: Construction, Logistics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Helvetica Neue" panose="02000503000000020004" pitchFamily="2" charset="0"/>
              </a:rPr>
              <a:t>Jobs: Line Worker, Mason, Plumber, Automotive Maintenance, Cargo, Delivery</a:t>
            </a:r>
            <a:br>
              <a:rPr lang="en-PH" dirty="0">
                <a:latin typeface="Helvetica Neue" panose="02000503000000020004" pitchFamily="2" charset="0"/>
              </a:rPr>
            </a:br>
            <a:endParaRPr lang="en-PH" dirty="0">
              <a:effectLst/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b="1" dirty="0">
                <a:latin typeface="Helvetica Neue" panose="02000503000000020004" pitchFamily="2" charset="0"/>
              </a:rPr>
              <a:t>Quezon City (20,237)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effectLst/>
                <a:latin typeface="Helvetica Neue" panose="02000503000000020004" pitchFamily="2" charset="0"/>
              </a:rPr>
              <a:t>Sectors: Healthcare (Wellness), Manufacturing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Helvetica Neue" panose="02000503000000020004" pitchFamily="2" charset="0"/>
              </a:rPr>
              <a:t>Jobs: Aesthetician, Skin Care Specialist, Eyelash and Eyebrow &amp; Nail Technicians, </a:t>
            </a:r>
            <a:br>
              <a:rPr lang="en-PH" dirty="0">
                <a:latin typeface="Helvetica Neue" panose="02000503000000020004" pitchFamily="2" charset="0"/>
              </a:rPr>
            </a:br>
            <a:r>
              <a:rPr lang="en-PH" dirty="0">
                <a:latin typeface="Helvetica Neue" panose="02000503000000020004" pitchFamily="2" charset="0"/>
              </a:rPr>
              <a:t>Food Processing Trade Workers</a:t>
            </a:r>
            <a:endParaRPr lang="en-PH" dirty="0">
              <a:effectLst/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6447F-79C9-CCD3-1042-5F3B965732CC}"/>
              </a:ext>
            </a:extLst>
          </p:cNvPr>
          <p:cNvSpPr txBox="1"/>
          <p:nvPr/>
        </p:nvSpPr>
        <p:spPr>
          <a:xfrm>
            <a:off x="321060" y="6465358"/>
            <a:ext cx="6016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From Phase 1B data, Hiring Sum derived from both indicated values by companies that gave exact hiring numbers, and estimated values from companies that answered hiring ranges: low  (50), medium  (250), and high (500)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E0147A-9432-CDF5-9A9C-B52A249A429B}"/>
              </a:ext>
            </a:extLst>
          </p:cNvPr>
          <p:cNvSpPr txBox="1"/>
          <p:nvPr/>
        </p:nvSpPr>
        <p:spPr>
          <a:xfrm>
            <a:off x="5560060" y="1229374"/>
            <a:ext cx="420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3 Municipalities in NCR</a:t>
            </a:r>
          </a:p>
          <a:p>
            <a:r>
              <a:rPr lang="en-US" b="1" dirty="0"/>
              <a:t>Companies Are Hiring From</a:t>
            </a:r>
          </a:p>
        </p:txBody>
      </p:sp>
      <p:pic>
        <p:nvPicPr>
          <p:cNvPr id="2" name="Picture 1" descr="A logo for a foundation&#10;&#10;Description automatically generated">
            <a:extLst>
              <a:ext uri="{FF2B5EF4-FFF2-40B4-BE49-F238E27FC236}">
                <a16:creationId xmlns:a16="http://schemas.microsoft.com/office/drawing/2014/main" id="{FC4FAD7E-04E8-8F08-2BE5-DC8EBAFAC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473" y="5962626"/>
            <a:ext cx="1106467" cy="779795"/>
          </a:xfrm>
          <a:prstGeom prst="round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91D73D-3054-BCB6-5BFB-C4EA09A69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637382"/>
              </p:ext>
            </p:extLst>
          </p:nvPr>
        </p:nvGraphicFramePr>
        <p:xfrm>
          <a:off x="321060" y="4956740"/>
          <a:ext cx="1865549" cy="1463040"/>
        </p:xfrm>
        <a:graphic>
          <a:graphicData uri="http://schemas.openxmlformats.org/drawingml/2006/table">
            <a:tbl>
              <a:tblPr firstRow="1" bandRow="1"/>
              <a:tblGrid>
                <a:gridCol w="686105">
                  <a:extLst>
                    <a:ext uri="{9D8B030D-6E8A-4147-A177-3AD203B41FA5}">
                      <a16:colId xmlns:a16="http://schemas.microsoft.com/office/drawing/2014/main" val="2016847741"/>
                    </a:ext>
                  </a:extLst>
                </a:gridCol>
                <a:gridCol w="1179444">
                  <a:extLst>
                    <a:ext uri="{9D8B030D-6E8A-4147-A177-3AD203B41FA5}">
                      <a16:colId xmlns:a16="http://schemas.microsoft.com/office/drawing/2014/main" val="281285233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/>
                        <a:t>Legend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Hiring Sum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00498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Highest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20,000 - 25,000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4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5808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5,000-20,000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4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04458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1,000-5,000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7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1058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1000" dirty="0"/>
                        <a:t>100-1,000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490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0, (Pateros)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12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158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76D6-C111-A034-7C9A-BAE5FFBD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C308-1F86-7CB2-9071-4CF24843F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6238" y="3182779"/>
            <a:ext cx="8439419" cy="49244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TALENT SUPPLY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44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A036-AB68-9480-1AE4-8EFF3490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map of a country&#10;&#10;Description automatically generated">
            <a:extLst>
              <a:ext uri="{FF2B5EF4-FFF2-40B4-BE49-F238E27FC236}">
                <a16:creationId xmlns:a16="http://schemas.microsoft.com/office/drawing/2014/main" id="{6A1FBEB6-F905-ECCC-A216-D94BF5BF0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54" t="6154" r="33623" b="8761"/>
          <a:stretch/>
        </p:blipFill>
        <p:spPr>
          <a:xfrm>
            <a:off x="8640610" y="1358473"/>
            <a:ext cx="3036326" cy="5395379"/>
          </a:xfrm>
          <a:prstGeom prst="rect">
            <a:avLst/>
          </a:prstGeom>
        </p:spPr>
      </p:pic>
      <p:pic>
        <p:nvPicPr>
          <p:cNvPr id="5" name="Picture 4" descr="A map of a country&#10;&#10;Description automatically generated">
            <a:extLst>
              <a:ext uri="{FF2B5EF4-FFF2-40B4-BE49-F238E27FC236}">
                <a16:creationId xmlns:a16="http://schemas.microsoft.com/office/drawing/2014/main" id="{4A03659A-094B-63E6-9B6F-3ACC2C9ED1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545" t="6584" r="34993" b="10196"/>
          <a:stretch/>
        </p:blipFill>
        <p:spPr>
          <a:xfrm>
            <a:off x="5387559" y="1476522"/>
            <a:ext cx="2896143" cy="5095718"/>
          </a:xfrm>
          <a:prstGeom prst="rect">
            <a:avLst/>
          </a:prstGeom>
        </p:spPr>
      </p:pic>
      <p:sp>
        <p:nvSpPr>
          <p:cNvPr id="11" name="矩形 3">
            <a:extLst>
              <a:ext uri="{FF2B5EF4-FFF2-40B4-BE49-F238E27FC236}">
                <a16:creationId xmlns:a16="http://schemas.microsoft.com/office/drawing/2014/main" id="{16668E50-3837-0DE4-8698-D6DF07C4569A}"/>
              </a:ext>
            </a:extLst>
          </p:cNvPr>
          <p:cNvSpPr/>
          <p:nvPr/>
        </p:nvSpPr>
        <p:spPr>
          <a:xfrm>
            <a:off x="293080" y="2055883"/>
            <a:ext cx="4327044" cy="3084941"/>
          </a:xfrm>
          <a:prstGeom prst="rect">
            <a:avLst/>
          </a:prstGeom>
          <a:solidFill>
            <a:srgbClr val="00205A">
              <a:alpha val="4000"/>
            </a:srgbClr>
          </a:solidFill>
          <a:ln w="34925" cap="flat" cmpd="sng" algn="ctr">
            <a:noFill/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B4B9C-0236-1139-6D8E-F65C8ABF0D37}"/>
              </a:ext>
            </a:extLst>
          </p:cNvPr>
          <p:cNvSpPr txBox="1"/>
          <p:nvPr/>
        </p:nvSpPr>
        <p:spPr>
          <a:xfrm>
            <a:off x="372459" y="2243186"/>
            <a:ext cx="41006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3 out of 10 schools (30%) have more than the average number of graduates (310), holding between &gt;310 – 3191 graduates</a:t>
            </a:r>
            <a:br>
              <a:rPr lang="en-US" sz="1600" b="1" dirty="0"/>
            </a:br>
            <a:endParaRPr lang="en-PH" sz="1600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sz="1600" dirty="0"/>
              <a:t>Only 5.9% of schools produce over 1,000 graduates, found in Quezon City, Manila City, and Makati City</a:t>
            </a:r>
            <a:br>
              <a:rPr lang="en-PH" sz="1600" dirty="0"/>
            </a:br>
            <a:endParaRPr lang="en-PH" sz="1600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sz="1600" dirty="0"/>
              <a:t>The median number of graduates per school are 165 students yearly</a:t>
            </a:r>
            <a:endParaRPr kumimoji="0" lang="en-PH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rlow" pitchFamily="2" charset="77"/>
            </a:endParaRPr>
          </a:p>
          <a:p>
            <a:endParaRPr lang="en-CA" sz="1600" dirty="0">
              <a:latin typeface="Aptos" panose="020B00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6B78BA8-39AE-C307-D0B1-A86B011CF066}"/>
              </a:ext>
            </a:extLst>
          </p:cNvPr>
          <p:cNvSpPr/>
          <p:nvPr/>
        </p:nvSpPr>
        <p:spPr>
          <a:xfrm>
            <a:off x="293079" y="1830080"/>
            <a:ext cx="4327045" cy="324326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kern="0" dirty="0">
                <a:solidFill>
                  <a:srgbClr val="FFFFFF"/>
                </a:solidFill>
                <a:latin typeface="+mj-lt"/>
                <a:cs typeface="Poppins"/>
              </a:rPr>
              <a:t>Key Insights</a:t>
            </a:r>
            <a:endParaRPr kumimoji="0" lang="en-CA" sz="1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Poppi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D2876-57F5-CD23-F3E9-1FB782866C2B}"/>
              </a:ext>
            </a:extLst>
          </p:cNvPr>
          <p:cNvSpPr txBox="1"/>
          <p:nvPr/>
        </p:nvSpPr>
        <p:spPr>
          <a:xfrm>
            <a:off x="413221" y="1054487"/>
            <a:ext cx="10446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dirty="0"/>
              <a:t>More than half of all TVET institutions in NCR are small-scale, with </a:t>
            </a:r>
            <a:r>
              <a:rPr lang="en-PH" dirty="0"/>
              <a:t>70</a:t>
            </a:r>
            <a:r>
              <a:rPr lang="en-PH" sz="1800" dirty="0"/>
              <a:t>% producing fewer than the average of </a:t>
            </a:r>
            <a:r>
              <a:rPr lang="en-PH" dirty="0"/>
              <a:t>310</a:t>
            </a:r>
            <a:r>
              <a:rPr lang="en-PH" sz="1800" dirty="0"/>
              <a:t> graduates each.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4F2E270-028C-EB61-4BB9-9A04E5A76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220" y="253978"/>
            <a:ext cx="10832296" cy="461665"/>
          </a:xfrm>
          <a:ln>
            <a:noFill/>
          </a:ln>
        </p:spPr>
        <p:txBody>
          <a:bodyPr/>
          <a:lstStyle/>
          <a:p>
            <a:r>
              <a:rPr lang="en-CA" sz="3000" dirty="0"/>
              <a:t>109,612 TVET graduates in 2024 spread out over 353 </a:t>
            </a:r>
            <a:r>
              <a:rPr lang="en-CA" sz="2800" dirty="0"/>
              <a:t>institutes</a:t>
            </a:r>
            <a:endParaRPr lang="en-US" sz="3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47335-0CDC-7464-7F42-F2DC1E85FCF0}"/>
              </a:ext>
            </a:extLst>
          </p:cNvPr>
          <p:cNvSpPr txBox="1"/>
          <p:nvPr/>
        </p:nvSpPr>
        <p:spPr>
          <a:xfrm>
            <a:off x="293080" y="6557587"/>
            <a:ext cx="60089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TVET graduates per institute obtained from TESDA data, from TESDA-ICTO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4A74D6-3EFB-8BAD-7F4E-61D411D66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577076"/>
              </p:ext>
            </p:extLst>
          </p:nvPr>
        </p:nvGraphicFramePr>
        <p:xfrm>
          <a:off x="372459" y="5280087"/>
          <a:ext cx="2515119" cy="1188720"/>
        </p:xfrm>
        <a:graphic>
          <a:graphicData uri="http://schemas.openxmlformats.org/drawingml/2006/table">
            <a:tbl>
              <a:tblPr firstRow="1" bandRow="1"/>
              <a:tblGrid>
                <a:gridCol w="759493">
                  <a:extLst>
                    <a:ext uri="{9D8B030D-6E8A-4147-A177-3AD203B41FA5}">
                      <a16:colId xmlns:a16="http://schemas.microsoft.com/office/drawing/2014/main" val="2016847741"/>
                    </a:ext>
                  </a:extLst>
                </a:gridCol>
                <a:gridCol w="877813">
                  <a:extLst>
                    <a:ext uri="{9D8B030D-6E8A-4147-A177-3AD203B41FA5}">
                      <a16:colId xmlns:a16="http://schemas.microsoft.com/office/drawing/2014/main" val="2812852333"/>
                    </a:ext>
                  </a:extLst>
                </a:gridCol>
                <a:gridCol w="877813">
                  <a:extLst>
                    <a:ext uri="{9D8B030D-6E8A-4147-A177-3AD203B41FA5}">
                      <a16:colId xmlns:a16="http://schemas.microsoft.com/office/drawing/2014/main" val="282756434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800" dirty="0">
                          <a:latin typeface="+mn-lt"/>
                        </a:rPr>
                        <a:t>Legend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TVET Graduates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Graduates per Institute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73442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latin typeface="+mn-lt"/>
                        </a:rPr>
                        <a:t>Very High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15,000-20,000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B1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  <a:latin typeface="+mn-lt"/>
                        </a:rPr>
                        <a:t>         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1500 - 3191</a:t>
                      </a:r>
                      <a:endParaRPr lang="en-US" sz="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5808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latin typeface="+mn-lt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10,000-15,000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D2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         1000 - 1500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04458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latin typeface="+mn-lt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5,000-10,000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         310 - 1000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1058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latin typeface="+mn-lt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0-5,000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         0 - 310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490609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F5FD4CE1-EB4D-5B2E-5D8A-24919EA83880}"/>
              </a:ext>
            </a:extLst>
          </p:cNvPr>
          <p:cNvSpPr/>
          <p:nvPr/>
        </p:nvSpPr>
        <p:spPr>
          <a:xfrm>
            <a:off x="2055206" y="5656201"/>
            <a:ext cx="150660" cy="1512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13DD72D-5CAC-38EC-4B7B-080CBF9FAF2A}"/>
              </a:ext>
            </a:extLst>
          </p:cNvPr>
          <p:cNvSpPr/>
          <p:nvPr/>
        </p:nvSpPr>
        <p:spPr>
          <a:xfrm>
            <a:off x="2072402" y="5902516"/>
            <a:ext cx="118700" cy="112279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EC48449-50EE-02E9-41BE-D9D9184FC67B}"/>
              </a:ext>
            </a:extLst>
          </p:cNvPr>
          <p:cNvSpPr/>
          <p:nvPr/>
        </p:nvSpPr>
        <p:spPr>
          <a:xfrm>
            <a:off x="2083592" y="6109880"/>
            <a:ext cx="84309" cy="85166"/>
          </a:xfrm>
          <a:prstGeom prst="ellipse">
            <a:avLst/>
          </a:prstGeom>
          <a:solidFill>
            <a:srgbClr val="79AE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CB49E0-34B2-9C37-BE71-6E97EBCD3A49}"/>
              </a:ext>
            </a:extLst>
          </p:cNvPr>
          <p:cNvSpPr/>
          <p:nvPr/>
        </p:nvSpPr>
        <p:spPr>
          <a:xfrm flipV="1">
            <a:off x="2102888" y="6334308"/>
            <a:ext cx="45719" cy="45719"/>
          </a:xfrm>
          <a:prstGeom prst="ellipse">
            <a:avLst/>
          </a:prstGeom>
          <a:solidFill>
            <a:srgbClr val="79AE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for a foundation&#10;&#10;Description automatically generated">
            <a:extLst>
              <a:ext uri="{FF2B5EF4-FFF2-40B4-BE49-F238E27FC236}">
                <a16:creationId xmlns:a16="http://schemas.microsoft.com/office/drawing/2014/main" id="{52AB7137-6A1E-D50B-C386-8089CC6784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912" y="285528"/>
            <a:ext cx="1106467" cy="779795"/>
          </a:xfrm>
          <a:prstGeom prst="round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83CA87-8E4B-BABB-4F37-BA0CEE460C46}"/>
              </a:ext>
            </a:extLst>
          </p:cNvPr>
          <p:cNvSpPr txBox="1"/>
          <p:nvPr/>
        </p:nvSpPr>
        <p:spPr>
          <a:xfrm>
            <a:off x="6116728" y="6522971"/>
            <a:ext cx="14769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Big Institutes in NCR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FEA2E-4074-CD8F-0483-F3F09B1E6DAB}"/>
              </a:ext>
            </a:extLst>
          </p:cNvPr>
          <p:cNvSpPr txBox="1"/>
          <p:nvPr/>
        </p:nvSpPr>
        <p:spPr>
          <a:xfrm>
            <a:off x="9219141" y="6522971"/>
            <a:ext cx="1640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Smaller  Institutes in NCR</a:t>
            </a:r>
          </a:p>
        </p:txBody>
      </p:sp>
    </p:spTree>
    <p:extLst>
      <p:ext uri="{BB962C8B-B14F-4D97-AF65-F5344CB8AC3E}">
        <p14:creationId xmlns:p14="http://schemas.microsoft.com/office/powerpoint/2010/main" val="339486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9A07-FDA5-8ABA-30FF-4B8987C03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outputs attributed to Wadhwani Skilling Network - PH</a:t>
            </a:r>
          </a:p>
        </p:txBody>
      </p:sp>
      <p:pic>
        <p:nvPicPr>
          <p:cNvPr id="4" name="Picture 3" descr="A logo of a foundation&#10;&#10;Description automatically generated">
            <a:extLst>
              <a:ext uri="{FF2B5EF4-FFF2-40B4-BE49-F238E27FC236}">
                <a16:creationId xmlns:a16="http://schemas.microsoft.com/office/drawing/2014/main" id="{3CDA8E51-88D9-4AC3-45A0-8EB8E3DA3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14" y="1164082"/>
            <a:ext cx="9182100" cy="452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3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WadhwaniFnd 1">
      <a:dk1>
        <a:srgbClr val="414041"/>
      </a:dk1>
      <a:lt1>
        <a:srgbClr val="FFFFFF"/>
      </a:lt1>
      <a:dk2>
        <a:srgbClr val="BF2026"/>
      </a:dk2>
      <a:lt2>
        <a:srgbClr val="F2672A"/>
      </a:lt2>
      <a:accent1>
        <a:srgbClr val="F68720"/>
      </a:accent1>
      <a:accent2>
        <a:srgbClr val="23D3BC"/>
      </a:accent2>
      <a:accent3>
        <a:srgbClr val="2380D1"/>
      </a:accent3>
      <a:accent4>
        <a:srgbClr val="66208F"/>
      </a:accent4>
      <a:accent5>
        <a:srgbClr val="FFFFE3"/>
      </a:accent5>
      <a:accent6>
        <a:srgbClr val="003E73"/>
      </a:accent6>
      <a:hlink>
        <a:srgbClr val="FF868F"/>
      </a:hlink>
      <a:folHlink>
        <a:srgbClr val="228293"/>
      </a:folHlink>
    </a:clrScheme>
    <a:fontScheme name="Adani">
      <a:majorFont>
        <a:latin typeface="Barlow-SemiBold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Barlow-Regular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0" tIns="0" rIns="0" bIns="180000" rtlCol="0" anchor="ctr" anchorCtr="0">
        <a:spAutoFit/>
      </a:bodyPr>
      <a:lstStyle>
        <a:defPPr algn="l">
          <a:lnSpc>
            <a:spcPct val="100000"/>
          </a:lnSpc>
          <a:defRPr sz="20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656897-8389-4b31-a51c-10636181daaf" xsi:nil="true"/>
    <lcf76f155ced4ddcb4097134ff3c332f xmlns="d42a328f-30ff-444b-a4b5-1a76757eb3c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E9586C1C38D7478B28C6AC5144F299" ma:contentTypeVersion="15" ma:contentTypeDescription="Create a new document." ma:contentTypeScope="" ma:versionID="3c043337381cf00ddc42bbc7afd1c95c">
  <xsd:schema xmlns:xsd="http://www.w3.org/2001/XMLSchema" xmlns:xs="http://www.w3.org/2001/XMLSchema" xmlns:p="http://schemas.microsoft.com/office/2006/metadata/properties" xmlns:ns2="d42a328f-30ff-444b-a4b5-1a76757eb3cc" xmlns:ns3="1b656897-8389-4b31-a51c-10636181daaf" targetNamespace="http://schemas.microsoft.com/office/2006/metadata/properties" ma:root="true" ma:fieldsID="6309e621b282e3b71fed3b6cfcf14bfa" ns2:_="" ns3:_="">
    <xsd:import namespace="d42a328f-30ff-444b-a4b5-1a76757eb3cc"/>
    <xsd:import namespace="1b656897-8389-4b31-a51c-10636181da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a328f-30ff-444b-a4b5-1a76757eb3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946087a-6933-4ded-9d62-3e077cd214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56897-8389-4b31-a51c-10636181daa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2a4d314-6d17-43ea-885b-8798450f0dd0}" ma:internalName="TaxCatchAll" ma:showField="CatchAllData" ma:web="1b656897-8389-4b31-a51c-10636181da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D03D87-98DF-4C74-8B7E-E630031E09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6D035D-82C6-49A2-9248-BBBC6400549D}">
  <ds:schemaRefs>
    <ds:schemaRef ds:uri="d42a328f-30ff-444b-a4b5-1a76757eb3cc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1b656897-8389-4b31-a51c-10636181daaf"/>
  </ds:schemaRefs>
</ds:datastoreItem>
</file>

<file path=customXml/itemProps3.xml><?xml version="1.0" encoding="utf-8"?>
<ds:datastoreItem xmlns:ds="http://schemas.openxmlformats.org/officeDocument/2006/customXml" ds:itemID="{7E974D66-C89D-4EEF-ABDC-19A6D1F54C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2a328f-30ff-444b-a4b5-1a76757eb3cc"/>
    <ds:schemaRef ds:uri="1b656897-8389-4b31-a51c-10636181da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35632</TotalTime>
  <Words>740</Words>
  <Application>Microsoft Office PowerPoint</Application>
  <PresentationFormat>Widescreen</PresentationFormat>
  <Paragraphs>118</Paragraphs>
  <Slides>9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1_Office Theme</vt:lpstr>
      <vt:lpstr>National Capital Region (NCR) EMPLOYMENT DEMAND</vt:lpstr>
      <vt:lpstr>The study sampled 100 companies with 133,129 projected job openings</vt:lpstr>
      <vt:lpstr>Who do employers want to hire?</vt:lpstr>
      <vt:lpstr>NCR ABDD VS CEBU CHAMBER</vt:lpstr>
      <vt:lpstr>128,615 potential hiring in NCR from 97 companies, mainly in Pasay &amp; Makati, MuntiParLasTapaT, and CAMANAVA</vt:lpstr>
      <vt:lpstr>Where is the hiring taking place?</vt:lpstr>
      <vt:lpstr>TALENT SUPPLY</vt:lpstr>
      <vt:lpstr>109,612 TVET graduates in 2024 spread out over 353 institutes</vt:lpstr>
      <vt:lpstr>Research outputs attributed to Wadhwani Skilling Network - 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Chen</dc:creator>
  <cp:lastModifiedBy>Christine Fausto</cp:lastModifiedBy>
  <cp:revision>67</cp:revision>
  <dcterms:created xsi:type="dcterms:W3CDTF">2025-05-01T22:46:19Z</dcterms:created>
  <dcterms:modified xsi:type="dcterms:W3CDTF">2026-06-27T17:44:02Z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0x01010011E9586C1C38D7478B28C6AC5144F299</vt:lpwstr>
  </property>
  <property fmtid="{D5CDD505-2E9C-101B-9397-08002B2CF9AE}" pid="3" name="MediaServiceImageTags">
    <vt:lpwstr/>
  </property>
</Properties>
</file>