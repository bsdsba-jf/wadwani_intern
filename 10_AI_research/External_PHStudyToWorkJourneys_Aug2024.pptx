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304" r:id="rId2"/>
    <p:sldId id="258" r:id="rId3"/>
    <p:sldId id="259" r:id="rId4"/>
    <p:sldId id="260" r:id="rId5"/>
    <p:sldId id="261" r:id="rId6"/>
    <p:sldId id="262" r:id="rId7"/>
    <p:sldId id="263" r:id="rId8"/>
    <p:sldId id="264" r:id="rId9"/>
    <p:sldId id="265" r:id="rId10"/>
    <p:sldId id="266" r:id="rId11"/>
    <p:sldId id="305" r:id="rId12"/>
    <p:sldId id="306" r:id="rId13"/>
    <p:sldId id="308" r:id="rId14"/>
    <p:sldId id="307" r:id="rId15"/>
    <p:sldId id="309" r:id="rId16"/>
    <p:sldId id="267" r:id="rId17"/>
    <p:sldId id="268" r:id="rId18"/>
  </p:sldIdLst>
  <p:sldSz cx="9144000" cy="5143500" type="screen16x9"/>
  <p:notesSz cx="6858000" cy="9144000"/>
  <p:embeddedFontLst>
    <p:embeddedFont>
      <p:font typeface="Poppins" pitchFamily="2" charset="77"/>
      <p:regular r:id="rId20"/>
      <p:bold r:id="rId21"/>
      <p:italic r:id="rId22"/>
      <p:boldItalic r:id="rId23"/>
    </p:embeddedFont>
    <p:embeddedFont>
      <p:font typeface="Poppins Medium" panose="020B0604020202020204" pitchFamily="34" charset="0"/>
      <p:regular r:id="rId24"/>
      <p:bold r:id="rId25"/>
      <p:italic r:id="rId26"/>
      <p:boldItalic r:id="rId27"/>
    </p:embeddedFont>
    <p:embeddedFont>
      <p:font typeface="Poppins SemiBold" panose="020B060402020202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F198201-5B32-8E46-B089-E4E95846CE17}">
          <p14:sldIdLst>
            <p14:sldId id="304"/>
            <p14:sldId id="258"/>
            <p14:sldId id="259"/>
            <p14:sldId id="260"/>
            <p14:sldId id="261"/>
            <p14:sldId id="262"/>
            <p14:sldId id="263"/>
            <p14:sldId id="264"/>
            <p14:sldId id="265"/>
            <p14:sldId id="266"/>
            <p14:sldId id="305"/>
            <p14:sldId id="306"/>
            <p14:sldId id="308"/>
            <p14:sldId id="307"/>
            <p14:sldId id="309"/>
          </p14:sldIdLst>
        </p14:section>
        <p14:section name="Implication" id="{3CEAF4E1-7F6F-0945-944D-BBA62D3939F6}">
          <p14:sldIdLst>
            <p14:sldId id="267"/>
            <p14:sldId id="268"/>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EE8382-1F99-9D93-0210-32B3A4E8FEA2}" v="1" dt="2025-06-24T02:24:19.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9"/>
    <p:restoredTop sz="81413"/>
  </p:normalViewPr>
  <p:slideViewPr>
    <p:cSldViewPr snapToGrid="0">
      <p:cViewPr>
        <p:scale>
          <a:sx n="144" d="100"/>
          <a:sy n="144" d="100"/>
        </p:scale>
        <p:origin x="400" y="48"/>
      </p:cViewPr>
      <p:guideLst>
        <p:guide orient="horz" pos="1620"/>
        <p:guide pos="2880"/>
      </p:guideLst>
    </p:cSldViewPr>
  </p:slideViewPr>
  <p:notesTextViewPr>
    <p:cViewPr>
      <p:scale>
        <a:sx n="95" d="100"/>
        <a:sy n="9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76f73254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76f73254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76f73254f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76f73254f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76f73254f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76f73254f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76f73254f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76f73254f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76f73254f9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76f73254f9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76f73254f9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76f73254f9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rgbClr val="0A070D"/>
              </a:buClr>
              <a:buSzPts val="1000"/>
              <a:buFont typeface="Poppins"/>
              <a:buChar cha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76f73254f9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76f73254f9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rgbClr val="0A070D"/>
              </a:buClr>
              <a:buSzPts val="1000"/>
              <a:buFont typeface="Poppins"/>
              <a:buChar cha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76f73254f9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76f73254f9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rgbClr val="0A070D"/>
              </a:buClr>
              <a:buSzPts val="1000"/>
              <a:buFont typeface="Poppins"/>
              <a:buChar cha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76f73254f9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76f73254f9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rgbClr val="0A070D"/>
              </a:buClr>
              <a:buSzPts val="1000"/>
              <a:buFont typeface="Poppins"/>
              <a:buChar char="●"/>
            </a:pPr>
            <a:endParaRPr lang="en-CA"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181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1685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Notes</a:t>
            </a:r>
          </a:p>
          <a:p>
            <a:r>
              <a:rPr lang="en-US" dirty="0"/>
              <a:t>Action 1: Forecast of Jobs and </a:t>
            </a:r>
            <a:r>
              <a:rPr lang="en-US" dirty="0" err="1"/>
              <a:t>Labour</a:t>
            </a:r>
            <a:r>
              <a:rPr lang="en-US" dirty="0"/>
              <a:t> Market Forecast; until 2025; </a:t>
            </a:r>
          </a:p>
          <a:p>
            <a:r>
              <a:rPr lang="en-US" dirty="0"/>
              <a:t>Action 2: Regional Summits where key sectors + LMI ; </a:t>
            </a:r>
          </a:p>
          <a:p>
            <a:r>
              <a:rPr lang="en-US" dirty="0"/>
              <a:t>Action 3: generic email link; </a:t>
            </a:r>
          </a:p>
          <a:p>
            <a:r>
              <a:rPr lang="en-US" dirty="0"/>
              <a:t>Government interns are available to help with placement -&gt; JPO linked to the PESO ; there is an annual event to incentivize the best JPOs (Batangas – </a:t>
            </a:r>
            <a:r>
              <a:rPr lang="en-US" dirty="0" err="1"/>
              <a:t>BatSU</a:t>
            </a:r>
            <a:r>
              <a:rPr lang="en-US" dirty="0"/>
              <a:t>; LPU); based on the LGU categories if highly urbanized; they are under the LGUs but deliver the programs from the DOLE; there are new laws that are there to strengthen the DOLE. </a:t>
            </a:r>
          </a:p>
          <a:p>
            <a:r>
              <a:rPr lang="en-US" dirty="0"/>
              <a:t>How about the ones that are not performing well right now -&gt; not having financial support from the LGU, benchmarking across; </a:t>
            </a:r>
          </a:p>
          <a:p>
            <a:r>
              <a:rPr lang="en-US" dirty="0"/>
              <a:t>How to identify the PESO office from the sector first; </a:t>
            </a:r>
          </a:p>
          <a:p>
            <a:r>
              <a:rPr lang="en-US" dirty="0"/>
              <a:t>Career Development Support; CDSB; consortium with other agencies; provide youth with information on labor market information; Guidance counsellor </a:t>
            </a:r>
          </a:p>
          <a:p>
            <a:r>
              <a:rPr lang="en-US" dirty="0"/>
              <a:t>Major National job fairs; June 12</a:t>
            </a:r>
            <a:r>
              <a:rPr lang="en-US" baseline="30000" dirty="0"/>
              <a:t>th</a:t>
            </a:r>
            <a:r>
              <a:rPr lang="en-US" dirty="0"/>
              <a:t> hired on the spot data; and near-hires; </a:t>
            </a:r>
          </a:p>
          <a:p>
            <a:r>
              <a:rPr lang="en-US" dirty="0"/>
              <a:t>Private manpower agencies; DOLE doesn’t have access to the workers but only to the agencies; &lt;200 are accredited and only ¼ have licenses that last for 3 years; they got the licenses 2 years ago and now they are not so many; </a:t>
            </a:r>
          </a:p>
        </p:txBody>
      </p:sp>
    </p:spTree>
    <p:extLst>
      <p:ext uri="{BB962C8B-B14F-4D97-AF65-F5344CB8AC3E}">
        <p14:creationId xmlns:p14="http://schemas.microsoft.com/office/powerpoint/2010/main" val="1818387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0019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76f73254f9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76f73254f9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76f73254f9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76f73254f9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Section Layou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49238" y="569214"/>
            <a:ext cx="8651875" cy="2674620"/>
          </a:xfrm>
        </p:spPr>
        <p:txBody>
          <a:bodyPr anchor="b">
            <a:normAutofit/>
          </a:bodyPr>
          <a:lstStyle>
            <a:lvl1pPr algn="l">
              <a:lnSpc>
                <a:spcPct val="85000"/>
              </a:lnSpc>
              <a:defRPr sz="3200" spc="-38" baseline="0">
                <a:solidFill>
                  <a:schemeClr val="tx1"/>
                </a:solidFill>
              </a:defRPr>
            </a:lvl1pPr>
          </a:lstStyle>
          <a:p>
            <a:r>
              <a:rPr lang="en-US" dirty="0"/>
              <a:t>Section Title</a:t>
            </a:r>
          </a:p>
        </p:txBody>
      </p:sp>
      <p:cxnSp>
        <p:nvCxnSpPr>
          <p:cNvPr id="9" name="Straight Connector 8"/>
          <p:cNvCxnSpPr/>
          <p:nvPr/>
        </p:nvCxnSpPr>
        <p:spPr>
          <a:xfrm>
            <a:off x="249238" y="3257550"/>
            <a:ext cx="865187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2381" y="4891097"/>
            <a:ext cx="9141619" cy="252000"/>
          </a:xfrm>
          <a:prstGeom prst="rect">
            <a:avLst/>
          </a:prstGeom>
          <a:solidFill>
            <a:srgbClr val="E64A4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7" name="Text Placeholder 6"/>
          <p:cNvSpPr>
            <a:spLocks noGrp="1"/>
          </p:cNvSpPr>
          <p:nvPr>
            <p:ph type="body" sz="quarter" idx="10"/>
          </p:nvPr>
        </p:nvSpPr>
        <p:spPr>
          <a:xfrm>
            <a:off x="249238" y="3353594"/>
            <a:ext cx="8651875" cy="950913"/>
          </a:xfrm>
        </p:spPr>
        <p:txBody>
          <a:bodyPr/>
          <a:lstStyle>
            <a:lvl4pP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6140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hyperlink" Target="https://news.noona.ph/2023/10/03/a6ae6fe4-82e1-46a3-9446-1a785005b631/" TargetMode="External"/><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School-to-Work Transitions in the Philippines</a:t>
            </a:r>
            <a:endParaRPr lang="en-IN" dirty="0"/>
          </a:p>
        </p:txBody>
      </p:sp>
      <p:sp>
        <p:nvSpPr>
          <p:cNvPr id="3" name="Slide Number Placeholder 2"/>
          <p:cNvSpPr>
            <a:spLocks noGrp="1"/>
          </p:cNvSpPr>
          <p:nvPr>
            <p:ph type="sldNum" sz="quarter" idx="4294967295"/>
          </p:nvPr>
        </p:nvSpPr>
        <p:spPr>
          <a:xfrm>
            <a:off x="8386273" y="4891097"/>
            <a:ext cx="498983" cy="251396"/>
          </a:xfrm>
        </p:spPr>
        <p:txBody>
          <a:bodyPr>
            <a:normAutofit fontScale="47500" lnSpcReduction="20000"/>
          </a:bodyPr>
          <a:lstStyle/>
          <a:p>
            <a:fld id="{4FAB73BC-B049-4115-A692-8D63A059BFB8}" type="slidenum">
              <a:rPr lang="en-US" smtClean="0"/>
              <a:pPr/>
              <a:t>1</a:t>
            </a:fld>
            <a:endParaRPr lang="en-US" dirty="0"/>
          </a:p>
        </p:txBody>
      </p:sp>
      <p:sp>
        <p:nvSpPr>
          <p:cNvPr id="4" name="Google Shape;101;p15">
            <a:extLst>
              <a:ext uri="{FF2B5EF4-FFF2-40B4-BE49-F238E27FC236}">
                <a16:creationId xmlns:a16="http://schemas.microsoft.com/office/drawing/2014/main" id="{68FFB7F3-40DB-1282-7AD6-D62D0AA0E243}"/>
              </a:ext>
            </a:extLst>
          </p:cNvPr>
          <p:cNvSpPr txBox="1"/>
          <p:nvPr/>
        </p:nvSpPr>
        <p:spPr>
          <a:xfrm>
            <a:off x="249238" y="3366517"/>
            <a:ext cx="883529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600"/>
              <a:buFont typeface="Arial"/>
              <a:buNone/>
              <a:tabLst/>
              <a:defRPr/>
            </a:pPr>
            <a:r>
              <a:rPr kumimoji="0" lang="en-CA" sz="12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WF Philippines</a:t>
            </a:r>
          </a:p>
          <a:p>
            <a:pPr marL="0" marR="0" lvl="0" indent="0" algn="l" defTabSz="914400" rtl="0" eaLnBrk="1" fontAlgn="auto" latinLnBrk="0" hangingPunct="1">
              <a:lnSpc>
                <a:spcPct val="100000"/>
              </a:lnSpc>
              <a:spcBef>
                <a:spcPts val="0"/>
              </a:spcBef>
              <a:spcAft>
                <a:spcPts val="0"/>
              </a:spcAft>
              <a:buClr>
                <a:srgbClr val="000000"/>
              </a:buClr>
              <a:buSzPts val="2600"/>
              <a:buFont typeface="Arial"/>
              <a:buNone/>
              <a:tabLst/>
              <a:defRPr/>
            </a:pPr>
            <a:r>
              <a:rPr kumimoji="0" lang="en-CA" sz="12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Angela Chen-Delantar</a:t>
            </a:r>
          </a:p>
          <a:p>
            <a:pPr marL="0" marR="0" lvl="0" indent="0" algn="l" defTabSz="914400" rtl="0" eaLnBrk="1" fontAlgn="auto" latinLnBrk="0" hangingPunct="1">
              <a:lnSpc>
                <a:spcPct val="100000"/>
              </a:lnSpc>
              <a:spcBef>
                <a:spcPts val="0"/>
              </a:spcBef>
              <a:spcAft>
                <a:spcPts val="0"/>
              </a:spcAft>
              <a:buClr>
                <a:srgbClr val="000000"/>
              </a:buClr>
              <a:buSzPts val="2600"/>
              <a:buFont typeface="Arial"/>
              <a:buNone/>
              <a:tabLst/>
              <a:defRPr/>
            </a:pPr>
            <a:endParaRPr kumimoji="0" lang="en-CA" sz="12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endParaRPr>
          </a:p>
          <a:p>
            <a:pPr marL="0" marR="0" lvl="0" indent="0" algn="l" defTabSz="914400" rtl="0" eaLnBrk="1" fontAlgn="auto" latinLnBrk="0" hangingPunct="1">
              <a:lnSpc>
                <a:spcPct val="100000"/>
              </a:lnSpc>
              <a:spcBef>
                <a:spcPts val="0"/>
              </a:spcBef>
              <a:spcAft>
                <a:spcPts val="0"/>
              </a:spcAft>
              <a:buClr>
                <a:srgbClr val="000000"/>
              </a:buClr>
              <a:buSzPts val="2600"/>
              <a:buFont typeface="Arial"/>
              <a:buNone/>
              <a:tabLst/>
              <a:defRPr/>
            </a:pPr>
            <a:r>
              <a:rPr kumimoji="0" lang="en-CA" sz="12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July, 2024</a:t>
            </a:r>
          </a:p>
        </p:txBody>
      </p:sp>
    </p:spTree>
    <p:extLst>
      <p:ext uri="{BB962C8B-B14F-4D97-AF65-F5344CB8AC3E}">
        <p14:creationId xmlns:p14="http://schemas.microsoft.com/office/powerpoint/2010/main" val="639613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pic>
        <p:nvPicPr>
          <p:cNvPr id="99" name="Google Shape;99;p15"/>
          <p:cNvPicPr preferRelativeResize="0"/>
          <p:nvPr/>
        </p:nvPicPr>
        <p:blipFill rotWithShape="1">
          <a:blip r:embed="rId3">
            <a:alphaModFix/>
          </a:blip>
          <a:srcRect b="4223"/>
          <a:stretch/>
        </p:blipFill>
        <p:spPr>
          <a:xfrm>
            <a:off x="667525" y="1355013"/>
            <a:ext cx="3158901" cy="3025524"/>
          </a:xfrm>
          <a:prstGeom prst="rect">
            <a:avLst/>
          </a:prstGeom>
          <a:noFill/>
          <a:ln>
            <a:noFill/>
          </a:ln>
        </p:spPr>
      </p:pic>
      <p:sp>
        <p:nvSpPr>
          <p:cNvPr id="100" name="Google Shape;100;p15"/>
          <p:cNvSpPr txBox="1"/>
          <p:nvPr/>
        </p:nvSpPr>
        <p:spPr>
          <a:xfrm>
            <a:off x="4679850" y="1411700"/>
            <a:ext cx="3920100" cy="2736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 sz="1000" b="1" dirty="0">
                <a:solidFill>
                  <a:srgbClr val="0A070D"/>
                </a:solidFill>
                <a:latin typeface="Poppins"/>
                <a:ea typeface="Poppins"/>
                <a:cs typeface="Poppins"/>
                <a:sym typeface="Poppins"/>
              </a:rPr>
              <a:t>1.2mn senior high school (SHS) graduated in 2023, how did they enter the workplace?</a:t>
            </a:r>
            <a:endParaRPr sz="1000" b="1"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None/>
            </a:pPr>
            <a:r>
              <a:rPr lang="en" sz="1000" dirty="0">
                <a:solidFill>
                  <a:srgbClr val="0A070D"/>
                </a:solidFill>
                <a:latin typeface="Poppins"/>
                <a:ea typeface="Poppins"/>
                <a:cs typeface="Poppins"/>
                <a:sym typeface="Poppins"/>
              </a:rPr>
              <a:t>To illustrate their journey, let’s start with 1,000 of these Senior High School (K-12) graduates and see where do they go?</a:t>
            </a:r>
            <a:endParaRPr sz="1000"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10% enter the job market </a:t>
            </a:r>
            <a:endParaRPr sz="1000"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83% attend university with only 25% of these enrollee graduating from HEIs; it is assumed the leavers (75%) enter the job market</a:t>
            </a:r>
            <a:endParaRPr sz="1000"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1.5% enter entrepreneurship and 5.5% considered NEETs*</a:t>
            </a:r>
            <a:endParaRPr sz="1000"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r>
              <a:rPr lang="en" sz="1000" dirty="0">
                <a:solidFill>
                  <a:srgbClr val="0A070D"/>
                </a:solidFill>
                <a:latin typeface="Poppins"/>
                <a:ea typeface="Poppins"/>
                <a:cs typeface="Poppins"/>
                <a:sym typeface="Poppins"/>
              </a:rPr>
              <a:t>Using this framework and our 3 personas, we can track the predicted school to work journeys of these illustrative 1,000 learners and understand their current employment outcomes. </a:t>
            </a:r>
            <a:endParaRPr sz="1000" dirty="0">
              <a:solidFill>
                <a:srgbClr val="0A070D"/>
              </a:solidFill>
              <a:latin typeface="Poppins"/>
              <a:ea typeface="Poppins"/>
              <a:cs typeface="Poppins"/>
              <a:sym typeface="Poppins"/>
            </a:endParaRPr>
          </a:p>
        </p:txBody>
      </p:sp>
      <p:sp>
        <p:nvSpPr>
          <p:cNvPr id="101" name="Google Shape;101;p15"/>
          <p:cNvSpPr txBox="1"/>
          <p:nvPr/>
        </p:nvSpPr>
        <p:spPr>
          <a:xfrm>
            <a:off x="308702" y="416053"/>
            <a:ext cx="8835297"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000" dirty="0">
                <a:solidFill>
                  <a:srgbClr val="0A070D"/>
                </a:solidFill>
                <a:latin typeface="Poppins SemiBold"/>
                <a:ea typeface="Poppins SemiBold"/>
                <a:cs typeface="Poppins SemiBold"/>
                <a:sym typeface="Poppins SemiBold"/>
              </a:rPr>
              <a:t>A Snapshot of the School-to-Work Systems in the Philippines</a:t>
            </a:r>
            <a:endParaRPr sz="2000" b="0" i="0" u="none" strike="noStrike" cap="none" dirty="0">
              <a:solidFill>
                <a:srgbClr val="0A070D"/>
              </a:solidFill>
              <a:latin typeface="Poppins SemiBold"/>
              <a:ea typeface="Poppins SemiBold"/>
              <a:cs typeface="Poppins SemiBold"/>
              <a:sym typeface="Poppins SemiBold"/>
            </a:endParaRPr>
          </a:p>
        </p:txBody>
      </p:sp>
      <p:sp>
        <p:nvSpPr>
          <p:cNvPr id="102" name="Google Shape;102;p15"/>
          <p:cNvSpPr txBox="1"/>
          <p:nvPr/>
        </p:nvSpPr>
        <p:spPr>
          <a:xfrm>
            <a:off x="416100" y="4439300"/>
            <a:ext cx="7786200" cy="4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dirty="0">
                <a:solidFill>
                  <a:srgbClr val="0A070D"/>
                </a:solidFill>
                <a:latin typeface="Poppins"/>
                <a:ea typeface="Poppins"/>
                <a:cs typeface="Poppins"/>
                <a:sym typeface="Poppins"/>
              </a:rPr>
              <a:t>Source: 2023 Department of Education's Basic Education Report from its 2019 and 2020 National Senior High School Tracer Study; HEI Completion rate </a:t>
            </a:r>
            <a:r>
              <a:rPr lang="en" sz="700" dirty="0" err="1">
                <a:solidFill>
                  <a:srgbClr val="0A070D"/>
                </a:solidFill>
                <a:latin typeface="Poppins"/>
                <a:ea typeface="Poppins"/>
                <a:cs typeface="Poppins"/>
                <a:sym typeface="Poppins"/>
              </a:rPr>
              <a:t>PBEd</a:t>
            </a:r>
            <a:r>
              <a:rPr lang="en" sz="700" dirty="0">
                <a:solidFill>
                  <a:srgbClr val="0A070D"/>
                </a:solidFill>
                <a:latin typeface="Poppins"/>
                <a:ea typeface="Poppins"/>
                <a:cs typeface="Poppins"/>
                <a:sym typeface="Poppins"/>
              </a:rPr>
              <a:t> State of Philippine Education Report 2023. SHS Graduates from PSA: 2023 Stats Yearbook.  https://</a:t>
            </a:r>
            <a:r>
              <a:rPr lang="en" sz="700" dirty="0" err="1">
                <a:solidFill>
                  <a:srgbClr val="0A070D"/>
                </a:solidFill>
                <a:latin typeface="Poppins"/>
                <a:ea typeface="Poppins"/>
                <a:cs typeface="Poppins"/>
                <a:sym typeface="Poppins"/>
              </a:rPr>
              <a:t>www.psa.gov.ph</a:t>
            </a:r>
            <a:r>
              <a:rPr lang="en" sz="700" dirty="0">
                <a:solidFill>
                  <a:srgbClr val="0A070D"/>
                </a:solidFill>
                <a:latin typeface="Poppins"/>
                <a:ea typeface="Poppins"/>
                <a:cs typeface="Poppins"/>
                <a:sym typeface="Poppins"/>
              </a:rPr>
              <a:t>/system/files/</a:t>
            </a:r>
            <a:r>
              <a:rPr lang="en" sz="700" dirty="0" err="1">
                <a:solidFill>
                  <a:srgbClr val="0A070D"/>
                </a:solidFill>
                <a:latin typeface="Poppins"/>
                <a:ea typeface="Poppins"/>
                <a:cs typeface="Poppins"/>
                <a:sym typeface="Poppins"/>
              </a:rPr>
              <a:t>psy</a:t>
            </a:r>
            <a:r>
              <a:rPr lang="en" sz="700" dirty="0">
                <a:solidFill>
                  <a:srgbClr val="0A070D"/>
                </a:solidFill>
                <a:latin typeface="Poppins"/>
                <a:ea typeface="Poppins"/>
                <a:cs typeface="Poppins"/>
                <a:sym typeface="Poppins"/>
              </a:rPr>
              <a:t>/2023-Philippine-Statistical-Yearbook.pdf.</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a:solidFill>
                  <a:srgbClr val="0A070D"/>
                </a:solidFill>
                <a:latin typeface="Poppins"/>
                <a:ea typeface="Poppins"/>
                <a:cs typeface="Poppins"/>
                <a:sym typeface="Poppins"/>
              </a:rPr>
              <a:t>Those who entered entrepreneurship or are NEETs are not considered in this analysis.</a:t>
            </a:r>
            <a:endParaRPr sz="700" dirty="0">
              <a:solidFill>
                <a:srgbClr val="0A070D"/>
              </a:solidFill>
              <a:latin typeface="Poppins"/>
              <a:ea typeface="Poppins"/>
              <a:cs typeface="Poppins"/>
              <a:sym typeface="Poppins"/>
            </a:endParaRPr>
          </a:p>
        </p:txBody>
      </p:sp>
      <p:sp>
        <p:nvSpPr>
          <p:cNvPr id="103" name="Google Shape;103;p15"/>
          <p:cNvSpPr txBox="1"/>
          <p:nvPr/>
        </p:nvSpPr>
        <p:spPr>
          <a:xfrm>
            <a:off x="386225" y="1120400"/>
            <a:ext cx="44577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A070D"/>
                </a:solidFill>
                <a:latin typeface="Poppins"/>
                <a:ea typeface="Poppins"/>
                <a:cs typeface="Poppins"/>
                <a:sym typeface="Poppins"/>
              </a:rPr>
              <a:t>Illustrative School-to-Work Journey of 1,000 youths</a:t>
            </a:r>
            <a:endParaRPr sz="1100">
              <a:solidFill>
                <a:schemeClr val="dk2"/>
              </a:solidFill>
            </a:endParaRPr>
          </a:p>
        </p:txBody>
      </p:sp>
      <p:pic>
        <p:nvPicPr>
          <p:cNvPr id="104" name="Google Shape;104;p15"/>
          <p:cNvPicPr preferRelativeResize="0"/>
          <p:nvPr/>
        </p:nvPicPr>
        <p:blipFill>
          <a:blip r:embed="rId4">
            <a:alphaModFix/>
          </a:blip>
          <a:stretch>
            <a:fillRect/>
          </a:stretch>
        </p:blipFill>
        <p:spPr>
          <a:xfrm>
            <a:off x="2402075" y="1411700"/>
            <a:ext cx="426000" cy="426000"/>
          </a:xfrm>
          <a:prstGeom prst="ellipse">
            <a:avLst/>
          </a:prstGeom>
          <a:noFill/>
          <a:ln>
            <a:noFill/>
          </a:ln>
        </p:spPr>
      </p:pic>
      <p:pic>
        <p:nvPicPr>
          <p:cNvPr id="105" name="Google Shape;105;p15"/>
          <p:cNvPicPr preferRelativeResize="0"/>
          <p:nvPr/>
        </p:nvPicPr>
        <p:blipFill>
          <a:blip r:embed="rId5">
            <a:alphaModFix/>
          </a:blip>
          <a:stretch>
            <a:fillRect/>
          </a:stretch>
        </p:blipFill>
        <p:spPr>
          <a:xfrm>
            <a:off x="3772125" y="2792950"/>
            <a:ext cx="426000" cy="426000"/>
          </a:xfrm>
          <a:prstGeom prst="ellipse">
            <a:avLst/>
          </a:prstGeom>
          <a:noFill/>
          <a:ln>
            <a:noFill/>
          </a:ln>
        </p:spPr>
      </p:pic>
      <p:pic>
        <p:nvPicPr>
          <p:cNvPr id="106" name="Google Shape;106;p15"/>
          <p:cNvPicPr preferRelativeResize="0"/>
          <p:nvPr/>
        </p:nvPicPr>
        <p:blipFill>
          <a:blip r:embed="rId6">
            <a:alphaModFix/>
          </a:blip>
          <a:stretch>
            <a:fillRect/>
          </a:stretch>
        </p:blipFill>
        <p:spPr>
          <a:xfrm>
            <a:off x="3804525" y="1777800"/>
            <a:ext cx="393600" cy="3936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pic>
        <p:nvPicPr>
          <p:cNvPr id="112" name="Google Shape;112;p16"/>
          <p:cNvPicPr preferRelativeResize="0"/>
          <p:nvPr/>
        </p:nvPicPr>
        <p:blipFill>
          <a:blip r:embed="rId3">
            <a:alphaModFix/>
          </a:blip>
          <a:stretch>
            <a:fillRect/>
          </a:stretch>
        </p:blipFill>
        <p:spPr>
          <a:xfrm>
            <a:off x="1126838" y="1625425"/>
            <a:ext cx="1315500" cy="1315500"/>
          </a:xfrm>
          <a:prstGeom prst="ellipse">
            <a:avLst/>
          </a:prstGeom>
          <a:noFill/>
          <a:ln>
            <a:noFill/>
          </a:ln>
        </p:spPr>
      </p:pic>
      <p:pic>
        <p:nvPicPr>
          <p:cNvPr id="113" name="Google Shape;113;p16"/>
          <p:cNvPicPr preferRelativeResize="0"/>
          <p:nvPr/>
        </p:nvPicPr>
        <p:blipFill>
          <a:blip r:embed="rId4">
            <a:alphaModFix/>
          </a:blip>
          <a:stretch>
            <a:fillRect/>
          </a:stretch>
        </p:blipFill>
        <p:spPr>
          <a:xfrm>
            <a:off x="6535791" y="1625425"/>
            <a:ext cx="1315500" cy="1315500"/>
          </a:xfrm>
          <a:prstGeom prst="ellipse">
            <a:avLst/>
          </a:prstGeom>
          <a:noFill/>
          <a:ln>
            <a:noFill/>
          </a:ln>
        </p:spPr>
      </p:pic>
      <p:pic>
        <p:nvPicPr>
          <p:cNvPr id="114" name="Google Shape;114;p16"/>
          <p:cNvPicPr preferRelativeResize="0"/>
          <p:nvPr/>
        </p:nvPicPr>
        <p:blipFill>
          <a:blip r:embed="rId5">
            <a:alphaModFix/>
          </a:blip>
          <a:stretch>
            <a:fillRect/>
          </a:stretch>
        </p:blipFill>
        <p:spPr>
          <a:xfrm>
            <a:off x="3781067" y="1625425"/>
            <a:ext cx="1353000" cy="1353000"/>
          </a:xfrm>
          <a:prstGeom prst="ellipse">
            <a:avLst/>
          </a:prstGeom>
          <a:noFill/>
          <a:ln>
            <a:noFill/>
          </a:ln>
        </p:spPr>
      </p:pic>
      <p:sp>
        <p:nvSpPr>
          <p:cNvPr id="115" name="Google Shape;115;p16"/>
          <p:cNvSpPr txBox="1"/>
          <p:nvPr/>
        </p:nvSpPr>
        <p:spPr>
          <a:xfrm>
            <a:off x="308700" y="339850"/>
            <a:ext cx="8163900" cy="756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If 1,000 students graduate from senior high school in 🇵🇭, what happens next?</a:t>
            </a:r>
            <a:endParaRPr sz="2200" b="0" i="0" u="none" strike="noStrike" cap="none">
              <a:solidFill>
                <a:srgbClr val="0A070D"/>
              </a:solidFill>
              <a:latin typeface="Poppins SemiBold"/>
              <a:ea typeface="Poppins SemiBold"/>
              <a:cs typeface="Poppins SemiBold"/>
              <a:sym typeface="Poppins SemiBold"/>
            </a:endParaRPr>
          </a:p>
        </p:txBody>
      </p:sp>
      <p:sp>
        <p:nvSpPr>
          <p:cNvPr id="116" name="Google Shape;116;p16"/>
          <p:cNvSpPr txBox="1"/>
          <p:nvPr/>
        </p:nvSpPr>
        <p:spPr>
          <a:xfrm>
            <a:off x="1152038" y="28890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100">
                <a:solidFill>
                  <a:srgbClr val="0A070D"/>
                </a:solidFill>
                <a:latin typeface="Poppins SemiBold"/>
                <a:ea typeface="Poppins SemiBold"/>
                <a:cs typeface="Poppins SemiBold"/>
                <a:sym typeface="Poppins SemiBold"/>
              </a:rPr>
              <a:t>Beth</a:t>
            </a:r>
            <a:endParaRPr sz="1100" b="0" i="0" u="none" strike="noStrike" cap="none">
              <a:solidFill>
                <a:srgbClr val="0A070D"/>
              </a:solidFill>
              <a:latin typeface="Poppins SemiBold"/>
              <a:ea typeface="Poppins SemiBold"/>
              <a:cs typeface="Poppins SemiBold"/>
              <a:sym typeface="Poppins SemiBold"/>
            </a:endParaRPr>
          </a:p>
        </p:txBody>
      </p:sp>
      <p:sp>
        <p:nvSpPr>
          <p:cNvPr id="117" name="Google Shape;117;p16"/>
          <p:cNvSpPr txBox="1"/>
          <p:nvPr/>
        </p:nvSpPr>
        <p:spPr>
          <a:xfrm>
            <a:off x="6560991" y="28890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100">
                <a:solidFill>
                  <a:srgbClr val="0A070D"/>
                </a:solidFill>
                <a:latin typeface="Poppins SemiBold"/>
                <a:ea typeface="Poppins SemiBold"/>
                <a:cs typeface="Poppins SemiBold"/>
                <a:sym typeface="Poppins SemiBold"/>
              </a:rPr>
              <a:t>Alex</a:t>
            </a:r>
            <a:endParaRPr sz="1100" b="0" i="0" u="none" strike="noStrike" cap="none">
              <a:solidFill>
                <a:srgbClr val="0A070D"/>
              </a:solidFill>
              <a:latin typeface="Poppins SemiBold"/>
              <a:ea typeface="Poppins SemiBold"/>
              <a:cs typeface="Poppins SemiBold"/>
              <a:sym typeface="Poppins SemiBold"/>
            </a:endParaRPr>
          </a:p>
        </p:txBody>
      </p:sp>
      <p:sp>
        <p:nvSpPr>
          <p:cNvPr id="118" name="Google Shape;118;p16"/>
          <p:cNvSpPr txBox="1"/>
          <p:nvPr/>
        </p:nvSpPr>
        <p:spPr>
          <a:xfrm>
            <a:off x="3825017" y="28890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100">
                <a:solidFill>
                  <a:srgbClr val="0A070D"/>
                </a:solidFill>
                <a:latin typeface="Poppins SemiBold"/>
                <a:ea typeface="Poppins SemiBold"/>
                <a:cs typeface="Poppins SemiBold"/>
                <a:sym typeface="Poppins SemiBold"/>
              </a:rPr>
              <a:t>Carla</a:t>
            </a:r>
            <a:endParaRPr sz="1100" b="0" i="0" u="none" strike="noStrike" cap="none">
              <a:solidFill>
                <a:srgbClr val="0A070D"/>
              </a:solidFill>
              <a:latin typeface="Poppins SemiBold"/>
              <a:ea typeface="Poppins SemiBold"/>
              <a:cs typeface="Poppins SemiBold"/>
              <a:sym typeface="Poppins SemiBold"/>
            </a:endParaRPr>
          </a:p>
        </p:txBody>
      </p:sp>
      <p:sp>
        <p:nvSpPr>
          <p:cNvPr id="119" name="Google Shape;119;p16"/>
          <p:cNvSpPr/>
          <p:nvPr/>
        </p:nvSpPr>
        <p:spPr>
          <a:xfrm>
            <a:off x="1506593" y="3229875"/>
            <a:ext cx="513900" cy="231900"/>
          </a:xfrm>
          <a:prstGeom prst="roundRect">
            <a:avLst>
              <a:gd name="adj" fmla="val 16667"/>
            </a:avLst>
          </a:prstGeom>
          <a:solidFill>
            <a:srgbClr val="224B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Poppins Medium"/>
                <a:ea typeface="Poppins Medium"/>
                <a:cs typeface="Poppins Medium"/>
                <a:sym typeface="Poppins Medium"/>
              </a:rPr>
              <a:t>K-12</a:t>
            </a:r>
            <a:endParaRPr sz="900">
              <a:solidFill>
                <a:schemeClr val="lt1"/>
              </a:solidFill>
              <a:latin typeface="Poppins Medium"/>
              <a:ea typeface="Poppins Medium"/>
              <a:cs typeface="Poppins Medium"/>
              <a:sym typeface="Poppins Medium"/>
            </a:endParaRPr>
          </a:p>
        </p:txBody>
      </p:sp>
      <p:sp>
        <p:nvSpPr>
          <p:cNvPr id="120" name="Google Shape;120;p16"/>
          <p:cNvSpPr/>
          <p:nvPr/>
        </p:nvSpPr>
        <p:spPr>
          <a:xfrm>
            <a:off x="4553899" y="3229875"/>
            <a:ext cx="386700" cy="231900"/>
          </a:xfrm>
          <a:prstGeom prst="roundRect">
            <a:avLst>
              <a:gd name="adj" fmla="val 16667"/>
            </a:avLst>
          </a:prstGeom>
          <a:solidFill>
            <a:srgbClr val="B6D7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Poppins Medium"/>
                <a:ea typeface="Poppins Medium"/>
                <a:cs typeface="Poppins Medium"/>
                <a:sym typeface="Poppins Medium"/>
              </a:rPr>
              <a:t>HEI</a:t>
            </a:r>
            <a:endParaRPr sz="900">
              <a:solidFill>
                <a:schemeClr val="dk1"/>
              </a:solidFill>
              <a:latin typeface="Poppins Medium"/>
              <a:ea typeface="Poppins Medium"/>
              <a:cs typeface="Poppins Medium"/>
              <a:sym typeface="Poppins Medium"/>
            </a:endParaRPr>
          </a:p>
        </p:txBody>
      </p:sp>
      <p:sp>
        <p:nvSpPr>
          <p:cNvPr id="121" name="Google Shape;121;p16"/>
          <p:cNvSpPr txBox="1"/>
          <p:nvPr/>
        </p:nvSpPr>
        <p:spPr>
          <a:xfrm>
            <a:off x="604800" y="3502750"/>
            <a:ext cx="2317500" cy="118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900">
                <a:solidFill>
                  <a:srgbClr val="0A070D"/>
                </a:solidFill>
                <a:latin typeface="Poppins"/>
                <a:ea typeface="Poppins"/>
                <a:cs typeface="Poppins"/>
                <a:sym typeface="Poppins"/>
              </a:rPr>
              <a:t>Beth’s cohort has 100 of the 1,000 senior high school graduates. Entering the job market immediately, Beth and her friends are most likely working at MSMEs in service oriented jobs or in large companies in manufacturing. </a:t>
            </a:r>
            <a:endParaRPr sz="900">
              <a:solidFill>
                <a:srgbClr val="0A070D"/>
              </a:solidFill>
              <a:latin typeface="Poppins"/>
              <a:ea typeface="Poppins"/>
              <a:cs typeface="Poppins"/>
              <a:sym typeface="Poppins"/>
            </a:endParaRPr>
          </a:p>
        </p:txBody>
      </p:sp>
      <p:sp>
        <p:nvSpPr>
          <p:cNvPr id="122" name="Google Shape;122;p16"/>
          <p:cNvSpPr txBox="1"/>
          <p:nvPr/>
        </p:nvSpPr>
        <p:spPr>
          <a:xfrm>
            <a:off x="1152038" y="12621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300">
                <a:solidFill>
                  <a:srgbClr val="0A070D"/>
                </a:solidFill>
                <a:latin typeface="Poppins SemiBold"/>
                <a:ea typeface="Poppins SemiBold"/>
                <a:cs typeface="Poppins SemiBold"/>
                <a:sym typeface="Poppins SemiBold"/>
              </a:rPr>
              <a:t>Group 1</a:t>
            </a:r>
            <a:endParaRPr sz="1300" b="0" i="0" u="none" strike="noStrike" cap="none">
              <a:solidFill>
                <a:srgbClr val="0A070D"/>
              </a:solidFill>
              <a:latin typeface="Poppins SemiBold"/>
              <a:ea typeface="Poppins SemiBold"/>
              <a:cs typeface="Poppins SemiBold"/>
              <a:sym typeface="Poppins SemiBold"/>
            </a:endParaRPr>
          </a:p>
        </p:txBody>
      </p:sp>
      <p:sp>
        <p:nvSpPr>
          <p:cNvPr id="123" name="Google Shape;123;p16"/>
          <p:cNvSpPr txBox="1"/>
          <p:nvPr/>
        </p:nvSpPr>
        <p:spPr>
          <a:xfrm>
            <a:off x="3825017" y="12621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300">
                <a:solidFill>
                  <a:srgbClr val="0A070D"/>
                </a:solidFill>
                <a:latin typeface="Poppins SemiBold"/>
                <a:ea typeface="Poppins SemiBold"/>
                <a:cs typeface="Poppins SemiBold"/>
                <a:sym typeface="Poppins SemiBold"/>
              </a:rPr>
              <a:t>Group 2</a:t>
            </a:r>
            <a:endParaRPr sz="1300" b="0" i="0" u="none" strike="noStrike" cap="none">
              <a:solidFill>
                <a:srgbClr val="0A070D"/>
              </a:solidFill>
              <a:latin typeface="Poppins SemiBold"/>
              <a:ea typeface="Poppins SemiBold"/>
              <a:cs typeface="Poppins SemiBold"/>
              <a:sym typeface="Poppins SemiBold"/>
            </a:endParaRPr>
          </a:p>
        </p:txBody>
      </p:sp>
      <p:sp>
        <p:nvSpPr>
          <p:cNvPr id="124" name="Google Shape;124;p16"/>
          <p:cNvSpPr txBox="1"/>
          <p:nvPr/>
        </p:nvSpPr>
        <p:spPr>
          <a:xfrm>
            <a:off x="6560991" y="12621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300">
                <a:solidFill>
                  <a:srgbClr val="0A070D"/>
                </a:solidFill>
                <a:latin typeface="Poppins SemiBold"/>
                <a:ea typeface="Poppins SemiBold"/>
                <a:cs typeface="Poppins SemiBold"/>
                <a:sym typeface="Poppins SemiBold"/>
              </a:rPr>
              <a:t>Group 3</a:t>
            </a:r>
            <a:endParaRPr sz="1300" b="0" i="0" u="none" strike="noStrike" cap="none">
              <a:solidFill>
                <a:srgbClr val="0A070D"/>
              </a:solidFill>
              <a:latin typeface="Poppins SemiBold"/>
              <a:ea typeface="Poppins SemiBold"/>
              <a:cs typeface="Poppins SemiBold"/>
              <a:sym typeface="Poppins SemiBold"/>
            </a:endParaRPr>
          </a:p>
        </p:txBody>
      </p:sp>
      <p:sp>
        <p:nvSpPr>
          <p:cNvPr id="125" name="Google Shape;125;p16"/>
          <p:cNvSpPr txBox="1"/>
          <p:nvPr/>
        </p:nvSpPr>
        <p:spPr>
          <a:xfrm>
            <a:off x="3318600" y="3502750"/>
            <a:ext cx="2348700" cy="118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900">
                <a:solidFill>
                  <a:srgbClr val="0A070D"/>
                </a:solidFill>
                <a:latin typeface="Poppins"/>
                <a:ea typeface="Poppins"/>
                <a:cs typeface="Poppins"/>
                <a:sym typeface="Poppins"/>
              </a:rPr>
              <a:t>Carla complete her university degree with 200+ of the original 830 cohort who enrolled in college. She’s likely to have studied Business Administration or Teaching and now seeking work as a professional in a major city.</a:t>
            </a:r>
            <a:endParaRPr sz="900">
              <a:solidFill>
                <a:srgbClr val="0A070D"/>
              </a:solidFill>
              <a:latin typeface="Poppins"/>
              <a:ea typeface="Poppins"/>
              <a:cs typeface="Poppins"/>
              <a:sym typeface="Poppins"/>
            </a:endParaRPr>
          </a:p>
        </p:txBody>
      </p:sp>
      <p:sp>
        <p:nvSpPr>
          <p:cNvPr id="126" name="Google Shape;126;p16"/>
          <p:cNvSpPr txBox="1"/>
          <p:nvPr/>
        </p:nvSpPr>
        <p:spPr>
          <a:xfrm>
            <a:off x="6000500" y="3502750"/>
            <a:ext cx="2348700" cy="118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900">
                <a:solidFill>
                  <a:srgbClr val="0A070D"/>
                </a:solidFill>
                <a:latin typeface="Poppins"/>
                <a:ea typeface="Poppins"/>
                <a:cs typeface="Poppins"/>
                <a:sym typeface="Poppins"/>
              </a:rPr>
              <a:t>Alex enrolled in university but along with 600+ others left college without finishing his degree citing high cost of education and a desire to seek for employment sooner. Alex is likely to have found a job that does not require a diploma but 2 or more years of university.</a:t>
            </a:r>
            <a:endParaRPr sz="900">
              <a:solidFill>
                <a:srgbClr val="0A070D"/>
              </a:solidFill>
              <a:latin typeface="Poppins"/>
              <a:ea typeface="Poppins"/>
              <a:cs typeface="Poppins"/>
              <a:sym typeface="Poppins"/>
            </a:endParaRPr>
          </a:p>
        </p:txBody>
      </p:sp>
      <p:sp>
        <p:nvSpPr>
          <p:cNvPr id="127" name="Google Shape;127;p16"/>
          <p:cNvSpPr txBox="1"/>
          <p:nvPr/>
        </p:nvSpPr>
        <p:spPr>
          <a:xfrm>
            <a:off x="416100" y="4765525"/>
            <a:ext cx="77862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Please note that 70 out of the 1000 youths are pursuing entrepreneurship or are considered NEETs. NEETs are out of school youth not in education, employment or training.</a:t>
            </a:r>
            <a:endParaRPr sz="700">
              <a:solidFill>
                <a:schemeClr val="dk2"/>
              </a:solidFill>
            </a:endParaRPr>
          </a:p>
        </p:txBody>
      </p:sp>
      <p:sp>
        <p:nvSpPr>
          <p:cNvPr id="128" name="Google Shape;128;p16"/>
          <p:cNvSpPr/>
          <p:nvPr/>
        </p:nvSpPr>
        <p:spPr>
          <a:xfrm>
            <a:off x="3974543" y="3229875"/>
            <a:ext cx="513900" cy="231900"/>
          </a:xfrm>
          <a:prstGeom prst="roundRect">
            <a:avLst>
              <a:gd name="adj" fmla="val 16667"/>
            </a:avLst>
          </a:prstGeom>
          <a:solidFill>
            <a:srgbClr val="224B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Poppins Medium"/>
                <a:ea typeface="Poppins Medium"/>
                <a:cs typeface="Poppins Medium"/>
                <a:sym typeface="Poppins Medium"/>
              </a:rPr>
              <a:t>K-12</a:t>
            </a:r>
            <a:endParaRPr sz="900">
              <a:solidFill>
                <a:schemeClr val="lt1"/>
              </a:solidFill>
              <a:latin typeface="Poppins Medium"/>
              <a:ea typeface="Poppins Medium"/>
              <a:cs typeface="Poppins Medium"/>
              <a:sym typeface="Poppins Medium"/>
            </a:endParaRPr>
          </a:p>
        </p:txBody>
      </p:sp>
      <p:sp>
        <p:nvSpPr>
          <p:cNvPr id="129" name="Google Shape;129;p16"/>
          <p:cNvSpPr/>
          <p:nvPr/>
        </p:nvSpPr>
        <p:spPr>
          <a:xfrm>
            <a:off x="7223399" y="3229875"/>
            <a:ext cx="386700" cy="231900"/>
          </a:xfrm>
          <a:prstGeom prst="roundRect">
            <a:avLst>
              <a:gd name="adj" fmla="val 16667"/>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Poppins Medium"/>
                <a:ea typeface="Poppins Medium"/>
                <a:cs typeface="Poppins Medium"/>
                <a:sym typeface="Poppins Medium"/>
              </a:rPr>
              <a:t>HEI</a:t>
            </a:r>
            <a:endParaRPr sz="900">
              <a:solidFill>
                <a:schemeClr val="dk1"/>
              </a:solidFill>
              <a:latin typeface="Poppins Medium"/>
              <a:ea typeface="Poppins Medium"/>
              <a:cs typeface="Poppins Medium"/>
              <a:sym typeface="Poppins Medium"/>
            </a:endParaRPr>
          </a:p>
        </p:txBody>
      </p:sp>
      <p:sp>
        <p:nvSpPr>
          <p:cNvPr id="130" name="Google Shape;130;p16"/>
          <p:cNvSpPr/>
          <p:nvPr/>
        </p:nvSpPr>
        <p:spPr>
          <a:xfrm>
            <a:off x="6644043" y="3229875"/>
            <a:ext cx="513900" cy="231900"/>
          </a:xfrm>
          <a:prstGeom prst="roundRect">
            <a:avLst>
              <a:gd name="adj" fmla="val 16667"/>
            </a:avLst>
          </a:prstGeom>
          <a:solidFill>
            <a:srgbClr val="224B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Poppins Medium"/>
                <a:ea typeface="Poppins Medium"/>
                <a:cs typeface="Poppins Medium"/>
                <a:sym typeface="Poppins Medium"/>
              </a:rPr>
              <a:t>K-12</a:t>
            </a:r>
            <a:endParaRPr sz="900">
              <a:solidFill>
                <a:schemeClr val="lt1"/>
              </a:solidFill>
              <a:latin typeface="Poppins Medium"/>
              <a:ea typeface="Poppins Medium"/>
              <a:cs typeface="Poppins Medium"/>
              <a:sym typeface="Poppi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
        <p:nvSpPr>
          <p:cNvPr id="136" name="Google Shape;136;p17"/>
          <p:cNvSpPr txBox="1"/>
          <p:nvPr/>
        </p:nvSpPr>
        <p:spPr>
          <a:xfrm>
            <a:off x="308703" y="416053"/>
            <a:ext cx="80010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100 of the 1,000 K-12 grads heads into the workforce </a:t>
            </a:r>
            <a:endParaRPr sz="2200" b="0" i="0" u="none" strike="noStrike" cap="none">
              <a:solidFill>
                <a:srgbClr val="0A070D"/>
              </a:solidFill>
              <a:latin typeface="Poppins SemiBold"/>
              <a:ea typeface="Poppins SemiBold"/>
              <a:cs typeface="Poppins SemiBold"/>
              <a:sym typeface="Poppins SemiBold"/>
            </a:endParaRPr>
          </a:p>
        </p:txBody>
      </p:sp>
      <p:sp>
        <p:nvSpPr>
          <p:cNvPr id="137" name="Google Shape;137;p17"/>
          <p:cNvSpPr txBox="1"/>
          <p:nvPr/>
        </p:nvSpPr>
        <p:spPr>
          <a:xfrm>
            <a:off x="4817325" y="1021300"/>
            <a:ext cx="3920100" cy="3371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 sz="1000" b="1">
                <a:solidFill>
                  <a:srgbClr val="0A070D"/>
                </a:solidFill>
                <a:latin typeface="Poppins"/>
                <a:ea typeface="Poppins"/>
                <a:cs typeface="Poppins"/>
                <a:sym typeface="Poppins"/>
              </a:rPr>
              <a:t>In 2023, ~120,000 grads of senior high school (SHS) joined the workforce</a:t>
            </a:r>
            <a:endParaRPr sz="1000" b="1">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a:solidFill>
                <a:srgbClr val="0A070D"/>
              </a:solidFill>
              <a:latin typeface="Poppins"/>
              <a:ea typeface="Poppins"/>
              <a:cs typeface="Poppins"/>
              <a:sym typeface="Poppins"/>
            </a:endParaRPr>
          </a:p>
          <a:p>
            <a:pPr marL="0" marR="0" lvl="0" indent="0" algn="l" rtl="0">
              <a:lnSpc>
                <a:spcPct val="100000"/>
              </a:lnSpc>
              <a:spcBef>
                <a:spcPts val="0"/>
              </a:spcBef>
              <a:spcAft>
                <a:spcPts val="0"/>
              </a:spcAft>
              <a:buNone/>
            </a:pPr>
            <a:r>
              <a:rPr lang="en" sz="1000">
                <a:solidFill>
                  <a:srgbClr val="0A070D"/>
                </a:solidFill>
                <a:latin typeface="Poppins"/>
                <a:ea typeface="Poppins"/>
                <a:cs typeface="Poppins"/>
                <a:sym typeface="Poppins"/>
              </a:rPr>
              <a:t>The SHS grads who head into the job market are projected to have the following prospects:</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24% personal service work e.g., F&amp;B staff, building and housekeeping workers, hairdressers, beauticians, etc.</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19% sales</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13% clerical support work </a:t>
            </a:r>
            <a:endParaRPr sz="100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r>
              <a:rPr lang="en" sz="1000">
                <a:solidFill>
                  <a:srgbClr val="0A070D"/>
                </a:solidFill>
                <a:latin typeface="Poppins"/>
                <a:ea typeface="Poppins"/>
                <a:cs typeface="Poppins"/>
                <a:sym typeface="Poppins"/>
              </a:rPr>
              <a:t>Differences of Large Companies (&gt;500 employees) vs MSMEs:</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Large companies are fulfilling jobs in manufacturing, and customer service</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MSMEs focus on personal service and sales </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This is likely to result in a gendered split between these opportunities with more men working in large companies*</a:t>
            </a:r>
            <a:endParaRPr sz="1000">
              <a:solidFill>
                <a:srgbClr val="0A070D"/>
              </a:solidFill>
              <a:latin typeface="Poppins"/>
              <a:ea typeface="Poppins"/>
              <a:cs typeface="Poppins"/>
              <a:sym typeface="Poppins"/>
            </a:endParaRPr>
          </a:p>
        </p:txBody>
      </p:sp>
      <p:sp>
        <p:nvSpPr>
          <p:cNvPr id="138" name="Google Shape;138;p17"/>
          <p:cNvSpPr txBox="1"/>
          <p:nvPr/>
        </p:nvSpPr>
        <p:spPr>
          <a:xfrm>
            <a:off x="416100" y="4506075"/>
            <a:ext cx="8056500" cy="49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Note: 120,000 is based on the 10% of SHS grads estimated provided by DepEd </a:t>
            </a:r>
            <a:endParaRPr sz="700">
              <a:solidFill>
                <a:srgbClr val="0A070D"/>
              </a:solidFill>
              <a:latin typeface="Poppins"/>
              <a:ea typeface="Poppins"/>
              <a:cs typeface="Poppins"/>
              <a:sym typeface="Poppins"/>
            </a:endParaRPr>
          </a:p>
          <a:p>
            <a:pPr marL="0" lvl="0" indent="0" algn="l" rtl="0">
              <a:spcBef>
                <a:spcPts val="0"/>
              </a:spcBef>
              <a:spcAft>
                <a:spcPts val="0"/>
              </a:spcAft>
              <a:buNone/>
            </a:pPr>
            <a:r>
              <a:rPr lang="en" sz="700">
                <a:solidFill>
                  <a:srgbClr val="0A070D"/>
                </a:solidFill>
                <a:latin typeface="Poppins"/>
                <a:ea typeface="Poppins"/>
                <a:cs typeface="Poppins"/>
                <a:sym typeface="Poppins"/>
              </a:rPr>
              <a:t>Source: PBEd 2024 Job Outlook Study. Table 7. Percentages transposed to 100 Learners. International Labour Organization’s International Standard Classification of Occupations</a:t>
            </a:r>
            <a:endParaRPr sz="700">
              <a:solidFill>
                <a:srgbClr val="0A070D"/>
              </a:solidFill>
              <a:latin typeface="Poppins"/>
              <a:ea typeface="Poppins"/>
              <a:cs typeface="Poppins"/>
              <a:sym typeface="Poppins"/>
            </a:endParaRPr>
          </a:p>
          <a:p>
            <a:pPr marL="0" lvl="0" indent="0" algn="l" rtl="0">
              <a:spcBef>
                <a:spcPts val="0"/>
              </a:spcBef>
              <a:spcAft>
                <a:spcPts val="0"/>
              </a:spcAft>
              <a:buNone/>
            </a:pPr>
            <a:r>
              <a:rPr lang="en" sz="700">
                <a:solidFill>
                  <a:srgbClr val="0A070D"/>
                </a:solidFill>
                <a:latin typeface="Poppins"/>
                <a:ea typeface="Poppins"/>
                <a:cs typeface="Poppins"/>
                <a:sym typeface="Poppins"/>
              </a:rPr>
              <a:t>*Based on trends from PIDS Policy Note - Do men and women in the Philippines have equal economic opportunities? (PIDS, 2017)</a:t>
            </a:r>
            <a:endParaRPr sz="700">
              <a:solidFill>
                <a:srgbClr val="0A070D"/>
              </a:solidFill>
              <a:latin typeface="Poppins"/>
              <a:ea typeface="Poppins"/>
              <a:cs typeface="Poppins"/>
              <a:sym typeface="Poppins"/>
            </a:endParaRPr>
          </a:p>
        </p:txBody>
      </p:sp>
      <p:pic>
        <p:nvPicPr>
          <p:cNvPr id="139" name="Google Shape;139;p17"/>
          <p:cNvPicPr preferRelativeResize="0"/>
          <p:nvPr/>
        </p:nvPicPr>
        <p:blipFill>
          <a:blip r:embed="rId3">
            <a:alphaModFix/>
          </a:blip>
          <a:stretch>
            <a:fillRect/>
          </a:stretch>
        </p:blipFill>
        <p:spPr>
          <a:xfrm>
            <a:off x="416100" y="861375"/>
            <a:ext cx="4201374" cy="3699928"/>
          </a:xfrm>
          <a:prstGeom prst="rect">
            <a:avLst/>
          </a:prstGeom>
          <a:noFill/>
          <a:ln>
            <a:noFill/>
          </a:ln>
        </p:spPr>
      </p:pic>
      <p:pic>
        <p:nvPicPr>
          <p:cNvPr id="140" name="Google Shape;140;p17"/>
          <p:cNvPicPr preferRelativeResize="0"/>
          <p:nvPr/>
        </p:nvPicPr>
        <p:blipFill>
          <a:blip r:embed="rId4">
            <a:alphaModFix/>
          </a:blip>
          <a:stretch>
            <a:fillRect/>
          </a:stretch>
        </p:blipFill>
        <p:spPr>
          <a:xfrm>
            <a:off x="416100" y="214450"/>
            <a:ext cx="292200" cy="291300"/>
          </a:xfrm>
          <a:prstGeom prst="ellipse">
            <a:avLst/>
          </a:prstGeom>
          <a:noFill/>
          <a:ln>
            <a:noFill/>
          </a:ln>
        </p:spPr>
      </p:pic>
      <p:pic>
        <p:nvPicPr>
          <p:cNvPr id="141" name="Google Shape;141;p17"/>
          <p:cNvPicPr preferRelativeResize="0"/>
          <p:nvPr/>
        </p:nvPicPr>
        <p:blipFill>
          <a:blip r:embed="rId5">
            <a:alphaModFix/>
          </a:blip>
          <a:stretch>
            <a:fillRect/>
          </a:stretch>
        </p:blipFill>
        <p:spPr>
          <a:xfrm>
            <a:off x="1000492" y="214450"/>
            <a:ext cx="292200" cy="291300"/>
          </a:xfrm>
          <a:prstGeom prst="ellipse">
            <a:avLst/>
          </a:prstGeom>
          <a:noFill/>
          <a:ln>
            <a:noFill/>
          </a:ln>
        </p:spPr>
      </p:pic>
      <p:pic>
        <p:nvPicPr>
          <p:cNvPr id="142" name="Google Shape;142;p17"/>
          <p:cNvPicPr preferRelativeResize="0"/>
          <p:nvPr/>
        </p:nvPicPr>
        <p:blipFill>
          <a:blip r:embed="rId6">
            <a:alphaModFix/>
          </a:blip>
          <a:stretch>
            <a:fillRect/>
          </a:stretch>
        </p:blipFill>
        <p:spPr>
          <a:xfrm>
            <a:off x="708310" y="214450"/>
            <a:ext cx="292200" cy="2913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
        <p:nvSpPr>
          <p:cNvPr id="148" name="Google Shape;148;p18"/>
          <p:cNvSpPr txBox="1"/>
          <p:nvPr/>
        </p:nvSpPr>
        <p:spPr>
          <a:xfrm>
            <a:off x="308703" y="416053"/>
            <a:ext cx="80010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SHS grads faces challenges from hiring practices</a:t>
            </a:r>
            <a:endParaRPr sz="2200" b="0" i="0" u="none" strike="noStrike" cap="none">
              <a:solidFill>
                <a:srgbClr val="0A070D"/>
              </a:solidFill>
              <a:latin typeface="Poppins SemiBold"/>
              <a:ea typeface="Poppins SemiBold"/>
              <a:cs typeface="Poppins SemiBold"/>
              <a:sym typeface="Poppins SemiBold"/>
            </a:endParaRPr>
          </a:p>
        </p:txBody>
      </p:sp>
      <p:sp>
        <p:nvSpPr>
          <p:cNvPr id="149" name="Google Shape;149;p18"/>
          <p:cNvSpPr txBox="1"/>
          <p:nvPr/>
        </p:nvSpPr>
        <p:spPr>
          <a:xfrm>
            <a:off x="4809850" y="1368263"/>
            <a:ext cx="3920100" cy="2736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 sz="1000" b="1">
                <a:solidFill>
                  <a:srgbClr val="0A070D"/>
                </a:solidFill>
                <a:latin typeface="Poppins"/>
                <a:ea typeface="Poppins"/>
                <a:cs typeface="Poppins"/>
                <a:sym typeface="Poppins"/>
              </a:rPr>
              <a:t>SHS grads are disadvantaged in the job market</a:t>
            </a:r>
            <a:endParaRPr sz="1000" b="1">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a:solidFill>
                <a:srgbClr val="0A070D"/>
              </a:solidFill>
              <a:latin typeface="Poppins"/>
              <a:ea typeface="Poppins"/>
              <a:cs typeface="Poppins"/>
              <a:sym typeface="Poppins"/>
            </a:endParaRPr>
          </a:p>
          <a:p>
            <a:pPr marL="0" marR="0" lvl="0" indent="0" algn="l" rtl="0">
              <a:lnSpc>
                <a:spcPct val="100000"/>
              </a:lnSpc>
              <a:spcBef>
                <a:spcPts val="0"/>
              </a:spcBef>
              <a:spcAft>
                <a:spcPts val="0"/>
              </a:spcAft>
              <a:buNone/>
            </a:pPr>
            <a:r>
              <a:rPr lang="en" sz="1000">
                <a:solidFill>
                  <a:srgbClr val="0A070D"/>
                </a:solidFill>
                <a:latin typeface="Poppins"/>
                <a:ea typeface="Poppins"/>
                <a:cs typeface="Poppins"/>
                <a:sym typeface="Poppins"/>
              </a:rPr>
              <a:t>While </a:t>
            </a:r>
            <a:r>
              <a:rPr lang="en" sz="1000" b="1">
                <a:solidFill>
                  <a:srgbClr val="0A070D"/>
                </a:solidFill>
                <a:latin typeface="Poppins"/>
                <a:ea typeface="Poppins"/>
                <a:cs typeface="Poppins"/>
                <a:sym typeface="Poppins"/>
              </a:rPr>
              <a:t>~50%</a:t>
            </a:r>
            <a:r>
              <a:rPr lang="en" sz="1000">
                <a:solidFill>
                  <a:srgbClr val="0A070D"/>
                </a:solidFill>
                <a:latin typeface="Poppins"/>
                <a:ea typeface="Poppins"/>
                <a:cs typeface="Poppins"/>
                <a:sym typeface="Poppins"/>
              </a:rPr>
              <a:t> of companies declared they had opportunities for K-12 grads, in reality, their expectation of who will get into entry-level roles tell another story: </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79%</a:t>
            </a:r>
            <a:r>
              <a:rPr lang="en" sz="1000">
                <a:solidFill>
                  <a:srgbClr val="0A070D"/>
                </a:solidFill>
                <a:latin typeface="Poppins"/>
                <a:ea typeface="Poppins"/>
                <a:cs typeface="Poppins"/>
                <a:sym typeface="Poppins"/>
              </a:rPr>
              <a:t> of entry-level roles at large corps are expected to be filled by college graduates</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MSMEs seem to be more open to accepting K to 12 graduates to fill in their entry-level positions with </a:t>
            </a:r>
            <a:r>
              <a:rPr lang="en" sz="1000" b="1">
                <a:solidFill>
                  <a:srgbClr val="0A070D"/>
                </a:solidFill>
                <a:latin typeface="Poppins"/>
                <a:ea typeface="Poppins"/>
                <a:cs typeface="Poppins"/>
                <a:sym typeface="Poppins"/>
              </a:rPr>
              <a:t>67%</a:t>
            </a:r>
            <a:r>
              <a:rPr lang="en" sz="1000">
                <a:solidFill>
                  <a:srgbClr val="0A070D"/>
                </a:solidFill>
                <a:latin typeface="Poppins"/>
                <a:ea typeface="Poppins"/>
                <a:cs typeface="Poppins"/>
                <a:sym typeface="Poppins"/>
              </a:rPr>
              <a:t> of roles expected for SHS grads</a:t>
            </a:r>
            <a:endParaRPr sz="1000">
              <a:solidFill>
                <a:srgbClr val="0A070D"/>
              </a:solidFill>
              <a:latin typeface="Poppins"/>
              <a:ea typeface="Poppins"/>
              <a:cs typeface="Poppins"/>
              <a:sym typeface="Poppins"/>
            </a:endParaRPr>
          </a:p>
          <a:p>
            <a:pPr marL="457200" marR="0" lvl="0" indent="0" algn="l" rtl="0">
              <a:lnSpc>
                <a:spcPct val="100000"/>
              </a:lnSpc>
              <a:spcBef>
                <a:spcPts val="0"/>
              </a:spcBef>
              <a:spcAft>
                <a:spcPts val="0"/>
              </a:spcAft>
              <a:buNone/>
            </a:pPr>
            <a:endParaRPr sz="1000">
              <a:solidFill>
                <a:srgbClr val="0A070D"/>
              </a:solidFill>
              <a:latin typeface="Poppins"/>
              <a:ea typeface="Poppins"/>
              <a:cs typeface="Poppins"/>
              <a:sym typeface="Poppins"/>
            </a:endParaRPr>
          </a:p>
          <a:p>
            <a:pPr marL="0" marR="0" lvl="0" indent="0" algn="l" rtl="0">
              <a:lnSpc>
                <a:spcPct val="100000"/>
              </a:lnSpc>
              <a:spcBef>
                <a:spcPts val="0"/>
              </a:spcBef>
              <a:spcAft>
                <a:spcPts val="0"/>
              </a:spcAft>
              <a:buNone/>
            </a:pPr>
            <a:r>
              <a:rPr lang="en" sz="1000">
                <a:solidFill>
                  <a:srgbClr val="0A070D"/>
                </a:solidFill>
                <a:latin typeface="Poppins"/>
                <a:ea typeface="Poppins"/>
                <a:cs typeface="Poppins"/>
                <a:sym typeface="Poppins"/>
              </a:rPr>
              <a:t>The industry survey indicates that </a:t>
            </a:r>
            <a:r>
              <a:rPr lang="en" sz="1000" b="1">
                <a:solidFill>
                  <a:srgbClr val="0A070D"/>
                </a:solidFill>
                <a:latin typeface="Poppins"/>
                <a:ea typeface="Poppins"/>
                <a:cs typeface="Poppins"/>
                <a:sym typeface="Poppins"/>
              </a:rPr>
              <a:t>22%</a:t>
            </a:r>
            <a:r>
              <a:rPr lang="en" sz="1000">
                <a:solidFill>
                  <a:srgbClr val="0A070D"/>
                </a:solidFill>
                <a:latin typeface="Poppins"/>
                <a:ea typeface="Poppins"/>
                <a:cs typeface="Poppins"/>
                <a:sym typeface="Poppins"/>
              </a:rPr>
              <a:t> of the total entry-level positions in 2024 will be accessible to K to 12 graduates, with majority of these positions available at large companies.</a:t>
            </a:r>
            <a:endParaRPr sz="1000">
              <a:solidFill>
                <a:srgbClr val="0A070D"/>
              </a:solidFill>
              <a:latin typeface="Poppins"/>
              <a:ea typeface="Poppins"/>
              <a:cs typeface="Poppins"/>
              <a:sym typeface="Poppins"/>
            </a:endParaRPr>
          </a:p>
        </p:txBody>
      </p:sp>
      <p:pic>
        <p:nvPicPr>
          <p:cNvPr id="150" name="Google Shape;150;p18"/>
          <p:cNvPicPr preferRelativeResize="0"/>
          <p:nvPr/>
        </p:nvPicPr>
        <p:blipFill rotWithShape="1">
          <a:blip r:embed="rId3">
            <a:alphaModFix/>
          </a:blip>
          <a:srcRect l="-1276"/>
          <a:stretch/>
        </p:blipFill>
        <p:spPr>
          <a:xfrm>
            <a:off x="523975" y="988750"/>
            <a:ext cx="4180576" cy="3289025"/>
          </a:xfrm>
          <a:prstGeom prst="rect">
            <a:avLst/>
          </a:prstGeom>
          <a:noFill/>
          <a:ln>
            <a:noFill/>
          </a:ln>
        </p:spPr>
      </p:pic>
      <p:sp>
        <p:nvSpPr>
          <p:cNvPr id="151" name="Google Shape;151;p18"/>
          <p:cNvSpPr txBox="1"/>
          <p:nvPr/>
        </p:nvSpPr>
        <p:spPr>
          <a:xfrm>
            <a:off x="416100" y="4277475"/>
            <a:ext cx="77862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dirty="0">
                <a:solidFill>
                  <a:srgbClr val="0A070D"/>
                </a:solidFill>
                <a:latin typeface="Poppins"/>
                <a:ea typeface="Poppins"/>
                <a:cs typeface="Poppins"/>
                <a:sym typeface="Poppins"/>
              </a:rPr>
              <a:t>Source: </a:t>
            </a:r>
            <a:r>
              <a:rPr lang="en" sz="700" dirty="0" err="1">
                <a:solidFill>
                  <a:srgbClr val="0A070D"/>
                </a:solidFill>
                <a:latin typeface="Poppins"/>
                <a:ea typeface="Poppins"/>
                <a:cs typeface="Poppins"/>
                <a:sym typeface="Poppins"/>
              </a:rPr>
              <a:t>PBEd</a:t>
            </a:r>
            <a:r>
              <a:rPr lang="en" sz="700" dirty="0">
                <a:solidFill>
                  <a:srgbClr val="0A070D"/>
                </a:solidFill>
                <a:latin typeface="Poppins"/>
                <a:ea typeface="Poppins"/>
                <a:cs typeface="Poppins"/>
                <a:sym typeface="Poppins"/>
              </a:rPr>
              <a:t> 2024 Job Outlook Study. Figure 9 and 10. ~300 companies were surveyed on their entry-level openings and preferred educational requirements.</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a:solidFill>
                  <a:srgbClr val="0A070D"/>
                </a:solidFill>
                <a:latin typeface="Poppins"/>
                <a:ea typeface="Poppins"/>
                <a:cs typeface="Poppins"/>
                <a:sym typeface="Poppins"/>
              </a:rPr>
              <a:t>The </a:t>
            </a:r>
            <a:r>
              <a:rPr lang="en" sz="700" dirty="0" err="1">
                <a:solidFill>
                  <a:srgbClr val="0A070D"/>
                </a:solidFill>
                <a:latin typeface="Poppins"/>
                <a:ea typeface="Poppins"/>
                <a:cs typeface="Poppins"/>
                <a:sym typeface="Poppins"/>
              </a:rPr>
              <a:t>PBEd</a:t>
            </a:r>
            <a:r>
              <a:rPr lang="en" sz="700" dirty="0">
                <a:solidFill>
                  <a:srgbClr val="0A070D"/>
                </a:solidFill>
                <a:latin typeface="Poppins"/>
                <a:ea typeface="Poppins"/>
                <a:cs typeface="Poppins"/>
                <a:sym typeface="Poppins"/>
              </a:rPr>
              <a:t> study covered a total of 299 respondents, including 258 (86.3%) micro, small, and medium enterprises (MSMEs) and 41 (13.7%) large companies across the country. Businesses projected a total of 17,273 entry-level job openings in 2024.</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a:solidFill>
                  <a:srgbClr val="0A070D"/>
                </a:solidFill>
                <a:latin typeface="Poppins"/>
                <a:ea typeface="Poppins"/>
                <a:cs typeface="Poppins"/>
                <a:sym typeface="Poppins"/>
              </a:rPr>
              <a:t>This dataset is confirmed by Department of Labor and Employment’s (DOLE) report (Barcelo, 2023) and Employers Confederation of the Philippines (ECOP) news interview (Cordero, 2023).</a:t>
            </a:r>
            <a:endParaRPr sz="700" dirty="0">
              <a:solidFill>
                <a:srgbClr val="0A070D"/>
              </a:solidFill>
              <a:latin typeface="Poppins"/>
              <a:ea typeface="Poppins"/>
              <a:cs typeface="Poppins"/>
              <a:sym typeface="Poppins"/>
            </a:endParaRPr>
          </a:p>
        </p:txBody>
      </p:sp>
      <p:pic>
        <p:nvPicPr>
          <p:cNvPr id="152" name="Google Shape;152;p18"/>
          <p:cNvPicPr preferRelativeResize="0"/>
          <p:nvPr/>
        </p:nvPicPr>
        <p:blipFill>
          <a:blip r:embed="rId4">
            <a:alphaModFix/>
          </a:blip>
          <a:stretch>
            <a:fillRect/>
          </a:stretch>
        </p:blipFill>
        <p:spPr>
          <a:xfrm>
            <a:off x="416100" y="214450"/>
            <a:ext cx="292200" cy="291300"/>
          </a:xfrm>
          <a:prstGeom prst="ellipse">
            <a:avLst/>
          </a:prstGeom>
          <a:noFill/>
          <a:ln>
            <a:noFill/>
          </a:ln>
        </p:spPr>
      </p:pic>
      <p:pic>
        <p:nvPicPr>
          <p:cNvPr id="153" name="Google Shape;153;p18"/>
          <p:cNvPicPr preferRelativeResize="0"/>
          <p:nvPr/>
        </p:nvPicPr>
        <p:blipFill>
          <a:blip r:embed="rId5">
            <a:alphaModFix/>
          </a:blip>
          <a:stretch>
            <a:fillRect/>
          </a:stretch>
        </p:blipFill>
        <p:spPr>
          <a:xfrm>
            <a:off x="1000492" y="214450"/>
            <a:ext cx="292200" cy="291300"/>
          </a:xfrm>
          <a:prstGeom prst="ellipse">
            <a:avLst/>
          </a:prstGeom>
          <a:noFill/>
          <a:ln>
            <a:noFill/>
          </a:ln>
        </p:spPr>
      </p:pic>
      <p:pic>
        <p:nvPicPr>
          <p:cNvPr id="154" name="Google Shape;154;p18"/>
          <p:cNvPicPr preferRelativeResize="0"/>
          <p:nvPr/>
        </p:nvPicPr>
        <p:blipFill>
          <a:blip r:embed="rId6">
            <a:alphaModFix/>
          </a:blip>
          <a:stretch>
            <a:fillRect/>
          </a:stretch>
        </p:blipFill>
        <p:spPr>
          <a:xfrm>
            <a:off x="708310" y="214450"/>
            <a:ext cx="292200" cy="291300"/>
          </a:xfrm>
          <a:prstGeom prst="ellipse">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
        <p:nvSpPr>
          <p:cNvPr id="160" name="Google Shape;160;p19"/>
          <p:cNvSpPr txBox="1"/>
          <p:nvPr/>
        </p:nvSpPr>
        <p:spPr>
          <a:xfrm>
            <a:off x="308700" y="416050"/>
            <a:ext cx="8635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208 of the 1,000 K-12 grads enrol and complete a HEI degree</a:t>
            </a:r>
            <a:endParaRPr sz="2200" b="0" i="0" u="none" strike="noStrike" cap="none">
              <a:solidFill>
                <a:srgbClr val="0A070D"/>
              </a:solidFill>
              <a:latin typeface="Poppins SemiBold"/>
              <a:ea typeface="Poppins SemiBold"/>
              <a:cs typeface="Poppins SemiBold"/>
              <a:sym typeface="Poppins SemiBold"/>
            </a:endParaRPr>
          </a:p>
        </p:txBody>
      </p:sp>
      <p:pic>
        <p:nvPicPr>
          <p:cNvPr id="161" name="Google Shape;161;p19"/>
          <p:cNvPicPr preferRelativeResize="0"/>
          <p:nvPr/>
        </p:nvPicPr>
        <p:blipFill>
          <a:blip r:embed="rId3">
            <a:alphaModFix/>
          </a:blip>
          <a:stretch>
            <a:fillRect/>
          </a:stretch>
        </p:blipFill>
        <p:spPr>
          <a:xfrm>
            <a:off x="416100" y="214450"/>
            <a:ext cx="292200" cy="291300"/>
          </a:xfrm>
          <a:prstGeom prst="ellipse">
            <a:avLst/>
          </a:prstGeom>
          <a:noFill/>
          <a:ln>
            <a:noFill/>
          </a:ln>
        </p:spPr>
      </p:pic>
      <p:pic>
        <p:nvPicPr>
          <p:cNvPr id="162" name="Google Shape;162;p19"/>
          <p:cNvPicPr preferRelativeResize="0"/>
          <p:nvPr/>
        </p:nvPicPr>
        <p:blipFill>
          <a:blip r:embed="rId4">
            <a:alphaModFix/>
          </a:blip>
          <a:stretch>
            <a:fillRect/>
          </a:stretch>
        </p:blipFill>
        <p:spPr>
          <a:xfrm>
            <a:off x="1000492" y="214450"/>
            <a:ext cx="292200" cy="291300"/>
          </a:xfrm>
          <a:prstGeom prst="ellipse">
            <a:avLst/>
          </a:prstGeom>
          <a:noFill/>
          <a:ln>
            <a:noFill/>
          </a:ln>
        </p:spPr>
      </p:pic>
      <p:pic>
        <p:nvPicPr>
          <p:cNvPr id="163" name="Google Shape;163;p19"/>
          <p:cNvPicPr preferRelativeResize="0"/>
          <p:nvPr/>
        </p:nvPicPr>
        <p:blipFill>
          <a:blip r:embed="rId5">
            <a:alphaModFix/>
          </a:blip>
          <a:stretch>
            <a:fillRect/>
          </a:stretch>
        </p:blipFill>
        <p:spPr>
          <a:xfrm>
            <a:off x="708310" y="214450"/>
            <a:ext cx="292200" cy="291300"/>
          </a:xfrm>
          <a:prstGeom prst="ellipse">
            <a:avLst/>
          </a:prstGeom>
          <a:noFill/>
          <a:ln>
            <a:noFill/>
          </a:ln>
        </p:spPr>
      </p:pic>
      <p:sp>
        <p:nvSpPr>
          <p:cNvPr id="164" name="Google Shape;164;p19"/>
          <p:cNvSpPr txBox="1"/>
          <p:nvPr/>
        </p:nvSpPr>
        <p:spPr>
          <a:xfrm>
            <a:off x="4809850" y="1368275"/>
            <a:ext cx="3920100" cy="264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2600"/>
              <a:buFont typeface="Arial"/>
              <a:buNone/>
            </a:pPr>
            <a:r>
              <a:rPr lang="en" sz="1000" b="1">
                <a:solidFill>
                  <a:srgbClr val="0A070D"/>
                </a:solidFill>
                <a:latin typeface="Poppins"/>
                <a:ea typeface="Poppins"/>
                <a:cs typeface="Poppins"/>
                <a:sym typeface="Poppins"/>
              </a:rPr>
              <a:t>Only 25% of enrolled student graduate from college</a:t>
            </a:r>
            <a:endParaRPr sz="1000" b="1">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34%</a:t>
            </a:r>
            <a:r>
              <a:rPr lang="en" sz="1000">
                <a:solidFill>
                  <a:srgbClr val="0A070D"/>
                </a:solidFill>
                <a:latin typeface="Poppins"/>
                <a:ea typeface="Poppins"/>
                <a:cs typeface="Poppins"/>
                <a:sym typeface="Poppins"/>
              </a:rPr>
              <a:t> of all graduates come from public HEIs</a:t>
            </a:r>
            <a:endParaRPr sz="100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50%</a:t>
            </a:r>
            <a:r>
              <a:rPr lang="en" sz="1000">
                <a:solidFill>
                  <a:srgbClr val="0A070D"/>
                </a:solidFill>
                <a:latin typeface="Poppins"/>
                <a:ea typeface="Poppins"/>
                <a:cs typeface="Poppins"/>
                <a:sym typeface="Poppins"/>
              </a:rPr>
              <a:t> of public HEI graduates studied either business admin, or education.</a:t>
            </a:r>
            <a:endParaRPr sz="1000">
              <a:solidFill>
                <a:srgbClr val="0A070D"/>
              </a:solidFill>
              <a:latin typeface="Poppins"/>
              <a:ea typeface="Poppins"/>
              <a:cs typeface="Poppins"/>
              <a:sym typeface="Poppins"/>
            </a:endParaRPr>
          </a:p>
          <a:p>
            <a:pPr marL="0" lvl="0" indent="0" algn="l" rtl="0">
              <a:spcBef>
                <a:spcPts val="0"/>
              </a:spcBef>
              <a:spcAft>
                <a:spcPts val="0"/>
              </a:spcAft>
              <a:buNone/>
            </a:pPr>
            <a:endParaRPr sz="1000" b="1">
              <a:solidFill>
                <a:srgbClr val="0A070D"/>
              </a:solidFill>
              <a:latin typeface="Poppins"/>
              <a:ea typeface="Poppins"/>
              <a:cs typeface="Poppins"/>
              <a:sym typeface="Poppins"/>
            </a:endParaRPr>
          </a:p>
          <a:p>
            <a:pPr marL="0" lvl="0" indent="0" algn="l" rtl="0">
              <a:spcBef>
                <a:spcPts val="0"/>
              </a:spcBef>
              <a:spcAft>
                <a:spcPts val="0"/>
              </a:spcAft>
              <a:buNone/>
            </a:pPr>
            <a:r>
              <a:rPr lang="en" sz="1000">
                <a:solidFill>
                  <a:srgbClr val="0A070D"/>
                </a:solidFill>
                <a:latin typeface="Poppins"/>
                <a:ea typeface="Poppins"/>
                <a:cs typeface="Poppins"/>
                <a:sym typeface="Poppins"/>
              </a:rPr>
              <a:t>There are difference in disciplines chosen by graduates at private and public HEIs:</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Health and Welfare:</a:t>
            </a:r>
            <a:r>
              <a:rPr lang="en" sz="1000">
                <a:solidFill>
                  <a:srgbClr val="0A070D"/>
                </a:solidFill>
                <a:latin typeface="Poppins"/>
                <a:ea typeface="Poppins"/>
                <a:cs typeface="Poppins"/>
                <a:sym typeface="Poppins"/>
              </a:rPr>
              <a:t> 37% of private HEI graduates, mostly in Nursing, compared to 9% in public HEIs.</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Education</a:t>
            </a:r>
            <a:r>
              <a:rPr lang="en" sz="1000">
                <a:solidFill>
                  <a:srgbClr val="0A070D"/>
                </a:solidFill>
                <a:latin typeface="Poppins"/>
                <a:ea typeface="Poppins"/>
                <a:cs typeface="Poppins"/>
                <a:sym typeface="Poppins"/>
              </a:rPr>
              <a:t>: Over 20% of public HEI graduates completed education courses, versus only 7% in private HEIs.</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Social Sciences and Business:</a:t>
            </a:r>
            <a:r>
              <a:rPr lang="en" sz="1000">
                <a:solidFill>
                  <a:srgbClr val="0A070D"/>
                </a:solidFill>
                <a:latin typeface="Poppins"/>
                <a:ea typeface="Poppins"/>
                <a:cs typeface="Poppins"/>
                <a:sym typeface="Poppins"/>
              </a:rPr>
              <a:t> Popular across both sectors, with 28% of public and 30% of private HEI graduates.</a:t>
            </a:r>
            <a:endParaRPr sz="1000">
              <a:solidFill>
                <a:srgbClr val="0A070D"/>
              </a:solidFill>
              <a:latin typeface="Poppins"/>
              <a:ea typeface="Poppins"/>
              <a:cs typeface="Poppins"/>
              <a:sym typeface="Poppins"/>
            </a:endParaRPr>
          </a:p>
        </p:txBody>
      </p:sp>
      <p:pic>
        <p:nvPicPr>
          <p:cNvPr id="165" name="Google Shape;165;p19"/>
          <p:cNvPicPr preferRelativeResize="0"/>
          <p:nvPr/>
        </p:nvPicPr>
        <p:blipFill rotWithShape="1">
          <a:blip r:embed="rId6">
            <a:alphaModFix/>
          </a:blip>
          <a:srcRect/>
          <a:stretch/>
        </p:blipFill>
        <p:spPr>
          <a:xfrm>
            <a:off x="383963" y="898850"/>
            <a:ext cx="4354313" cy="3764376"/>
          </a:xfrm>
          <a:prstGeom prst="rect">
            <a:avLst/>
          </a:prstGeom>
          <a:noFill/>
          <a:ln>
            <a:noFill/>
          </a:ln>
        </p:spPr>
      </p:pic>
      <p:sp>
        <p:nvSpPr>
          <p:cNvPr id="166" name="Google Shape;166;p19"/>
          <p:cNvSpPr txBox="1"/>
          <p:nvPr/>
        </p:nvSpPr>
        <p:spPr>
          <a:xfrm>
            <a:off x="416100" y="4663225"/>
            <a:ext cx="77862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Source: The 4th Philippine Graduate Tracer Study: Examining Higher Education as a Pathway to Employment, Citizenship, and Life Satisfaction from the Learner’s Perspective. Research Paper Series No. 2021-05 (PIDS. 2021). Data collection ran from July 2014 to June 2015. A total of 11,547 face-to-face interviews were completed.</a:t>
            </a:r>
            <a:endParaRPr sz="700">
              <a:solidFill>
                <a:srgbClr val="0A070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
        <p:nvSpPr>
          <p:cNvPr id="172" name="Google Shape;172;p20"/>
          <p:cNvSpPr txBox="1"/>
          <p:nvPr/>
        </p:nvSpPr>
        <p:spPr>
          <a:xfrm>
            <a:off x="308703" y="416053"/>
            <a:ext cx="80010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HEI grads don’t start their job search right away</a:t>
            </a:r>
            <a:endParaRPr sz="2200" b="0" i="0" u="none" strike="noStrike" cap="none">
              <a:solidFill>
                <a:srgbClr val="0A070D"/>
              </a:solidFill>
              <a:latin typeface="Poppins SemiBold"/>
              <a:ea typeface="Poppins SemiBold"/>
              <a:cs typeface="Poppins SemiBold"/>
              <a:sym typeface="Poppins SemiBold"/>
            </a:endParaRPr>
          </a:p>
        </p:txBody>
      </p:sp>
      <p:sp>
        <p:nvSpPr>
          <p:cNvPr id="173" name="Google Shape;173;p20"/>
          <p:cNvSpPr txBox="1"/>
          <p:nvPr/>
        </p:nvSpPr>
        <p:spPr>
          <a:xfrm>
            <a:off x="4819125" y="1032300"/>
            <a:ext cx="3908700" cy="317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2600"/>
              <a:buFont typeface="Arial"/>
              <a:buNone/>
            </a:pPr>
            <a:r>
              <a:rPr lang="en" sz="1000" b="1" dirty="0">
                <a:solidFill>
                  <a:srgbClr val="0A070D"/>
                </a:solidFill>
                <a:latin typeface="Poppins"/>
                <a:ea typeface="Poppins"/>
                <a:cs typeface="Poppins"/>
                <a:sym typeface="Poppins"/>
              </a:rPr>
              <a:t>Time to placement varies based on the discipline of the graduate and if exams are required </a:t>
            </a:r>
            <a:endParaRPr sz="1000" b="1"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Graduates started looking for work on avg </a:t>
            </a:r>
            <a:r>
              <a:rPr lang="en" sz="1000" b="1" dirty="0">
                <a:solidFill>
                  <a:srgbClr val="0A070D"/>
                </a:solidFill>
                <a:latin typeface="Poppins"/>
                <a:ea typeface="Poppins"/>
                <a:cs typeface="Poppins"/>
                <a:sym typeface="Poppins"/>
              </a:rPr>
              <a:t>4.6 months</a:t>
            </a:r>
            <a:r>
              <a:rPr lang="en" sz="1000" dirty="0">
                <a:solidFill>
                  <a:srgbClr val="0A070D"/>
                </a:solidFill>
                <a:latin typeface="Poppins"/>
                <a:ea typeface="Poppins"/>
                <a:cs typeface="Poppins"/>
                <a:sym typeface="Poppins"/>
              </a:rPr>
              <a:t> after graduation; public HEI grads started sooner at </a:t>
            </a:r>
            <a:r>
              <a:rPr lang="en" sz="1000" b="1" dirty="0">
                <a:solidFill>
                  <a:srgbClr val="0A070D"/>
                </a:solidFill>
                <a:latin typeface="Poppins"/>
                <a:ea typeface="Poppins"/>
                <a:cs typeface="Poppins"/>
                <a:sym typeface="Poppins"/>
              </a:rPr>
              <a:t>3.3 months </a:t>
            </a:r>
            <a:r>
              <a:rPr lang="en" sz="1000" dirty="0">
                <a:solidFill>
                  <a:srgbClr val="0A070D"/>
                </a:solidFill>
                <a:latin typeface="Poppins"/>
                <a:ea typeface="Poppins"/>
                <a:cs typeface="Poppins"/>
                <a:sym typeface="Poppins"/>
              </a:rPr>
              <a:t>due to the PRC licensure exam requirement.</a:t>
            </a:r>
            <a:endParaRPr sz="1000" dirty="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It took graduates </a:t>
            </a:r>
            <a:r>
              <a:rPr lang="en" sz="1000" b="1" dirty="0">
                <a:solidFill>
                  <a:srgbClr val="0A070D"/>
                </a:solidFill>
                <a:latin typeface="Poppins"/>
                <a:ea typeface="Poppins"/>
                <a:cs typeface="Poppins"/>
                <a:sym typeface="Poppins"/>
              </a:rPr>
              <a:t>8.2 months </a:t>
            </a:r>
            <a:r>
              <a:rPr lang="en" sz="1000" dirty="0">
                <a:solidFill>
                  <a:srgbClr val="0A070D"/>
                </a:solidFill>
                <a:latin typeface="Poppins"/>
                <a:ea typeface="Poppins"/>
                <a:cs typeface="Poppins"/>
                <a:sym typeface="Poppins"/>
              </a:rPr>
              <a:t>on avg to land a job, with public HEI grads finding jobs 1.5 months sooner.</a:t>
            </a:r>
            <a:endParaRPr sz="1000" dirty="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For </a:t>
            </a:r>
            <a:r>
              <a:rPr lang="en" sz="1000" b="1" dirty="0">
                <a:solidFill>
                  <a:srgbClr val="0A070D"/>
                </a:solidFill>
                <a:latin typeface="Poppins"/>
                <a:ea typeface="Poppins"/>
                <a:cs typeface="Poppins"/>
                <a:sym typeface="Poppins"/>
              </a:rPr>
              <a:t>PRC license-requiring programs</a:t>
            </a:r>
            <a:r>
              <a:rPr lang="en" sz="1000" dirty="0">
                <a:solidFill>
                  <a:srgbClr val="0A070D"/>
                </a:solidFill>
                <a:latin typeface="Poppins"/>
                <a:ea typeface="Poppins"/>
                <a:cs typeface="Poppins"/>
                <a:sym typeface="Poppins"/>
              </a:rPr>
              <a:t>, the job start time is 11 months, compared to </a:t>
            </a:r>
            <a:r>
              <a:rPr lang="en" sz="1000" b="1" dirty="0">
                <a:solidFill>
                  <a:srgbClr val="0A070D"/>
                </a:solidFill>
                <a:latin typeface="Poppins"/>
                <a:ea typeface="Poppins"/>
                <a:cs typeface="Poppins"/>
                <a:sym typeface="Poppins"/>
              </a:rPr>
              <a:t>5 months</a:t>
            </a:r>
            <a:r>
              <a:rPr lang="en" sz="1000" dirty="0">
                <a:solidFill>
                  <a:srgbClr val="0A070D"/>
                </a:solidFill>
                <a:latin typeface="Poppins"/>
                <a:ea typeface="Poppins"/>
                <a:cs typeface="Poppins"/>
                <a:sym typeface="Poppins"/>
              </a:rPr>
              <a:t> for non-PRC programs.</a:t>
            </a:r>
            <a:endParaRPr sz="1000" dirty="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Graduates of education and social sciences/business and law have the shortest job search, with a median of </a:t>
            </a:r>
            <a:r>
              <a:rPr lang="en" sz="1000" b="1" dirty="0">
                <a:solidFill>
                  <a:srgbClr val="0A070D"/>
                </a:solidFill>
                <a:latin typeface="Poppins"/>
                <a:ea typeface="Poppins"/>
                <a:cs typeface="Poppins"/>
                <a:sym typeface="Poppins"/>
              </a:rPr>
              <a:t>2-3 months.</a:t>
            </a:r>
            <a:endParaRPr sz="1000" b="1" dirty="0">
              <a:solidFill>
                <a:srgbClr val="0A070D"/>
              </a:solidFill>
              <a:latin typeface="Poppins"/>
              <a:ea typeface="Poppins"/>
              <a:cs typeface="Poppins"/>
              <a:sym typeface="Poppins"/>
            </a:endParaRPr>
          </a:p>
        </p:txBody>
      </p:sp>
      <p:pic>
        <p:nvPicPr>
          <p:cNvPr id="174" name="Google Shape;174;p20"/>
          <p:cNvPicPr preferRelativeResize="0"/>
          <p:nvPr/>
        </p:nvPicPr>
        <p:blipFill>
          <a:blip r:embed="rId3">
            <a:alphaModFix/>
          </a:blip>
          <a:stretch>
            <a:fillRect/>
          </a:stretch>
        </p:blipFill>
        <p:spPr>
          <a:xfrm>
            <a:off x="454850" y="2598105"/>
            <a:ext cx="4199775" cy="1757545"/>
          </a:xfrm>
          <a:prstGeom prst="rect">
            <a:avLst/>
          </a:prstGeom>
          <a:noFill/>
          <a:ln w="9525" cap="flat" cmpd="sng">
            <a:solidFill>
              <a:schemeClr val="dk2"/>
            </a:solidFill>
            <a:prstDash val="solid"/>
            <a:round/>
            <a:headEnd type="none" w="sm" len="sm"/>
            <a:tailEnd type="none" w="sm" len="sm"/>
          </a:ln>
        </p:spPr>
      </p:pic>
      <p:sp>
        <p:nvSpPr>
          <p:cNvPr id="175" name="Google Shape;175;p20"/>
          <p:cNvSpPr txBox="1"/>
          <p:nvPr/>
        </p:nvSpPr>
        <p:spPr>
          <a:xfrm>
            <a:off x="416100" y="4519150"/>
            <a:ext cx="8001000" cy="44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dirty="0">
                <a:solidFill>
                  <a:srgbClr val="0A070D"/>
                </a:solidFill>
                <a:latin typeface="Poppins"/>
                <a:ea typeface="Poppins"/>
                <a:cs typeface="Poppins"/>
                <a:sym typeface="Poppins"/>
              </a:rPr>
              <a:t>The difference between the number of months spent looking for work and the number of months before starting work is explained by months spent before starting job search.</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a:solidFill>
                  <a:srgbClr val="0A070D"/>
                </a:solidFill>
                <a:latin typeface="Poppins"/>
                <a:ea typeface="Poppins"/>
                <a:cs typeface="Poppins"/>
                <a:sym typeface="Poppins"/>
              </a:rPr>
              <a:t>Main Reasons for Not Searching right away: The primary reasons for not looking for work immediately were to review for licensure exams (41%) and to rest (33%). Personal Circumstances: Around 12% delayed their job search due to getting married, getting pregnant, or family/household duties.</a:t>
            </a:r>
            <a:endParaRPr sz="700" dirty="0">
              <a:solidFill>
                <a:srgbClr val="0A070D"/>
              </a:solidFill>
              <a:latin typeface="Poppins"/>
              <a:ea typeface="Poppins"/>
              <a:cs typeface="Poppins"/>
              <a:sym typeface="Poppins"/>
            </a:endParaRPr>
          </a:p>
        </p:txBody>
      </p:sp>
      <p:pic>
        <p:nvPicPr>
          <p:cNvPr id="176" name="Google Shape;176;p20"/>
          <p:cNvPicPr preferRelativeResize="0"/>
          <p:nvPr/>
        </p:nvPicPr>
        <p:blipFill rotWithShape="1">
          <a:blip r:embed="rId4">
            <a:alphaModFix/>
          </a:blip>
          <a:srcRect b="18046"/>
          <a:stretch/>
        </p:blipFill>
        <p:spPr>
          <a:xfrm>
            <a:off x="454850" y="935200"/>
            <a:ext cx="4199775" cy="1636543"/>
          </a:xfrm>
          <a:prstGeom prst="rect">
            <a:avLst/>
          </a:prstGeom>
          <a:noFill/>
          <a:ln>
            <a:noFill/>
          </a:ln>
        </p:spPr>
      </p:pic>
      <p:grpSp>
        <p:nvGrpSpPr>
          <p:cNvPr id="177" name="Google Shape;177;p20"/>
          <p:cNvGrpSpPr/>
          <p:nvPr/>
        </p:nvGrpSpPr>
        <p:grpSpPr>
          <a:xfrm>
            <a:off x="480060" y="4355638"/>
            <a:ext cx="1333090" cy="171000"/>
            <a:chOff x="4863710" y="4266038"/>
            <a:chExt cx="1333090" cy="171000"/>
          </a:xfrm>
        </p:grpSpPr>
        <p:sp>
          <p:nvSpPr>
            <p:cNvPr id="178" name="Google Shape;178;p20"/>
            <p:cNvSpPr/>
            <p:nvPr/>
          </p:nvSpPr>
          <p:spPr>
            <a:xfrm>
              <a:off x="4863710" y="4292000"/>
              <a:ext cx="125700" cy="119100"/>
            </a:xfrm>
            <a:prstGeom prst="ellipse">
              <a:avLst/>
            </a:prstGeom>
            <a:solidFill>
              <a:srgbClr val="2D907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 name="Google Shape;179;p20"/>
            <p:cNvSpPr/>
            <p:nvPr/>
          </p:nvSpPr>
          <p:spPr>
            <a:xfrm>
              <a:off x="5536510" y="4291989"/>
              <a:ext cx="125700" cy="119100"/>
            </a:xfrm>
            <a:prstGeom prst="ellipse">
              <a:avLst/>
            </a:prstGeom>
            <a:solidFill>
              <a:srgbClr val="3DB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20"/>
            <p:cNvSpPr txBox="1"/>
            <p:nvPr/>
          </p:nvSpPr>
          <p:spPr>
            <a:xfrm>
              <a:off x="4918250" y="4266038"/>
              <a:ext cx="610800" cy="17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Median</a:t>
              </a:r>
              <a:endParaRPr sz="700">
                <a:solidFill>
                  <a:srgbClr val="0A070D"/>
                </a:solidFill>
                <a:latin typeface="Poppins"/>
                <a:ea typeface="Poppins"/>
                <a:cs typeface="Poppins"/>
                <a:sym typeface="Poppins"/>
              </a:endParaRPr>
            </a:p>
          </p:txBody>
        </p:sp>
        <p:sp>
          <p:nvSpPr>
            <p:cNvPr id="181" name="Google Shape;181;p20"/>
            <p:cNvSpPr txBox="1"/>
            <p:nvPr/>
          </p:nvSpPr>
          <p:spPr>
            <a:xfrm>
              <a:off x="5586000" y="4266038"/>
              <a:ext cx="610800" cy="17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Mean</a:t>
              </a:r>
              <a:endParaRPr sz="700">
                <a:solidFill>
                  <a:srgbClr val="0A070D"/>
                </a:solidFill>
                <a:latin typeface="Poppins"/>
                <a:ea typeface="Poppins"/>
                <a:cs typeface="Poppins"/>
                <a:sym typeface="Poppins"/>
              </a:endParaRPr>
            </a:p>
          </p:txBody>
        </p:sp>
      </p:grpSp>
      <p:sp>
        <p:nvSpPr>
          <p:cNvPr id="182" name="Google Shape;182;p20"/>
          <p:cNvSpPr/>
          <p:nvPr/>
        </p:nvSpPr>
        <p:spPr>
          <a:xfrm>
            <a:off x="1728575" y="2784700"/>
            <a:ext cx="198300" cy="1044900"/>
          </a:xfrm>
          <a:prstGeom prst="rect">
            <a:avLst/>
          </a:prstGeom>
          <a:noFill/>
          <a:ln w="19050" cap="flat" cmpd="sng">
            <a:solidFill>
              <a:srgbClr val="03676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3" name="Google Shape;183;p20"/>
          <p:cNvPicPr preferRelativeResize="0"/>
          <p:nvPr/>
        </p:nvPicPr>
        <p:blipFill>
          <a:blip r:embed="rId5">
            <a:alphaModFix/>
          </a:blip>
          <a:stretch>
            <a:fillRect/>
          </a:stretch>
        </p:blipFill>
        <p:spPr>
          <a:xfrm>
            <a:off x="416100" y="214450"/>
            <a:ext cx="292200" cy="291300"/>
          </a:xfrm>
          <a:prstGeom prst="ellipse">
            <a:avLst/>
          </a:prstGeom>
          <a:noFill/>
          <a:ln>
            <a:noFill/>
          </a:ln>
        </p:spPr>
      </p:pic>
      <p:pic>
        <p:nvPicPr>
          <p:cNvPr id="184" name="Google Shape;184;p20"/>
          <p:cNvPicPr preferRelativeResize="0"/>
          <p:nvPr/>
        </p:nvPicPr>
        <p:blipFill>
          <a:blip r:embed="rId6">
            <a:alphaModFix/>
          </a:blip>
          <a:stretch>
            <a:fillRect/>
          </a:stretch>
        </p:blipFill>
        <p:spPr>
          <a:xfrm>
            <a:off x="1000492" y="214450"/>
            <a:ext cx="292200" cy="291300"/>
          </a:xfrm>
          <a:prstGeom prst="ellipse">
            <a:avLst/>
          </a:prstGeom>
          <a:noFill/>
          <a:ln>
            <a:noFill/>
          </a:ln>
        </p:spPr>
      </p:pic>
      <p:pic>
        <p:nvPicPr>
          <p:cNvPr id="185" name="Google Shape;185;p20"/>
          <p:cNvPicPr preferRelativeResize="0"/>
          <p:nvPr/>
        </p:nvPicPr>
        <p:blipFill>
          <a:blip r:embed="rId7">
            <a:alphaModFix/>
          </a:blip>
          <a:stretch>
            <a:fillRect/>
          </a:stretch>
        </p:blipFill>
        <p:spPr>
          <a:xfrm>
            <a:off x="708310" y="214450"/>
            <a:ext cx="292200" cy="291300"/>
          </a:xfrm>
          <a:prstGeom prst="ellips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1"/>
          <p:cNvSpPr txBox="1"/>
          <p:nvPr/>
        </p:nvSpPr>
        <p:spPr>
          <a:xfrm>
            <a:off x="5456800" y="1032300"/>
            <a:ext cx="3270900" cy="2097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2600"/>
              <a:buFont typeface="Arial"/>
              <a:buNone/>
            </a:pPr>
            <a:r>
              <a:rPr lang="en" sz="1000" b="1">
                <a:solidFill>
                  <a:srgbClr val="0A070D"/>
                </a:solidFill>
                <a:latin typeface="Poppins"/>
                <a:ea typeface="Poppins"/>
                <a:cs typeface="Poppins"/>
                <a:sym typeface="Poppins"/>
              </a:rPr>
              <a:t>Across studies, 70-90% are cited as the placement rate of HEIs</a:t>
            </a:r>
            <a:endParaRPr sz="1000" b="1">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In the PIDS study involving 11k HEI grads, </a:t>
            </a:r>
            <a:r>
              <a:rPr lang="en" sz="1000" b="1">
                <a:solidFill>
                  <a:srgbClr val="0A070D"/>
                </a:solidFill>
                <a:latin typeface="Poppins"/>
                <a:ea typeface="Poppins"/>
                <a:cs typeface="Poppins"/>
                <a:sym typeface="Poppins"/>
              </a:rPr>
              <a:t>85%</a:t>
            </a:r>
            <a:r>
              <a:rPr lang="en" sz="1000">
                <a:solidFill>
                  <a:srgbClr val="0A070D"/>
                </a:solidFill>
                <a:latin typeface="Poppins"/>
                <a:ea typeface="Poppins"/>
                <a:cs typeface="Poppins"/>
                <a:sym typeface="Poppins"/>
              </a:rPr>
              <a:t> of the grads have had their first job after graduation by time of study. </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A placement rate of of </a:t>
            </a:r>
            <a:r>
              <a:rPr lang="en" sz="1000" b="1">
                <a:solidFill>
                  <a:srgbClr val="0A070D"/>
                </a:solidFill>
                <a:latin typeface="Poppins"/>
                <a:ea typeface="Poppins"/>
                <a:cs typeface="Poppins"/>
                <a:sym typeface="Poppins"/>
              </a:rPr>
              <a:t>74%</a:t>
            </a:r>
            <a:r>
              <a:rPr lang="en" sz="1000">
                <a:solidFill>
                  <a:srgbClr val="0A070D"/>
                </a:solidFill>
                <a:latin typeface="Poppins"/>
                <a:ea typeface="Poppins"/>
                <a:cs typeface="Poppins"/>
                <a:sym typeface="Poppins"/>
              </a:rPr>
              <a:t>. This is significantly higher than the university's strategic target of 67% </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6</a:t>
            </a:r>
            <a:r>
              <a:rPr lang="en" sz="1000">
                <a:solidFill>
                  <a:srgbClr val="0A070D"/>
                </a:solidFill>
                <a:latin typeface="Poppins"/>
                <a:ea typeface="Poppins"/>
                <a:cs typeface="Poppins"/>
                <a:sym typeface="Poppins"/>
              </a:rPr>
              <a:t> other tracers studies conducted at HEI-level or discipline-level were reviewed with similar results</a:t>
            </a:r>
            <a:endParaRPr sz="1000">
              <a:solidFill>
                <a:srgbClr val="0A070D"/>
              </a:solidFill>
              <a:latin typeface="Poppins"/>
              <a:ea typeface="Poppins"/>
              <a:cs typeface="Poppins"/>
              <a:sym typeface="Poppins"/>
            </a:endParaRPr>
          </a:p>
        </p:txBody>
      </p:sp>
      <p:sp>
        <p:nvSpPr>
          <p:cNvPr id="191" name="Google Shape;191;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
        <p:nvSpPr>
          <p:cNvPr id="192" name="Google Shape;192;p21"/>
          <p:cNvSpPr txBox="1"/>
          <p:nvPr/>
        </p:nvSpPr>
        <p:spPr>
          <a:xfrm>
            <a:off x="308703" y="416053"/>
            <a:ext cx="80010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~80% HEI grads find placement, but not through school</a:t>
            </a:r>
            <a:endParaRPr sz="2200" b="0" i="0" u="none" strike="noStrike" cap="none">
              <a:solidFill>
                <a:srgbClr val="0A070D"/>
              </a:solidFill>
              <a:latin typeface="Poppins SemiBold"/>
              <a:ea typeface="Poppins SemiBold"/>
              <a:cs typeface="Poppins SemiBold"/>
              <a:sym typeface="Poppins SemiBold"/>
            </a:endParaRPr>
          </a:p>
        </p:txBody>
      </p:sp>
      <p:sp>
        <p:nvSpPr>
          <p:cNvPr id="193" name="Google Shape;193;p21"/>
          <p:cNvSpPr txBox="1"/>
          <p:nvPr/>
        </p:nvSpPr>
        <p:spPr>
          <a:xfrm>
            <a:off x="416100" y="3249000"/>
            <a:ext cx="8212500" cy="17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0A070D"/>
                </a:solidFill>
                <a:latin typeface="Poppins"/>
                <a:ea typeface="Poppins"/>
                <a:cs typeface="Poppins"/>
                <a:sym typeface="Poppins"/>
              </a:rPr>
              <a:t>Tracer Studies of HEI Graduate Employment: </a:t>
            </a:r>
            <a:endParaRPr sz="700" b="1"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a:solidFill>
                  <a:srgbClr val="0A070D"/>
                </a:solidFill>
                <a:latin typeface="Poppins"/>
                <a:ea typeface="Poppins"/>
                <a:cs typeface="Poppins"/>
                <a:sym typeface="Poppins"/>
              </a:rPr>
              <a:t>Roman, A. G., &amp; Villanueva, R. U. (Year). Graduate employment rate of one state university of the </a:t>
            </a:r>
            <a:r>
              <a:rPr lang="en" sz="700" dirty="0" err="1">
                <a:solidFill>
                  <a:srgbClr val="0A070D"/>
                </a:solidFill>
                <a:latin typeface="Poppins"/>
                <a:ea typeface="Poppins"/>
                <a:cs typeface="Poppins"/>
                <a:sym typeface="Poppins"/>
              </a:rPr>
              <a:t>Calabarzon</a:t>
            </a:r>
            <a:r>
              <a:rPr lang="en" sz="700" dirty="0">
                <a:solidFill>
                  <a:srgbClr val="0A070D"/>
                </a:solidFill>
                <a:latin typeface="Poppins"/>
                <a:ea typeface="Poppins"/>
                <a:cs typeface="Poppins"/>
                <a:sym typeface="Poppins"/>
              </a:rPr>
              <a:t> region in Philippines: A retrospection. *International Journal of Evaluation and Research in Education*, *Volume*(Issue), Page numbers. Laguna State Polytechnic University, </a:t>
            </a:r>
            <a:r>
              <a:rPr lang="en" sz="700" dirty="0" err="1">
                <a:solidFill>
                  <a:srgbClr val="0A070D"/>
                </a:solidFill>
                <a:latin typeface="Poppins"/>
                <a:ea typeface="Poppins"/>
                <a:cs typeface="Poppins"/>
                <a:sym typeface="Poppins"/>
              </a:rPr>
              <a:t>Siniloan</a:t>
            </a:r>
            <a:r>
              <a:rPr lang="en" sz="700" dirty="0">
                <a:solidFill>
                  <a:srgbClr val="0A070D"/>
                </a:solidFill>
                <a:latin typeface="Poppins"/>
                <a:ea typeface="Poppins"/>
                <a:cs typeface="Poppins"/>
                <a:sym typeface="Poppins"/>
              </a:rPr>
              <a:t>, Philippines.</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err="1">
                <a:solidFill>
                  <a:srgbClr val="0A070D"/>
                </a:solidFill>
                <a:latin typeface="Poppins"/>
                <a:ea typeface="Poppins"/>
                <a:cs typeface="Poppins"/>
                <a:sym typeface="Poppins"/>
              </a:rPr>
              <a:t>Hipona</a:t>
            </a:r>
            <a:r>
              <a:rPr lang="en" sz="700" dirty="0">
                <a:solidFill>
                  <a:srgbClr val="0A070D"/>
                </a:solidFill>
                <a:latin typeface="Poppins"/>
                <a:ea typeface="Poppins"/>
                <a:cs typeface="Poppins"/>
                <a:sym typeface="Poppins"/>
              </a:rPr>
              <a:t>, J. B., Cuevas, J. E. T., &amp; Martin, J. A. (2021). A Tracer Study of the Bachelor of Science in Nursing Program of La </a:t>
            </a:r>
            <a:r>
              <a:rPr lang="en" sz="700" dirty="0" err="1">
                <a:solidFill>
                  <a:srgbClr val="0A070D"/>
                </a:solidFill>
                <a:latin typeface="Poppins"/>
                <a:ea typeface="Poppins"/>
                <a:cs typeface="Poppins"/>
                <a:sym typeface="Poppins"/>
              </a:rPr>
              <a:t>Consolacion</a:t>
            </a:r>
            <a:r>
              <a:rPr lang="en" sz="700" dirty="0">
                <a:solidFill>
                  <a:srgbClr val="0A070D"/>
                </a:solidFill>
                <a:latin typeface="Poppins"/>
                <a:ea typeface="Poppins"/>
                <a:cs typeface="Poppins"/>
                <a:sym typeface="Poppins"/>
              </a:rPr>
              <a:t> University Philippines Graduates: A Reflection on Institutional goals. Cosmos An International Journal of Art &amp; Higher Education, 10(1), 16–26. </a:t>
            </a:r>
            <a:r>
              <a:rPr lang="en" sz="700" dirty="0" err="1">
                <a:solidFill>
                  <a:srgbClr val="0A070D"/>
                </a:solidFill>
                <a:latin typeface="Poppins"/>
                <a:ea typeface="Poppins"/>
                <a:cs typeface="Poppins"/>
                <a:sym typeface="Poppins"/>
              </a:rPr>
              <a:t>doi</a:t>
            </a:r>
            <a:r>
              <a:rPr lang="en" sz="700" dirty="0">
                <a:solidFill>
                  <a:srgbClr val="0A070D"/>
                </a:solidFill>
                <a:latin typeface="Poppins"/>
                <a:ea typeface="Poppins"/>
                <a:cs typeface="Poppins"/>
                <a:sym typeface="Poppins"/>
              </a:rPr>
              <a:t>: 10.46360/cosmos.ahe.520211004.</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a:solidFill>
                  <a:srgbClr val="0A070D"/>
                </a:solidFill>
                <a:latin typeface="Poppins"/>
                <a:ea typeface="Poppins"/>
                <a:cs typeface="Poppins"/>
                <a:sym typeface="Poppins"/>
              </a:rPr>
              <a:t>Mina, J. C., Reyes, E. J. G., &amp; Salas, R. F. (2020). A Tracer Study of Bachelor of Science in Information Technology (BSIT) Graduates of Nueva Ecija University of Science and Technology (NEUST), San Isidro Campus. International Journal of English Literature and Social Sciences, 5(4), 1337–1344. </a:t>
            </a:r>
            <a:r>
              <a:rPr lang="en" sz="700" dirty="0" err="1">
                <a:solidFill>
                  <a:srgbClr val="0A070D"/>
                </a:solidFill>
                <a:latin typeface="Poppins"/>
                <a:ea typeface="Poppins"/>
                <a:cs typeface="Poppins"/>
                <a:sym typeface="Poppins"/>
              </a:rPr>
              <a:t>doi</a:t>
            </a:r>
            <a:r>
              <a:rPr lang="en" sz="700" dirty="0">
                <a:solidFill>
                  <a:srgbClr val="0A070D"/>
                </a:solidFill>
                <a:latin typeface="Poppins"/>
                <a:ea typeface="Poppins"/>
                <a:cs typeface="Poppins"/>
                <a:sym typeface="Poppins"/>
              </a:rPr>
              <a:t>: 10.22161/ijels.54.77.</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err="1">
                <a:solidFill>
                  <a:srgbClr val="0A070D"/>
                </a:solidFill>
                <a:latin typeface="Poppins"/>
                <a:ea typeface="Poppins"/>
                <a:cs typeface="Poppins"/>
                <a:sym typeface="Poppins"/>
              </a:rPr>
              <a:t>Malahay</a:t>
            </a:r>
            <a:r>
              <a:rPr lang="en" sz="700" dirty="0">
                <a:solidFill>
                  <a:srgbClr val="0A070D"/>
                </a:solidFill>
                <a:latin typeface="Poppins"/>
                <a:ea typeface="Poppins"/>
                <a:cs typeface="Poppins"/>
                <a:sym typeface="Poppins"/>
              </a:rPr>
              <a:t>, R. S., &amp; </a:t>
            </a:r>
            <a:r>
              <a:rPr lang="en" sz="700" dirty="0" err="1">
                <a:solidFill>
                  <a:srgbClr val="0A070D"/>
                </a:solidFill>
                <a:latin typeface="Poppins"/>
                <a:ea typeface="Poppins"/>
                <a:cs typeface="Poppins"/>
                <a:sym typeface="Poppins"/>
              </a:rPr>
              <a:t>Saing</a:t>
            </a:r>
            <a:r>
              <a:rPr lang="en" sz="700" dirty="0">
                <a:solidFill>
                  <a:srgbClr val="0A070D"/>
                </a:solidFill>
                <a:latin typeface="Poppins"/>
                <a:ea typeface="Poppins"/>
                <a:cs typeface="Poppins"/>
                <a:sym typeface="Poppins"/>
              </a:rPr>
              <a:t>, P. M. (2018). A tracer study of Bachelor of Science in Computer Science Graduates of Negros Oriental State University-</a:t>
            </a:r>
            <a:r>
              <a:rPr lang="en" sz="700" dirty="0" err="1">
                <a:solidFill>
                  <a:srgbClr val="0A070D"/>
                </a:solidFill>
                <a:latin typeface="Poppins"/>
                <a:ea typeface="Poppins"/>
                <a:cs typeface="Poppins"/>
                <a:sym typeface="Poppins"/>
              </a:rPr>
              <a:t>Guihulngan</a:t>
            </a:r>
            <a:r>
              <a:rPr lang="en" sz="700" dirty="0">
                <a:solidFill>
                  <a:srgbClr val="0A070D"/>
                </a:solidFill>
                <a:latin typeface="Poppins"/>
                <a:ea typeface="Poppins"/>
                <a:cs typeface="Poppins"/>
                <a:sym typeface="Poppins"/>
              </a:rPr>
              <a:t> City Campus, Philippines. International Journal of Applied Research, 4(12), 44–46.</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err="1">
                <a:solidFill>
                  <a:srgbClr val="0A070D"/>
                </a:solidFill>
                <a:latin typeface="Poppins"/>
                <a:ea typeface="Poppins"/>
                <a:cs typeface="Poppins"/>
                <a:sym typeface="Poppins"/>
              </a:rPr>
              <a:t>Caingcoy</a:t>
            </a:r>
            <a:r>
              <a:rPr lang="en" sz="700" dirty="0">
                <a:solidFill>
                  <a:srgbClr val="0A070D"/>
                </a:solidFill>
                <a:latin typeface="Poppins"/>
                <a:ea typeface="Poppins"/>
                <a:cs typeface="Poppins"/>
                <a:sym typeface="Poppins"/>
              </a:rPr>
              <a:t>, M. (2020). Cross-Sectional Inquiry on Employability and Employment Status of Bachelor of Secondary Education Graduates (2016-2018): A Tracer Study. SSRN Electronic Journal. </a:t>
            </a:r>
            <a:r>
              <a:rPr lang="en" sz="700" dirty="0" err="1">
                <a:solidFill>
                  <a:srgbClr val="0A070D"/>
                </a:solidFill>
                <a:latin typeface="Poppins"/>
                <a:ea typeface="Poppins"/>
                <a:cs typeface="Poppins"/>
                <a:sym typeface="Poppins"/>
              </a:rPr>
              <a:t>doi</a:t>
            </a:r>
            <a:r>
              <a:rPr lang="en" sz="700" dirty="0">
                <a:solidFill>
                  <a:srgbClr val="0A070D"/>
                </a:solidFill>
                <a:latin typeface="Poppins"/>
                <a:ea typeface="Poppins"/>
                <a:cs typeface="Poppins"/>
                <a:sym typeface="Poppins"/>
              </a:rPr>
              <a:t>: 10.2139/ssrn.3632058.</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err="1">
                <a:solidFill>
                  <a:srgbClr val="0A070D"/>
                </a:solidFill>
                <a:latin typeface="Poppins"/>
                <a:ea typeface="Poppins"/>
                <a:cs typeface="Poppins"/>
                <a:sym typeface="Poppins"/>
              </a:rPr>
              <a:t>Corpuz</a:t>
            </a:r>
            <a:r>
              <a:rPr lang="en" sz="700" dirty="0">
                <a:solidFill>
                  <a:srgbClr val="0A070D"/>
                </a:solidFill>
                <a:latin typeface="Poppins"/>
                <a:ea typeface="Poppins"/>
                <a:cs typeface="Poppins"/>
                <a:sym typeface="Poppins"/>
              </a:rPr>
              <a:t>, E. R. P. (2020). Tracer Study of Nueva Ecija University of Science and Technology Graduates (</a:t>
            </a:r>
            <a:r>
              <a:rPr lang="en" sz="700" dirty="0" err="1">
                <a:solidFill>
                  <a:srgbClr val="0A070D"/>
                </a:solidFill>
                <a:latin typeface="Poppins"/>
                <a:ea typeface="Poppins"/>
                <a:cs typeface="Poppins"/>
                <a:sym typeface="Poppins"/>
              </a:rPr>
              <a:t>Atate</a:t>
            </a:r>
            <a:r>
              <a:rPr lang="en" sz="700" dirty="0">
                <a:solidFill>
                  <a:srgbClr val="0A070D"/>
                </a:solidFill>
                <a:latin typeface="Poppins"/>
                <a:ea typeface="Poppins"/>
                <a:cs typeface="Poppins"/>
                <a:sym typeface="Poppins"/>
              </a:rPr>
              <a:t> Campus). International Journal of English Literature and Social Sciences, 5(2), 434–440. </a:t>
            </a:r>
            <a:r>
              <a:rPr lang="en" sz="700" dirty="0" err="1">
                <a:solidFill>
                  <a:srgbClr val="0A070D"/>
                </a:solidFill>
                <a:latin typeface="Poppins"/>
                <a:ea typeface="Poppins"/>
                <a:cs typeface="Poppins"/>
                <a:sym typeface="Poppins"/>
              </a:rPr>
              <a:t>doi</a:t>
            </a:r>
            <a:r>
              <a:rPr lang="en" sz="700" dirty="0">
                <a:solidFill>
                  <a:srgbClr val="0A070D"/>
                </a:solidFill>
                <a:latin typeface="Poppins"/>
                <a:ea typeface="Poppins"/>
                <a:cs typeface="Poppins"/>
                <a:sym typeface="Poppins"/>
              </a:rPr>
              <a:t>: 10.22161/ijels.52.17.</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r>
              <a:rPr lang="en" sz="700" dirty="0" err="1">
                <a:solidFill>
                  <a:srgbClr val="0A070D"/>
                </a:solidFill>
                <a:latin typeface="Poppins"/>
                <a:ea typeface="Poppins"/>
                <a:cs typeface="Poppins"/>
                <a:sym typeface="Poppins"/>
              </a:rPr>
              <a:t>Calpa</a:t>
            </a:r>
            <a:r>
              <a:rPr lang="en" sz="700" dirty="0">
                <a:solidFill>
                  <a:srgbClr val="0A070D"/>
                </a:solidFill>
                <a:latin typeface="Poppins"/>
                <a:ea typeface="Poppins"/>
                <a:cs typeface="Poppins"/>
                <a:sym typeface="Poppins"/>
              </a:rPr>
              <a:t>, M. J. B., </a:t>
            </a:r>
            <a:r>
              <a:rPr lang="en" sz="700" dirty="0" err="1">
                <a:solidFill>
                  <a:srgbClr val="0A070D"/>
                </a:solidFill>
                <a:latin typeface="Poppins"/>
                <a:ea typeface="Poppins"/>
                <a:cs typeface="Poppins"/>
                <a:sym typeface="Poppins"/>
              </a:rPr>
              <a:t>Esquierdo</a:t>
            </a:r>
            <a:r>
              <a:rPr lang="en" sz="700" dirty="0">
                <a:solidFill>
                  <a:srgbClr val="0A070D"/>
                </a:solidFill>
                <a:latin typeface="Poppins"/>
                <a:ea typeface="Poppins"/>
                <a:cs typeface="Poppins"/>
                <a:sym typeface="Poppins"/>
              </a:rPr>
              <a:t>, I. E., &amp; </a:t>
            </a:r>
            <a:r>
              <a:rPr lang="en" sz="700" dirty="0" err="1">
                <a:solidFill>
                  <a:srgbClr val="0A070D"/>
                </a:solidFill>
                <a:latin typeface="Poppins"/>
                <a:ea typeface="Poppins"/>
                <a:cs typeface="Poppins"/>
                <a:sym typeface="Poppins"/>
              </a:rPr>
              <a:t>Unay</a:t>
            </a:r>
            <a:r>
              <a:rPr lang="en" sz="700" dirty="0">
                <a:solidFill>
                  <a:srgbClr val="0A070D"/>
                </a:solidFill>
                <a:latin typeface="Poppins"/>
                <a:ea typeface="Poppins"/>
                <a:cs typeface="Poppins"/>
                <a:sym typeface="Poppins"/>
              </a:rPr>
              <a:t>, O. D. (2021). Tracer Study of Bs in Mathematics Graduates (2001 – 2015) of the College of Science, University of Eastern Philippines. Asian Research Journal of Mathematics, 17(1), 38–44. </a:t>
            </a:r>
            <a:r>
              <a:rPr lang="en" sz="700" dirty="0" err="1">
                <a:solidFill>
                  <a:srgbClr val="0A070D"/>
                </a:solidFill>
                <a:latin typeface="Poppins"/>
                <a:ea typeface="Poppins"/>
                <a:cs typeface="Poppins"/>
                <a:sym typeface="Poppins"/>
              </a:rPr>
              <a:t>doi</a:t>
            </a:r>
            <a:r>
              <a:rPr lang="en" sz="700" dirty="0">
                <a:solidFill>
                  <a:srgbClr val="0A070D"/>
                </a:solidFill>
                <a:latin typeface="Poppins"/>
                <a:ea typeface="Poppins"/>
                <a:cs typeface="Poppins"/>
                <a:sym typeface="Poppins"/>
              </a:rPr>
              <a:t>: 10.9734/</a:t>
            </a:r>
            <a:r>
              <a:rPr lang="en" sz="700" dirty="0" err="1">
                <a:solidFill>
                  <a:srgbClr val="0A070D"/>
                </a:solidFill>
                <a:latin typeface="Poppins"/>
                <a:ea typeface="Poppins"/>
                <a:cs typeface="Poppins"/>
                <a:sym typeface="Poppins"/>
              </a:rPr>
              <a:t>arjom</a:t>
            </a:r>
            <a:r>
              <a:rPr lang="en" sz="700" dirty="0">
                <a:solidFill>
                  <a:srgbClr val="0A070D"/>
                </a:solidFill>
                <a:latin typeface="Poppins"/>
                <a:ea typeface="Poppins"/>
                <a:cs typeface="Poppins"/>
                <a:sym typeface="Poppins"/>
              </a:rPr>
              <a:t>/2021/v17i130263.</a:t>
            </a: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a:p>
            <a:pPr marL="0" lvl="0" indent="0" algn="l" rtl="0">
              <a:spcBef>
                <a:spcPts val="0"/>
              </a:spcBef>
              <a:spcAft>
                <a:spcPts val="0"/>
              </a:spcAft>
              <a:buNone/>
            </a:pPr>
            <a:endParaRPr sz="700" dirty="0">
              <a:solidFill>
                <a:srgbClr val="0A070D"/>
              </a:solidFill>
              <a:latin typeface="Poppins"/>
              <a:ea typeface="Poppins"/>
              <a:cs typeface="Poppins"/>
              <a:sym typeface="Poppins"/>
            </a:endParaRPr>
          </a:p>
        </p:txBody>
      </p:sp>
      <p:pic>
        <p:nvPicPr>
          <p:cNvPr id="194" name="Google Shape;194;p21"/>
          <p:cNvPicPr preferRelativeResize="0"/>
          <p:nvPr/>
        </p:nvPicPr>
        <p:blipFill>
          <a:blip r:embed="rId3">
            <a:alphaModFix/>
          </a:blip>
          <a:stretch>
            <a:fillRect/>
          </a:stretch>
        </p:blipFill>
        <p:spPr>
          <a:xfrm>
            <a:off x="416100" y="214450"/>
            <a:ext cx="292200" cy="291300"/>
          </a:xfrm>
          <a:prstGeom prst="ellipse">
            <a:avLst/>
          </a:prstGeom>
          <a:noFill/>
          <a:ln>
            <a:noFill/>
          </a:ln>
        </p:spPr>
      </p:pic>
      <p:pic>
        <p:nvPicPr>
          <p:cNvPr id="195" name="Google Shape;195;p21"/>
          <p:cNvPicPr preferRelativeResize="0"/>
          <p:nvPr/>
        </p:nvPicPr>
        <p:blipFill>
          <a:blip r:embed="rId4">
            <a:alphaModFix/>
          </a:blip>
          <a:stretch>
            <a:fillRect/>
          </a:stretch>
        </p:blipFill>
        <p:spPr>
          <a:xfrm>
            <a:off x="1000492" y="214450"/>
            <a:ext cx="292200" cy="291300"/>
          </a:xfrm>
          <a:prstGeom prst="ellipse">
            <a:avLst/>
          </a:prstGeom>
          <a:noFill/>
          <a:ln>
            <a:noFill/>
          </a:ln>
        </p:spPr>
      </p:pic>
      <p:pic>
        <p:nvPicPr>
          <p:cNvPr id="196" name="Google Shape;196;p21"/>
          <p:cNvPicPr preferRelativeResize="0"/>
          <p:nvPr/>
        </p:nvPicPr>
        <p:blipFill>
          <a:blip r:embed="rId5">
            <a:alphaModFix/>
          </a:blip>
          <a:stretch>
            <a:fillRect/>
          </a:stretch>
        </p:blipFill>
        <p:spPr>
          <a:xfrm>
            <a:off x="708310" y="214450"/>
            <a:ext cx="292200" cy="291300"/>
          </a:xfrm>
          <a:prstGeom prst="ellipse">
            <a:avLst/>
          </a:prstGeom>
          <a:noFill/>
          <a:ln>
            <a:noFill/>
          </a:ln>
        </p:spPr>
      </p:pic>
      <p:pic>
        <p:nvPicPr>
          <p:cNvPr id="197" name="Google Shape;197;p21"/>
          <p:cNvPicPr preferRelativeResize="0"/>
          <p:nvPr/>
        </p:nvPicPr>
        <p:blipFill>
          <a:blip r:embed="rId6">
            <a:alphaModFix/>
          </a:blip>
          <a:stretch>
            <a:fillRect/>
          </a:stretch>
        </p:blipFill>
        <p:spPr>
          <a:xfrm>
            <a:off x="416100" y="913200"/>
            <a:ext cx="4859724" cy="233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
        <p:nvSpPr>
          <p:cNvPr id="203" name="Google Shape;203;p22"/>
          <p:cNvSpPr txBox="1"/>
          <p:nvPr/>
        </p:nvSpPr>
        <p:spPr>
          <a:xfrm>
            <a:off x="308700" y="416050"/>
            <a:ext cx="8272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622 of the 1,000 K-12 grads say “No Diploma, No Problem”</a:t>
            </a:r>
            <a:endParaRPr sz="2200" b="0" i="0" u="none" strike="noStrike" cap="none" dirty="0">
              <a:solidFill>
                <a:srgbClr val="0A070D"/>
              </a:solidFill>
              <a:latin typeface="Poppins SemiBold"/>
              <a:ea typeface="Poppins SemiBold"/>
              <a:cs typeface="Poppins SemiBold"/>
              <a:sym typeface="Poppins SemiBold"/>
            </a:endParaRPr>
          </a:p>
        </p:txBody>
      </p:sp>
      <p:sp>
        <p:nvSpPr>
          <p:cNvPr id="204" name="Google Shape;204;p22"/>
          <p:cNvSpPr txBox="1"/>
          <p:nvPr/>
        </p:nvSpPr>
        <p:spPr>
          <a:xfrm>
            <a:off x="5166775" y="1032300"/>
            <a:ext cx="3561000" cy="295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solidFill>
                  <a:srgbClr val="0A070D"/>
                </a:solidFill>
                <a:latin typeface="Poppins"/>
                <a:ea typeface="Poppins"/>
                <a:cs typeface="Poppins"/>
                <a:sym typeface="Poppins"/>
              </a:rPr>
              <a:t>75% of HEI enrolled don’t complete, but very limited visibility on this segment</a:t>
            </a:r>
            <a:endParaRPr sz="1000" b="1">
              <a:solidFill>
                <a:srgbClr val="0A070D"/>
              </a:solidFill>
              <a:latin typeface="Poppins"/>
              <a:ea typeface="Poppins"/>
              <a:cs typeface="Poppins"/>
              <a:sym typeface="Poppins"/>
            </a:endParaRPr>
          </a:p>
          <a:p>
            <a:pPr marL="0" lvl="0" indent="0" algn="l" rtl="0">
              <a:spcBef>
                <a:spcPts val="0"/>
              </a:spcBef>
              <a:spcAft>
                <a:spcPts val="0"/>
              </a:spcAft>
              <a:buClr>
                <a:schemeClr val="dk1"/>
              </a:buClr>
              <a:buSzPts val="2600"/>
              <a:buFont typeface="Arial"/>
              <a:buNone/>
            </a:pPr>
            <a:endParaRPr sz="1000" b="1">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HEIs had a 15.90% attrition rate in SY (SY ‘20-21, which jumped to 37.79% (SY ’21-’22) and </a:t>
            </a:r>
            <a:r>
              <a:rPr lang="en" sz="1000" b="1">
                <a:solidFill>
                  <a:srgbClr val="0A070D"/>
                </a:solidFill>
                <a:latin typeface="Poppins"/>
                <a:ea typeface="Poppins"/>
                <a:cs typeface="Poppins"/>
                <a:sym typeface="Poppins"/>
              </a:rPr>
              <a:t>41% in (SY ‘22-’23).</a:t>
            </a:r>
            <a:endParaRPr sz="1000" b="1">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The primary reason for dropping out was a </a:t>
            </a:r>
            <a:r>
              <a:rPr lang="en" sz="1000" b="1">
                <a:solidFill>
                  <a:srgbClr val="0A070D"/>
                </a:solidFill>
                <a:latin typeface="Poppins"/>
                <a:ea typeface="Poppins"/>
                <a:cs typeface="Poppins"/>
                <a:sym typeface="Poppins"/>
              </a:rPr>
              <a:t>lack of financial resources </a:t>
            </a:r>
            <a:r>
              <a:rPr lang="en" sz="1000">
                <a:solidFill>
                  <a:srgbClr val="0A070D"/>
                </a:solidFill>
                <a:latin typeface="Poppins"/>
                <a:ea typeface="Poppins"/>
                <a:cs typeface="Poppins"/>
                <a:sym typeface="Poppins"/>
              </a:rPr>
              <a:t>with many students were already working while attending college, suggesting that the need to earn an income was a critical factor in their decision to drop out.</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b="1">
                <a:solidFill>
                  <a:srgbClr val="0A070D"/>
                </a:solidFill>
                <a:latin typeface="Poppins"/>
                <a:ea typeface="Poppins"/>
                <a:cs typeface="Poppins"/>
                <a:sym typeface="Poppins"/>
              </a:rPr>
              <a:t>~10%</a:t>
            </a:r>
            <a:r>
              <a:rPr lang="en" sz="1000">
                <a:solidFill>
                  <a:srgbClr val="0A070D"/>
                </a:solidFill>
                <a:latin typeface="Poppins"/>
                <a:ea typeface="Poppins"/>
                <a:cs typeface="Poppins"/>
                <a:sym typeface="Poppins"/>
              </a:rPr>
              <a:t> of jobs state that only some HEI is needed, however the number may be higher</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Based on qualitative feedback and discussion with HR from the </a:t>
            </a:r>
            <a:r>
              <a:rPr lang="en" sz="1000" b="1">
                <a:solidFill>
                  <a:srgbClr val="0A070D"/>
                </a:solidFill>
                <a:latin typeface="Poppins"/>
                <a:ea typeface="Poppins"/>
                <a:cs typeface="Poppins"/>
                <a:sym typeface="Poppins"/>
              </a:rPr>
              <a:t>BPO industry, “second-year college completers” </a:t>
            </a:r>
            <a:r>
              <a:rPr lang="en" sz="1000">
                <a:solidFill>
                  <a:srgbClr val="0A070D"/>
                </a:solidFill>
                <a:latin typeface="Poppins"/>
                <a:ea typeface="Poppins"/>
                <a:cs typeface="Poppins"/>
                <a:sym typeface="Poppins"/>
              </a:rPr>
              <a:t>is a common standard for call centre positions. </a:t>
            </a:r>
            <a:endParaRPr sz="1000" b="1">
              <a:solidFill>
                <a:srgbClr val="0A070D"/>
              </a:solidFill>
              <a:latin typeface="Poppins"/>
              <a:ea typeface="Poppins"/>
              <a:cs typeface="Poppins"/>
              <a:sym typeface="Poppins"/>
            </a:endParaRPr>
          </a:p>
        </p:txBody>
      </p:sp>
      <p:sp>
        <p:nvSpPr>
          <p:cNvPr id="205" name="Google Shape;205;p22"/>
          <p:cNvSpPr txBox="1"/>
          <p:nvPr/>
        </p:nvSpPr>
        <p:spPr>
          <a:xfrm>
            <a:off x="444300" y="4246850"/>
            <a:ext cx="8001000" cy="44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Source: The 4th Philippine Graduate Tracer Study: Examining Higher Education as a Pathway to Employment, Citizenship, and Life Satisfaction from the Learner’s Perspective. Research Paper Series No. 2021-05 (PIDS. 2021). Data collection ran from July 2014 to June 2015. A total of 11,547 face-to-face interviews were completed.</a:t>
            </a:r>
            <a:endParaRPr sz="700">
              <a:solidFill>
                <a:srgbClr val="0A070D"/>
              </a:solidFill>
              <a:latin typeface="Poppins"/>
              <a:ea typeface="Poppins"/>
              <a:cs typeface="Poppins"/>
              <a:sym typeface="Poppins"/>
            </a:endParaRPr>
          </a:p>
          <a:p>
            <a:pPr marL="0" lvl="0" indent="0" algn="l" rtl="0">
              <a:spcBef>
                <a:spcPts val="0"/>
              </a:spcBef>
              <a:spcAft>
                <a:spcPts val="0"/>
              </a:spcAft>
              <a:buNone/>
            </a:pPr>
            <a:r>
              <a:rPr lang="en" sz="700">
                <a:solidFill>
                  <a:srgbClr val="0A070D"/>
                </a:solidFill>
                <a:latin typeface="Poppins"/>
                <a:ea typeface="Poppins"/>
                <a:cs typeface="Poppins"/>
                <a:sym typeface="Poppins"/>
              </a:rPr>
              <a:t>Senator Sherwin Gatchalian Speech. 2023 </a:t>
            </a:r>
            <a:r>
              <a:rPr lang="en" sz="700" u="sng">
                <a:solidFill>
                  <a:schemeClr val="hlink"/>
                </a:solidFill>
                <a:latin typeface="Poppins"/>
                <a:ea typeface="Poppins"/>
                <a:cs typeface="Poppins"/>
                <a:sym typeface="Poppins"/>
                <a:hlinkClick r:id="rId3"/>
              </a:rPr>
              <a:t>Accessed July 2024</a:t>
            </a:r>
            <a:r>
              <a:rPr lang="en" sz="700">
                <a:solidFill>
                  <a:srgbClr val="0A070D"/>
                </a:solidFill>
                <a:latin typeface="Poppins"/>
                <a:ea typeface="Poppins"/>
                <a:cs typeface="Poppins"/>
                <a:sym typeface="Poppins"/>
              </a:rPr>
              <a:t>.</a:t>
            </a:r>
            <a:endParaRPr sz="700">
              <a:solidFill>
                <a:srgbClr val="0A070D"/>
              </a:solidFill>
              <a:latin typeface="Poppins"/>
              <a:ea typeface="Poppins"/>
              <a:cs typeface="Poppins"/>
              <a:sym typeface="Poppins"/>
            </a:endParaRPr>
          </a:p>
          <a:p>
            <a:pPr marL="0" lvl="0" indent="0" algn="l" rtl="0">
              <a:spcBef>
                <a:spcPts val="0"/>
              </a:spcBef>
              <a:spcAft>
                <a:spcPts val="0"/>
              </a:spcAft>
              <a:buNone/>
            </a:pPr>
            <a:r>
              <a:rPr lang="en" sz="700">
                <a:solidFill>
                  <a:srgbClr val="0A070D"/>
                </a:solidFill>
                <a:latin typeface="Poppins"/>
                <a:ea typeface="Poppins"/>
                <a:cs typeface="Poppins"/>
                <a:sym typeface="Poppins"/>
              </a:rPr>
              <a:t>Orion, H. C., Jr., Forosuelo, E. J. D., &amp; Cavalida, J. M. (Year). Factors affecting students’ decision to drop out of school. Cor Jesu College.</a:t>
            </a:r>
            <a:endParaRPr sz="700">
              <a:solidFill>
                <a:srgbClr val="0A070D"/>
              </a:solidFill>
              <a:latin typeface="Poppins"/>
              <a:ea typeface="Poppins"/>
              <a:cs typeface="Poppins"/>
              <a:sym typeface="Poppins"/>
            </a:endParaRPr>
          </a:p>
          <a:p>
            <a:pPr marL="0" lvl="0" indent="0" algn="l" rtl="0">
              <a:spcBef>
                <a:spcPts val="0"/>
              </a:spcBef>
              <a:spcAft>
                <a:spcPts val="0"/>
              </a:spcAft>
              <a:buNone/>
            </a:pPr>
            <a:r>
              <a:rPr lang="en" sz="700">
                <a:solidFill>
                  <a:srgbClr val="0A070D"/>
                </a:solidFill>
                <a:latin typeface="Poppins"/>
                <a:ea typeface="Poppins"/>
                <a:cs typeface="Poppins"/>
                <a:sym typeface="Poppins"/>
              </a:rPr>
              <a:t>Source for BPO HR Feedback: Mercer HR Conference. Manila June 2024.</a:t>
            </a:r>
            <a:endParaRPr sz="700">
              <a:solidFill>
                <a:srgbClr val="0A070D"/>
              </a:solidFill>
              <a:latin typeface="Poppins"/>
              <a:ea typeface="Poppins"/>
              <a:cs typeface="Poppins"/>
              <a:sym typeface="Poppins"/>
            </a:endParaRPr>
          </a:p>
        </p:txBody>
      </p:sp>
      <p:pic>
        <p:nvPicPr>
          <p:cNvPr id="206" name="Google Shape;206;p22"/>
          <p:cNvPicPr preferRelativeResize="0"/>
          <p:nvPr/>
        </p:nvPicPr>
        <p:blipFill>
          <a:blip r:embed="rId4">
            <a:alphaModFix/>
          </a:blip>
          <a:stretch>
            <a:fillRect/>
          </a:stretch>
        </p:blipFill>
        <p:spPr>
          <a:xfrm>
            <a:off x="416100" y="214450"/>
            <a:ext cx="292200" cy="291300"/>
          </a:xfrm>
          <a:prstGeom prst="ellipse">
            <a:avLst/>
          </a:prstGeom>
          <a:noFill/>
          <a:ln>
            <a:noFill/>
          </a:ln>
        </p:spPr>
      </p:pic>
      <p:pic>
        <p:nvPicPr>
          <p:cNvPr id="207" name="Google Shape;207;p22"/>
          <p:cNvPicPr preferRelativeResize="0"/>
          <p:nvPr/>
        </p:nvPicPr>
        <p:blipFill>
          <a:blip r:embed="rId5">
            <a:alphaModFix/>
          </a:blip>
          <a:stretch>
            <a:fillRect/>
          </a:stretch>
        </p:blipFill>
        <p:spPr>
          <a:xfrm>
            <a:off x="1000492" y="214450"/>
            <a:ext cx="292200" cy="291300"/>
          </a:xfrm>
          <a:prstGeom prst="ellipse">
            <a:avLst/>
          </a:prstGeom>
          <a:noFill/>
          <a:ln>
            <a:noFill/>
          </a:ln>
        </p:spPr>
      </p:pic>
      <p:pic>
        <p:nvPicPr>
          <p:cNvPr id="208" name="Google Shape;208;p22"/>
          <p:cNvPicPr preferRelativeResize="0"/>
          <p:nvPr/>
        </p:nvPicPr>
        <p:blipFill>
          <a:blip r:embed="rId6">
            <a:alphaModFix/>
          </a:blip>
          <a:stretch>
            <a:fillRect/>
          </a:stretch>
        </p:blipFill>
        <p:spPr>
          <a:xfrm>
            <a:off x="708310" y="214450"/>
            <a:ext cx="292200" cy="291300"/>
          </a:xfrm>
          <a:prstGeom prst="ellipse">
            <a:avLst/>
          </a:prstGeom>
          <a:noFill/>
          <a:ln>
            <a:noFill/>
          </a:ln>
        </p:spPr>
      </p:pic>
      <p:pic>
        <p:nvPicPr>
          <p:cNvPr id="209" name="Google Shape;209;p22"/>
          <p:cNvPicPr preferRelativeResize="0"/>
          <p:nvPr/>
        </p:nvPicPr>
        <p:blipFill>
          <a:blip r:embed="rId7">
            <a:alphaModFix/>
          </a:blip>
          <a:stretch>
            <a:fillRect/>
          </a:stretch>
        </p:blipFill>
        <p:spPr>
          <a:xfrm>
            <a:off x="416100" y="1311363"/>
            <a:ext cx="4750673" cy="2612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3"/>
          <p:cNvSpPr txBox="1"/>
          <p:nvPr/>
        </p:nvSpPr>
        <p:spPr>
          <a:xfrm>
            <a:off x="608925" y="4245825"/>
            <a:ext cx="610800" cy="17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SME</a:t>
            </a:r>
            <a:endParaRPr sz="700">
              <a:solidFill>
                <a:srgbClr val="0A070D"/>
              </a:solidFill>
              <a:latin typeface="Poppins"/>
              <a:ea typeface="Poppins"/>
              <a:cs typeface="Poppins"/>
              <a:sym typeface="Poppins"/>
            </a:endParaRPr>
          </a:p>
        </p:txBody>
      </p:sp>
      <p:sp>
        <p:nvSpPr>
          <p:cNvPr id="215" name="Google Shape;215;p23"/>
          <p:cNvSpPr txBox="1"/>
          <p:nvPr/>
        </p:nvSpPr>
        <p:spPr>
          <a:xfrm>
            <a:off x="1276675" y="4245838"/>
            <a:ext cx="831900" cy="17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Large Corp </a:t>
            </a:r>
            <a:endParaRPr sz="700">
              <a:solidFill>
                <a:srgbClr val="0A070D"/>
              </a:solidFill>
              <a:latin typeface="Poppins"/>
              <a:ea typeface="Poppins"/>
              <a:cs typeface="Poppins"/>
              <a:sym typeface="Poppins"/>
            </a:endParaRPr>
          </a:p>
        </p:txBody>
      </p:sp>
      <p:sp>
        <p:nvSpPr>
          <p:cNvPr id="216" name="Google Shape;21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
        <p:nvSpPr>
          <p:cNvPr id="217" name="Google Shape;217;p23"/>
          <p:cNvSpPr txBox="1"/>
          <p:nvPr/>
        </p:nvSpPr>
        <p:spPr>
          <a:xfrm>
            <a:off x="308703" y="416053"/>
            <a:ext cx="80010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In 2023, entry-level jobs pay $315 per month</a:t>
            </a:r>
            <a:endParaRPr sz="2200" b="0" i="0" u="none" strike="noStrike" cap="none" dirty="0">
              <a:solidFill>
                <a:srgbClr val="0A070D"/>
              </a:solidFill>
              <a:latin typeface="Poppins SemiBold"/>
              <a:ea typeface="Poppins SemiBold"/>
              <a:cs typeface="Poppins SemiBold"/>
              <a:sym typeface="Poppins SemiBold"/>
            </a:endParaRPr>
          </a:p>
        </p:txBody>
      </p:sp>
      <p:pic>
        <p:nvPicPr>
          <p:cNvPr id="218" name="Google Shape;218;p23"/>
          <p:cNvPicPr preferRelativeResize="0"/>
          <p:nvPr/>
        </p:nvPicPr>
        <p:blipFill>
          <a:blip r:embed="rId3">
            <a:alphaModFix/>
          </a:blip>
          <a:stretch>
            <a:fillRect/>
          </a:stretch>
        </p:blipFill>
        <p:spPr>
          <a:xfrm>
            <a:off x="416100" y="214450"/>
            <a:ext cx="292200" cy="291300"/>
          </a:xfrm>
          <a:prstGeom prst="ellipse">
            <a:avLst/>
          </a:prstGeom>
          <a:noFill/>
          <a:ln>
            <a:noFill/>
          </a:ln>
        </p:spPr>
      </p:pic>
      <p:pic>
        <p:nvPicPr>
          <p:cNvPr id="219" name="Google Shape;219;p23"/>
          <p:cNvPicPr preferRelativeResize="0"/>
          <p:nvPr/>
        </p:nvPicPr>
        <p:blipFill>
          <a:blip r:embed="rId4">
            <a:alphaModFix/>
          </a:blip>
          <a:stretch>
            <a:fillRect/>
          </a:stretch>
        </p:blipFill>
        <p:spPr>
          <a:xfrm>
            <a:off x="1000492" y="214450"/>
            <a:ext cx="292200" cy="291300"/>
          </a:xfrm>
          <a:prstGeom prst="ellipse">
            <a:avLst/>
          </a:prstGeom>
          <a:noFill/>
          <a:ln>
            <a:noFill/>
          </a:ln>
        </p:spPr>
      </p:pic>
      <p:pic>
        <p:nvPicPr>
          <p:cNvPr id="220" name="Google Shape;220;p23"/>
          <p:cNvPicPr preferRelativeResize="0"/>
          <p:nvPr/>
        </p:nvPicPr>
        <p:blipFill>
          <a:blip r:embed="rId5">
            <a:alphaModFix/>
          </a:blip>
          <a:stretch>
            <a:fillRect/>
          </a:stretch>
        </p:blipFill>
        <p:spPr>
          <a:xfrm>
            <a:off x="708310" y="214450"/>
            <a:ext cx="292200" cy="291300"/>
          </a:xfrm>
          <a:prstGeom prst="ellipse">
            <a:avLst/>
          </a:prstGeom>
          <a:noFill/>
          <a:ln>
            <a:noFill/>
          </a:ln>
        </p:spPr>
      </p:pic>
      <p:sp>
        <p:nvSpPr>
          <p:cNvPr id="221" name="Google Shape;221;p23"/>
          <p:cNvSpPr txBox="1"/>
          <p:nvPr/>
        </p:nvSpPr>
        <p:spPr>
          <a:xfrm>
            <a:off x="5649025" y="1158425"/>
            <a:ext cx="3078600" cy="2805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0A070D"/>
                </a:solidFill>
                <a:latin typeface="Poppins"/>
                <a:ea typeface="Poppins"/>
                <a:cs typeface="Poppins"/>
                <a:sym typeface="Poppins"/>
              </a:rPr>
              <a:t>JobStreet’s 2023 salary guide provide ideas on how graduate can increase their compensation </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Industries like </a:t>
            </a:r>
            <a:r>
              <a:rPr lang="en" sz="1000" b="1">
                <a:solidFill>
                  <a:srgbClr val="0A070D"/>
                </a:solidFill>
                <a:latin typeface="Poppins"/>
                <a:ea typeface="Poppins"/>
                <a:cs typeface="Poppins"/>
                <a:sym typeface="Poppins"/>
              </a:rPr>
              <a:t>Call/Centre BPOs</a:t>
            </a:r>
            <a:r>
              <a:rPr lang="en" sz="1000">
                <a:solidFill>
                  <a:srgbClr val="0A070D"/>
                </a:solidFill>
                <a:latin typeface="Poppins"/>
                <a:ea typeface="Poppins"/>
                <a:cs typeface="Poppins"/>
                <a:sym typeface="Poppins"/>
              </a:rPr>
              <a:t>, </a:t>
            </a:r>
            <a:r>
              <a:rPr lang="en" sz="1000" b="1">
                <a:solidFill>
                  <a:srgbClr val="0A070D"/>
                </a:solidFill>
                <a:latin typeface="Poppins"/>
                <a:ea typeface="Poppins"/>
                <a:cs typeface="Poppins"/>
                <a:sym typeface="Poppins"/>
              </a:rPr>
              <a:t>Computer/IT</a:t>
            </a:r>
            <a:r>
              <a:rPr lang="en" sz="1000">
                <a:solidFill>
                  <a:srgbClr val="0A070D"/>
                </a:solidFill>
                <a:latin typeface="Poppins"/>
                <a:ea typeface="Poppins"/>
                <a:cs typeface="Poppins"/>
                <a:sym typeface="Poppins"/>
              </a:rPr>
              <a:t>, and </a:t>
            </a:r>
            <a:r>
              <a:rPr lang="en" sz="1000" b="1">
                <a:solidFill>
                  <a:srgbClr val="0A070D"/>
                </a:solidFill>
                <a:latin typeface="Poppins"/>
                <a:ea typeface="Poppins"/>
                <a:cs typeface="Poppins"/>
                <a:sym typeface="Poppins"/>
              </a:rPr>
              <a:t>Healthcare </a:t>
            </a:r>
            <a:r>
              <a:rPr lang="en" sz="1000">
                <a:solidFill>
                  <a:srgbClr val="0A070D"/>
                </a:solidFill>
                <a:latin typeface="Poppins"/>
                <a:ea typeface="Poppins"/>
                <a:cs typeface="Poppins"/>
                <a:sym typeface="Poppins"/>
              </a:rPr>
              <a:t>are the highest salary for entry-level positions</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Depending on the industry, working at a large corporate would offer a small salary premium of 5-7% </a:t>
            </a:r>
            <a:endParaRPr sz="1000">
              <a:solidFill>
                <a:srgbClr val="0A070D"/>
              </a:solidFill>
              <a:latin typeface="Poppins"/>
              <a:ea typeface="Poppins"/>
              <a:cs typeface="Poppins"/>
              <a:sym typeface="Poppins"/>
            </a:endParaRPr>
          </a:p>
          <a:p>
            <a:pPr marL="457200" lvl="0" indent="-292100" algn="l" rtl="0">
              <a:spcBef>
                <a:spcPts val="0"/>
              </a:spcBef>
              <a:spcAft>
                <a:spcPts val="0"/>
              </a:spcAft>
              <a:buClr>
                <a:srgbClr val="0A070D"/>
              </a:buClr>
              <a:buSzPts val="1000"/>
              <a:buFont typeface="Poppins"/>
              <a:buChar char="●"/>
            </a:pPr>
            <a:r>
              <a:rPr lang="en" sz="1000">
                <a:solidFill>
                  <a:srgbClr val="0A070D"/>
                </a:solidFill>
                <a:latin typeface="Poppins"/>
                <a:ea typeface="Poppins"/>
                <a:cs typeface="Poppins"/>
                <a:sym typeface="Poppins"/>
              </a:rPr>
              <a:t>While K-12 graduate are unlikely to be able to apply for these higher paying jobs, it is </a:t>
            </a:r>
            <a:r>
              <a:rPr lang="en" sz="1000" b="1">
                <a:solidFill>
                  <a:srgbClr val="0A070D"/>
                </a:solidFill>
                <a:latin typeface="Poppins"/>
                <a:ea typeface="Poppins"/>
                <a:cs typeface="Poppins"/>
                <a:sym typeface="Poppins"/>
              </a:rPr>
              <a:t>unclear if there is a salary difference</a:t>
            </a:r>
            <a:r>
              <a:rPr lang="en" sz="1000">
                <a:solidFill>
                  <a:srgbClr val="0A070D"/>
                </a:solidFill>
                <a:latin typeface="Poppins"/>
                <a:ea typeface="Poppins"/>
                <a:cs typeface="Poppins"/>
                <a:sym typeface="Poppins"/>
              </a:rPr>
              <a:t> between those who are HEI grads and those who have completed 2 years of HEI studies</a:t>
            </a:r>
            <a:endParaRPr sz="1000">
              <a:solidFill>
                <a:srgbClr val="0A070D"/>
              </a:solidFill>
              <a:latin typeface="Poppins"/>
              <a:ea typeface="Poppins"/>
              <a:cs typeface="Poppins"/>
              <a:sym typeface="Poppins"/>
            </a:endParaRPr>
          </a:p>
        </p:txBody>
      </p:sp>
      <p:sp>
        <p:nvSpPr>
          <p:cNvPr id="222" name="Google Shape;222;p23"/>
          <p:cNvSpPr txBox="1"/>
          <p:nvPr/>
        </p:nvSpPr>
        <p:spPr>
          <a:xfrm>
            <a:off x="416100" y="4519150"/>
            <a:ext cx="80010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dirty="0">
                <a:solidFill>
                  <a:srgbClr val="0A070D"/>
                </a:solidFill>
                <a:latin typeface="Poppins"/>
                <a:ea typeface="Poppins"/>
                <a:cs typeface="Poppins"/>
                <a:sym typeface="Poppins"/>
              </a:rPr>
              <a:t>Source: </a:t>
            </a:r>
            <a:r>
              <a:rPr lang="en" sz="700" dirty="0" err="1">
                <a:solidFill>
                  <a:srgbClr val="0A070D"/>
                </a:solidFill>
                <a:latin typeface="Poppins"/>
                <a:ea typeface="Poppins"/>
                <a:cs typeface="Poppins"/>
                <a:sym typeface="Poppins"/>
              </a:rPr>
              <a:t>JobStreet</a:t>
            </a:r>
            <a:r>
              <a:rPr lang="en" sz="700" dirty="0">
                <a:solidFill>
                  <a:srgbClr val="0A070D"/>
                </a:solidFill>
                <a:latin typeface="Poppins"/>
                <a:ea typeface="Poppins"/>
                <a:cs typeface="Poppins"/>
                <a:sym typeface="Poppins"/>
              </a:rPr>
              <a:t>. Salary Guide 2023: Employment Trends in the Philippines</a:t>
            </a:r>
            <a:endParaRPr sz="700" dirty="0">
              <a:solidFill>
                <a:srgbClr val="0A070D"/>
              </a:solidFill>
              <a:latin typeface="Poppins"/>
              <a:ea typeface="Poppins"/>
              <a:cs typeface="Poppins"/>
              <a:sym typeface="Poppins"/>
            </a:endParaRPr>
          </a:p>
        </p:txBody>
      </p:sp>
      <p:sp>
        <p:nvSpPr>
          <p:cNvPr id="223" name="Google Shape;223;p23"/>
          <p:cNvSpPr/>
          <p:nvPr/>
        </p:nvSpPr>
        <p:spPr>
          <a:xfrm>
            <a:off x="554385" y="4271787"/>
            <a:ext cx="125700" cy="119100"/>
          </a:xfrm>
          <a:prstGeom prst="ellipse">
            <a:avLst/>
          </a:prstGeom>
          <a:solidFill>
            <a:srgbClr val="F68C0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 name="Google Shape;224;p23"/>
          <p:cNvSpPr/>
          <p:nvPr/>
        </p:nvSpPr>
        <p:spPr>
          <a:xfrm>
            <a:off x="1227185" y="4271776"/>
            <a:ext cx="125700" cy="119100"/>
          </a:xfrm>
          <a:prstGeom prst="ellipse">
            <a:avLst/>
          </a:prstGeom>
          <a:solidFill>
            <a:srgbClr val="C71D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5" name="Google Shape;225;p23"/>
          <p:cNvPicPr preferRelativeResize="0"/>
          <p:nvPr/>
        </p:nvPicPr>
        <p:blipFill rotWithShape="1">
          <a:blip r:embed="rId6">
            <a:alphaModFix/>
          </a:blip>
          <a:srcRect/>
          <a:stretch/>
        </p:blipFill>
        <p:spPr>
          <a:xfrm>
            <a:off x="480050" y="999976"/>
            <a:ext cx="5102107" cy="3143551"/>
          </a:xfrm>
          <a:prstGeom prst="rect">
            <a:avLst/>
          </a:prstGeom>
          <a:noFill/>
          <a:ln>
            <a:noFill/>
          </a:ln>
        </p:spPr>
      </p:pic>
      <p:sp>
        <p:nvSpPr>
          <p:cNvPr id="226" name="Google Shape;226;p23"/>
          <p:cNvSpPr/>
          <p:nvPr/>
        </p:nvSpPr>
        <p:spPr>
          <a:xfrm>
            <a:off x="554375" y="1852025"/>
            <a:ext cx="1219200" cy="333300"/>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23"/>
          <p:cNvSpPr/>
          <p:nvPr/>
        </p:nvSpPr>
        <p:spPr>
          <a:xfrm>
            <a:off x="554375" y="2752075"/>
            <a:ext cx="1219200" cy="171000"/>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90E1D3D-8110-6AB0-98FD-C636B17AEF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11" name="Google Shape;218;p23">
            <a:extLst>
              <a:ext uri="{FF2B5EF4-FFF2-40B4-BE49-F238E27FC236}">
                <a16:creationId xmlns:a16="http://schemas.microsoft.com/office/drawing/2014/main" id="{63BCB7FD-9B9A-D26D-4CC4-4994439D0657}"/>
              </a:ext>
            </a:extLst>
          </p:cNvPr>
          <p:cNvPicPr preferRelativeResize="0"/>
          <p:nvPr/>
        </p:nvPicPr>
        <p:blipFill>
          <a:blip r:embed="rId3">
            <a:alphaModFix/>
          </a:blip>
          <a:stretch>
            <a:fillRect/>
          </a:stretch>
        </p:blipFill>
        <p:spPr>
          <a:xfrm>
            <a:off x="416100" y="214450"/>
            <a:ext cx="292200" cy="291300"/>
          </a:xfrm>
          <a:prstGeom prst="ellipse">
            <a:avLst/>
          </a:prstGeom>
          <a:noFill/>
          <a:ln>
            <a:noFill/>
          </a:ln>
        </p:spPr>
      </p:pic>
      <p:pic>
        <p:nvPicPr>
          <p:cNvPr id="12" name="Google Shape;219;p23">
            <a:extLst>
              <a:ext uri="{FF2B5EF4-FFF2-40B4-BE49-F238E27FC236}">
                <a16:creationId xmlns:a16="http://schemas.microsoft.com/office/drawing/2014/main" id="{C01D0FA3-EB0C-6BBB-5638-BCB75DFE19E3}"/>
              </a:ext>
            </a:extLst>
          </p:cNvPr>
          <p:cNvPicPr preferRelativeResize="0"/>
          <p:nvPr/>
        </p:nvPicPr>
        <p:blipFill>
          <a:blip r:embed="rId4">
            <a:alphaModFix/>
          </a:blip>
          <a:stretch>
            <a:fillRect/>
          </a:stretch>
        </p:blipFill>
        <p:spPr>
          <a:xfrm>
            <a:off x="1000492" y="214450"/>
            <a:ext cx="292200" cy="291300"/>
          </a:xfrm>
          <a:prstGeom prst="ellipse">
            <a:avLst/>
          </a:prstGeom>
          <a:noFill/>
          <a:ln>
            <a:noFill/>
          </a:ln>
        </p:spPr>
      </p:pic>
      <p:pic>
        <p:nvPicPr>
          <p:cNvPr id="13" name="Google Shape;220;p23">
            <a:extLst>
              <a:ext uri="{FF2B5EF4-FFF2-40B4-BE49-F238E27FC236}">
                <a16:creationId xmlns:a16="http://schemas.microsoft.com/office/drawing/2014/main" id="{034DF183-3DF6-22AE-666F-7111D04AC491}"/>
              </a:ext>
            </a:extLst>
          </p:cNvPr>
          <p:cNvPicPr preferRelativeResize="0"/>
          <p:nvPr/>
        </p:nvPicPr>
        <p:blipFill>
          <a:blip r:embed="rId5">
            <a:alphaModFix/>
          </a:blip>
          <a:stretch>
            <a:fillRect/>
          </a:stretch>
        </p:blipFill>
        <p:spPr>
          <a:xfrm>
            <a:off x="708310" y="214450"/>
            <a:ext cx="292200" cy="291300"/>
          </a:xfrm>
          <a:prstGeom prst="ellipse">
            <a:avLst/>
          </a:prstGeom>
          <a:noFill/>
          <a:ln>
            <a:noFill/>
          </a:ln>
        </p:spPr>
      </p:pic>
      <p:pic>
        <p:nvPicPr>
          <p:cNvPr id="15" name="Picture 14" descr="A graph with a line and a line&#10;&#10;Description automatically generated">
            <a:extLst>
              <a:ext uri="{FF2B5EF4-FFF2-40B4-BE49-F238E27FC236}">
                <a16:creationId xmlns:a16="http://schemas.microsoft.com/office/drawing/2014/main" id="{ED95D6F8-60B4-8A81-741B-274068BDF904}"/>
              </a:ext>
            </a:extLst>
          </p:cNvPr>
          <p:cNvPicPr>
            <a:picLocks noChangeAspect="1"/>
          </p:cNvPicPr>
          <p:nvPr/>
        </p:nvPicPr>
        <p:blipFill>
          <a:blip r:embed="rId6"/>
          <a:stretch>
            <a:fillRect/>
          </a:stretch>
        </p:blipFill>
        <p:spPr>
          <a:xfrm>
            <a:off x="2406354" y="324359"/>
            <a:ext cx="3124176" cy="2247391"/>
          </a:xfrm>
          <a:prstGeom prst="rect">
            <a:avLst/>
          </a:prstGeom>
          <a:ln>
            <a:solidFill>
              <a:schemeClr val="tx1"/>
            </a:solidFill>
          </a:ln>
        </p:spPr>
      </p:pic>
      <p:pic>
        <p:nvPicPr>
          <p:cNvPr id="19" name="Picture 18" descr="A graph showing a line graph&#10;&#10;Description automatically generated">
            <a:extLst>
              <a:ext uri="{FF2B5EF4-FFF2-40B4-BE49-F238E27FC236}">
                <a16:creationId xmlns:a16="http://schemas.microsoft.com/office/drawing/2014/main" id="{B59DBB0D-2CF4-1FA5-1888-901B4FB13A04}"/>
              </a:ext>
            </a:extLst>
          </p:cNvPr>
          <p:cNvPicPr>
            <a:picLocks noChangeAspect="1"/>
          </p:cNvPicPr>
          <p:nvPr/>
        </p:nvPicPr>
        <p:blipFill rotWithShape="1">
          <a:blip r:embed="rId7"/>
          <a:srcRect b="6098"/>
          <a:stretch/>
        </p:blipFill>
        <p:spPr>
          <a:xfrm>
            <a:off x="5530528" y="324359"/>
            <a:ext cx="3119587" cy="2240184"/>
          </a:xfrm>
          <a:prstGeom prst="rect">
            <a:avLst/>
          </a:prstGeom>
          <a:ln>
            <a:solidFill>
              <a:schemeClr val="tx1"/>
            </a:solidFill>
          </a:ln>
        </p:spPr>
      </p:pic>
      <p:pic>
        <p:nvPicPr>
          <p:cNvPr id="21" name="Picture 20" descr="A graph with lines and dots&#10;&#10;Description automatically generated">
            <a:extLst>
              <a:ext uri="{FF2B5EF4-FFF2-40B4-BE49-F238E27FC236}">
                <a16:creationId xmlns:a16="http://schemas.microsoft.com/office/drawing/2014/main" id="{06AC6824-FAB9-BD13-A963-A893013C85BA}"/>
              </a:ext>
            </a:extLst>
          </p:cNvPr>
          <p:cNvPicPr>
            <a:picLocks noChangeAspect="1"/>
          </p:cNvPicPr>
          <p:nvPr/>
        </p:nvPicPr>
        <p:blipFill>
          <a:blip r:embed="rId8"/>
          <a:stretch>
            <a:fillRect/>
          </a:stretch>
        </p:blipFill>
        <p:spPr>
          <a:xfrm>
            <a:off x="2406354" y="2578957"/>
            <a:ext cx="3119587" cy="2339690"/>
          </a:xfrm>
          <a:prstGeom prst="rect">
            <a:avLst/>
          </a:prstGeom>
          <a:ln>
            <a:solidFill>
              <a:schemeClr val="tx1"/>
            </a:solidFill>
          </a:ln>
        </p:spPr>
      </p:pic>
      <p:pic>
        <p:nvPicPr>
          <p:cNvPr id="17" name="Picture 16" descr="A graph showing the growth of a job progression&#10;&#10;Description automatically generated">
            <a:extLst>
              <a:ext uri="{FF2B5EF4-FFF2-40B4-BE49-F238E27FC236}">
                <a16:creationId xmlns:a16="http://schemas.microsoft.com/office/drawing/2014/main" id="{0BDD5CC0-DF6C-A90E-F47B-D4C3158345D2}"/>
              </a:ext>
            </a:extLst>
          </p:cNvPr>
          <p:cNvPicPr>
            <a:picLocks noChangeAspect="1"/>
          </p:cNvPicPr>
          <p:nvPr/>
        </p:nvPicPr>
        <p:blipFill>
          <a:blip r:embed="rId9"/>
          <a:stretch>
            <a:fillRect/>
          </a:stretch>
        </p:blipFill>
        <p:spPr>
          <a:xfrm>
            <a:off x="5530528" y="2578957"/>
            <a:ext cx="3119587" cy="2339691"/>
          </a:xfrm>
          <a:prstGeom prst="rect">
            <a:avLst/>
          </a:prstGeom>
          <a:ln>
            <a:solidFill>
              <a:schemeClr val="tx1"/>
            </a:solidFill>
          </a:ln>
        </p:spPr>
      </p:pic>
      <p:sp>
        <p:nvSpPr>
          <p:cNvPr id="22" name="Google Shape;217;p23">
            <a:extLst>
              <a:ext uri="{FF2B5EF4-FFF2-40B4-BE49-F238E27FC236}">
                <a16:creationId xmlns:a16="http://schemas.microsoft.com/office/drawing/2014/main" id="{135048C2-5623-D74D-E428-5F75E06F6B7E}"/>
              </a:ext>
            </a:extLst>
          </p:cNvPr>
          <p:cNvSpPr txBox="1"/>
          <p:nvPr/>
        </p:nvSpPr>
        <p:spPr>
          <a:xfrm>
            <a:off x="316353" y="519887"/>
            <a:ext cx="2027830" cy="194597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1800" dirty="0">
                <a:solidFill>
                  <a:srgbClr val="0A070D"/>
                </a:solidFill>
                <a:latin typeface="Poppins SemiBold"/>
                <a:ea typeface="Poppins SemiBold"/>
                <a:cs typeface="Poppins SemiBold"/>
                <a:sym typeface="Poppins SemiBold"/>
              </a:rPr>
              <a:t>Jobs for</a:t>
            </a:r>
            <a:r>
              <a:rPr lang="en-US" sz="1800" b="0" i="0" u="none" strike="noStrike" cap="none" dirty="0">
                <a:solidFill>
                  <a:srgbClr val="0A070D"/>
                </a:solidFill>
                <a:latin typeface="Poppins SemiBold"/>
                <a:ea typeface="Poppins SemiBold"/>
                <a:cs typeface="Poppins SemiBold"/>
                <a:sym typeface="Poppins SemiBold"/>
              </a:rPr>
              <a:t> college graduates offer decent salary </a:t>
            </a:r>
            <a:r>
              <a:rPr lang="en-US" sz="1800" dirty="0">
                <a:solidFill>
                  <a:srgbClr val="0A070D"/>
                </a:solidFill>
                <a:latin typeface="Poppins SemiBold"/>
                <a:ea typeface="Poppins SemiBold"/>
                <a:cs typeface="Poppins SemiBold"/>
                <a:sym typeface="Poppins SemiBold"/>
              </a:rPr>
              <a:t>growth at senior levels</a:t>
            </a:r>
          </a:p>
          <a:p>
            <a:pPr marL="0" marR="0" lvl="0" indent="0" algn="l" rtl="0">
              <a:lnSpc>
                <a:spcPct val="100000"/>
              </a:lnSpc>
              <a:spcBef>
                <a:spcPts val="0"/>
              </a:spcBef>
              <a:spcAft>
                <a:spcPts val="0"/>
              </a:spcAft>
              <a:buClr>
                <a:srgbClr val="000000"/>
              </a:buClr>
              <a:buSzPts val="2600"/>
              <a:buFont typeface="Arial"/>
              <a:buNone/>
            </a:pPr>
            <a:r>
              <a:rPr lang="en-US" sz="1800" dirty="0">
                <a:solidFill>
                  <a:srgbClr val="0A070D"/>
                </a:solidFill>
                <a:latin typeface="Poppins SemiBold"/>
                <a:ea typeface="Poppins SemiBold"/>
                <a:cs typeface="Poppins SemiBold"/>
                <a:sym typeface="Poppins SemiBold"/>
              </a:rPr>
              <a:t>in industry</a:t>
            </a:r>
          </a:p>
        </p:txBody>
      </p:sp>
      <p:sp>
        <p:nvSpPr>
          <p:cNvPr id="23" name="Google Shape;221;p23">
            <a:extLst>
              <a:ext uri="{FF2B5EF4-FFF2-40B4-BE49-F238E27FC236}">
                <a16:creationId xmlns:a16="http://schemas.microsoft.com/office/drawing/2014/main" id="{3A849A72-1AA2-842B-C98B-6EC1C1C69D05}"/>
              </a:ext>
            </a:extLst>
          </p:cNvPr>
          <p:cNvSpPr txBox="1"/>
          <p:nvPr/>
        </p:nvSpPr>
        <p:spPr>
          <a:xfrm>
            <a:off x="416101" y="2691772"/>
            <a:ext cx="1828335" cy="1851727"/>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000" dirty="0">
                <a:solidFill>
                  <a:srgbClr val="0A070D"/>
                </a:solidFill>
                <a:latin typeface="Poppins"/>
                <a:ea typeface="Poppins"/>
                <a:cs typeface="Poppins"/>
                <a:sym typeface="Poppins"/>
              </a:rPr>
              <a:t>We can identify industries and job roles in professional settings and in manufacturing that offer good career progression with $1756 as mid-level monthly salary which is 5.5x of the entry-level salary of $315 over 5-8 years. </a:t>
            </a:r>
            <a:endParaRPr sz="1000" dirty="0">
              <a:solidFill>
                <a:srgbClr val="0A070D"/>
              </a:solidFill>
              <a:latin typeface="Poppins"/>
              <a:ea typeface="Poppins"/>
              <a:cs typeface="Poppins"/>
              <a:sym typeface="Poppins"/>
            </a:endParaRPr>
          </a:p>
        </p:txBody>
      </p:sp>
    </p:spTree>
    <p:extLst>
      <p:ext uri="{BB962C8B-B14F-4D97-AF65-F5344CB8AC3E}">
        <p14:creationId xmlns:p14="http://schemas.microsoft.com/office/powerpoint/2010/main" val="1297543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4216315-2646-B3E3-FB6D-C0D92BAA50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7" name="Picture 6" descr="A graph of employment numbers&#10;&#10;Description automatically generated">
            <a:extLst>
              <a:ext uri="{FF2B5EF4-FFF2-40B4-BE49-F238E27FC236}">
                <a16:creationId xmlns:a16="http://schemas.microsoft.com/office/drawing/2014/main" id="{E6A525B2-B908-7B4D-0302-D9AB10BF717F}"/>
              </a:ext>
            </a:extLst>
          </p:cNvPr>
          <p:cNvPicPr>
            <a:picLocks noChangeAspect="1"/>
          </p:cNvPicPr>
          <p:nvPr/>
        </p:nvPicPr>
        <p:blipFill>
          <a:blip r:embed="rId2"/>
          <a:stretch>
            <a:fillRect/>
          </a:stretch>
        </p:blipFill>
        <p:spPr>
          <a:xfrm>
            <a:off x="416100" y="872045"/>
            <a:ext cx="3889893" cy="4184772"/>
          </a:xfrm>
          <a:prstGeom prst="rect">
            <a:avLst/>
          </a:prstGeom>
        </p:spPr>
      </p:pic>
      <p:pic>
        <p:nvPicPr>
          <p:cNvPr id="8" name="Google Shape;218;p23">
            <a:extLst>
              <a:ext uri="{FF2B5EF4-FFF2-40B4-BE49-F238E27FC236}">
                <a16:creationId xmlns:a16="http://schemas.microsoft.com/office/drawing/2014/main" id="{395F8262-9564-098D-0AD7-92F8F11F5B12}"/>
              </a:ext>
            </a:extLst>
          </p:cNvPr>
          <p:cNvPicPr preferRelativeResize="0"/>
          <p:nvPr/>
        </p:nvPicPr>
        <p:blipFill>
          <a:blip r:embed="rId3">
            <a:alphaModFix/>
          </a:blip>
          <a:stretch>
            <a:fillRect/>
          </a:stretch>
        </p:blipFill>
        <p:spPr>
          <a:xfrm>
            <a:off x="416100" y="214450"/>
            <a:ext cx="292200" cy="291300"/>
          </a:xfrm>
          <a:prstGeom prst="ellipse">
            <a:avLst/>
          </a:prstGeom>
          <a:noFill/>
          <a:ln>
            <a:noFill/>
          </a:ln>
        </p:spPr>
      </p:pic>
      <p:pic>
        <p:nvPicPr>
          <p:cNvPr id="9" name="Google Shape;219;p23">
            <a:extLst>
              <a:ext uri="{FF2B5EF4-FFF2-40B4-BE49-F238E27FC236}">
                <a16:creationId xmlns:a16="http://schemas.microsoft.com/office/drawing/2014/main" id="{B6996CD1-7E52-069D-1725-DF7AE7D34817}"/>
              </a:ext>
            </a:extLst>
          </p:cNvPr>
          <p:cNvPicPr preferRelativeResize="0"/>
          <p:nvPr/>
        </p:nvPicPr>
        <p:blipFill>
          <a:blip r:embed="rId4">
            <a:alphaModFix/>
          </a:blip>
          <a:stretch>
            <a:fillRect/>
          </a:stretch>
        </p:blipFill>
        <p:spPr>
          <a:xfrm>
            <a:off x="1000492" y="214450"/>
            <a:ext cx="292200" cy="291300"/>
          </a:xfrm>
          <a:prstGeom prst="ellipse">
            <a:avLst/>
          </a:prstGeom>
          <a:noFill/>
          <a:ln>
            <a:noFill/>
          </a:ln>
        </p:spPr>
      </p:pic>
      <p:sp>
        <p:nvSpPr>
          <p:cNvPr id="11" name="Google Shape;203;p22">
            <a:extLst>
              <a:ext uri="{FF2B5EF4-FFF2-40B4-BE49-F238E27FC236}">
                <a16:creationId xmlns:a16="http://schemas.microsoft.com/office/drawing/2014/main" id="{C1C02C95-DDCC-DB34-28E1-B59B356EE911}"/>
              </a:ext>
            </a:extLst>
          </p:cNvPr>
          <p:cNvSpPr txBox="1"/>
          <p:nvPr/>
        </p:nvSpPr>
        <p:spPr>
          <a:xfrm>
            <a:off x="308700" y="416050"/>
            <a:ext cx="8272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However, the bulk of jobs are still in low to mid level skills</a:t>
            </a:r>
            <a:endParaRPr sz="2200" b="0" i="0" u="none" strike="noStrike" cap="none" dirty="0">
              <a:solidFill>
                <a:srgbClr val="0A070D"/>
              </a:solidFill>
              <a:latin typeface="Poppins SemiBold"/>
              <a:ea typeface="Poppins SemiBold"/>
              <a:cs typeface="Poppins SemiBold"/>
              <a:sym typeface="Poppins SemiBold"/>
            </a:endParaRPr>
          </a:p>
        </p:txBody>
      </p:sp>
      <p:sp>
        <p:nvSpPr>
          <p:cNvPr id="12" name="Google Shape;221;p23">
            <a:extLst>
              <a:ext uri="{FF2B5EF4-FFF2-40B4-BE49-F238E27FC236}">
                <a16:creationId xmlns:a16="http://schemas.microsoft.com/office/drawing/2014/main" id="{D2A61F03-D3AE-6D53-0213-9B0ABECB3E18}"/>
              </a:ext>
            </a:extLst>
          </p:cNvPr>
          <p:cNvSpPr txBox="1"/>
          <p:nvPr/>
        </p:nvSpPr>
        <p:spPr>
          <a:xfrm>
            <a:off x="4769670" y="1696994"/>
            <a:ext cx="3889893" cy="2557795"/>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000" dirty="0">
                <a:solidFill>
                  <a:srgbClr val="0A070D"/>
                </a:solidFill>
                <a:latin typeface="Poppins"/>
                <a:ea typeface="Poppins"/>
                <a:cs typeface="Poppins"/>
                <a:sym typeface="Poppins"/>
              </a:rPr>
              <a:t>Most of all employees registered through government agencies in the Philippines are working in low to mid-level skills. </a:t>
            </a:r>
          </a:p>
          <a:p>
            <a:pPr marL="171450" lvl="0" indent="-171450" algn="l" rtl="0">
              <a:spcBef>
                <a:spcPts val="0"/>
              </a:spcBef>
              <a:spcAft>
                <a:spcPts val="0"/>
              </a:spcAft>
              <a:buFont typeface="Arial" panose="020B0604020202020204" pitchFamily="34" charset="0"/>
              <a:buChar char="•"/>
            </a:pPr>
            <a:endParaRPr lang="en-US" sz="1000" dirty="0">
              <a:solidFill>
                <a:srgbClr val="0A070D"/>
              </a:solidFill>
              <a:latin typeface="Poppins"/>
              <a:ea typeface="Poppins"/>
              <a:cs typeface="Poppins"/>
              <a:sym typeface="Poppins"/>
            </a:endParaRPr>
          </a:p>
          <a:p>
            <a:pPr marL="171450" lvl="0" indent="-171450" algn="l" rtl="0">
              <a:spcBef>
                <a:spcPts val="0"/>
              </a:spcBef>
              <a:spcAft>
                <a:spcPts val="0"/>
              </a:spcAft>
              <a:buFont typeface="Arial" panose="020B0604020202020204" pitchFamily="34" charset="0"/>
              <a:buChar char="•"/>
            </a:pPr>
            <a:r>
              <a:rPr lang="en-US" sz="1000" dirty="0">
                <a:solidFill>
                  <a:srgbClr val="0A070D"/>
                </a:solidFill>
                <a:latin typeface="Poppins"/>
                <a:ea typeface="Poppins"/>
                <a:cs typeface="Poppins"/>
                <a:sym typeface="Poppins"/>
              </a:rPr>
              <a:t>For instance, 30% of 1.6 million included in Admin and Support Services, of which 1.3 million is reported by the BPO Industry Association (IBPAP) as being in BPOs </a:t>
            </a:r>
          </a:p>
          <a:p>
            <a:pPr marL="171450" lvl="0" indent="-171450" algn="l" rtl="0">
              <a:spcBef>
                <a:spcPts val="0"/>
              </a:spcBef>
              <a:spcAft>
                <a:spcPts val="0"/>
              </a:spcAft>
              <a:buFont typeface="Arial" panose="020B0604020202020204" pitchFamily="34" charset="0"/>
              <a:buChar char="•"/>
            </a:pPr>
            <a:endParaRPr lang="en-US" sz="1000" dirty="0">
              <a:solidFill>
                <a:srgbClr val="0A070D"/>
              </a:solidFill>
              <a:latin typeface="Poppins"/>
              <a:ea typeface="Poppins"/>
              <a:cs typeface="Poppins"/>
              <a:sym typeface="Poppins"/>
            </a:endParaRPr>
          </a:p>
          <a:p>
            <a:pPr marL="171450" lvl="0" indent="-171450" algn="l" rtl="0">
              <a:spcBef>
                <a:spcPts val="0"/>
              </a:spcBef>
              <a:spcAft>
                <a:spcPts val="0"/>
              </a:spcAft>
              <a:buFont typeface="Arial" panose="020B0604020202020204" pitchFamily="34" charset="0"/>
              <a:buChar char="•"/>
            </a:pPr>
            <a:r>
              <a:rPr lang="en-US" sz="1000" dirty="0">
                <a:solidFill>
                  <a:srgbClr val="0A070D"/>
                </a:solidFill>
                <a:latin typeface="Poppins"/>
                <a:ea typeface="Poppins"/>
                <a:cs typeface="Poppins"/>
                <a:sym typeface="Poppins"/>
              </a:rPr>
              <a:t>A closer look at the Industries which are in the top 8 demonstrate that the supply-demand dynamics keep the going salary and the salary progression low as compared to professional job opportunities.  (see next slide)</a:t>
            </a:r>
          </a:p>
          <a:p>
            <a:pPr marL="171450" lvl="0" indent="-171450" algn="l" rtl="0">
              <a:spcBef>
                <a:spcPts val="0"/>
              </a:spcBef>
              <a:spcAft>
                <a:spcPts val="0"/>
              </a:spcAft>
              <a:buFont typeface="Arial" panose="020B0604020202020204" pitchFamily="34" charset="0"/>
              <a:buChar char="•"/>
            </a:pPr>
            <a:endParaRPr sz="1000" dirty="0">
              <a:solidFill>
                <a:srgbClr val="0A070D"/>
              </a:solidFill>
              <a:latin typeface="Poppins"/>
              <a:ea typeface="Poppins"/>
              <a:cs typeface="Poppins"/>
              <a:sym typeface="Poppins"/>
            </a:endParaRPr>
          </a:p>
        </p:txBody>
      </p:sp>
      <p:sp>
        <p:nvSpPr>
          <p:cNvPr id="14" name="Google Shape;226;p23">
            <a:extLst>
              <a:ext uri="{FF2B5EF4-FFF2-40B4-BE49-F238E27FC236}">
                <a16:creationId xmlns:a16="http://schemas.microsoft.com/office/drawing/2014/main" id="{C4BA0655-F93E-9E86-067A-1DC981112A9D}"/>
              </a:ext>
            </a:extLst>
          </p:cNvPr>
          <p:cNvSpPr/>
          <p:nvPr/>
        </p:nvSpPr>
        <p:spPr>
          <a:xfrm>
            <a:off x="507663" y="2243778"/>
            <a:ext cx="1450720" cy="128720"/>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 name="Google Shape;226;p23">
            <a:extLst>
              <a:ext uri="{FF2B5EF4-FFF2-40B4-BE49-F238E27FC236}">
                <a16:creationId xmlns:a16="http://schemas.microsoft.com/office/drawing/2014/main" id="{0023D028-73EF-FB18-00FA-E2B9182390A5}"/>
              </a:ext>
            </a:extLst>
          </p:cNvPr>
          <p:cNvSpPr/>
          <p:nvPr/>
        </p:nvSpPr>
        <p:spPr>
          <a:xfrm>
            <a:off x="484437" y="1556540"/>
            <a:ext cx="1492643" cy="511157"/>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 name="Google Shape;226;p23">
            <a:extLst>
              <a:ext uri="{FF2B5EF4-FFF2-40B4-BE49-F238E27FC236}">
                <a16:creationId xmlns:a16="http://schemas.microsoft.com/office/drawing/2014/main" id="{52AE4082-DF5E-CE17-521F-7E4E22724A0E}"/>
              </a:ext>
            </a:extLst>
          </p:cNvPr>
          <p:cNvSpPr/>
          <p:nvPr/>
        </p:nvSpPr>
        <p:spPr>
          <a:xfrm>
            <a:off x="484437" y="2523692"/>
            <a:ext cx="1492643" cy="408978"/>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 name="Google Shape;154;p18">
            <a:extLst>
              <a:ext uri="{FF2B5EF4-FFF2-40B4-BE49-F238E27FC236}">
                <a16:creationId xmlns:a16="http://schemas.microsoft.com/office/drawing/2014/main" id="{363F16DF-E665-3812-F89A-9259C806975B}"/>
              </a:ext>
            </a:extLst>
          </p:cNvPr>
          <p:cNvPicPr preferRelativeResize="0"/>
          <p:nvPr/>
        </p:nvPicPr>
        <p:blipFill>
          <a:blip r:embed="rId5">
            <a:alphaModFix/>
          </a:blip>
          <a:stretch>
            <a:fillRect/>
          </a:stretch>
        </p:blipFill>
        <p:spPr>
          <a:xfrm>
            <a:off x="708310" y="214450"/>
            <a:ext cx="292200" cy="291300"/>
          </a:xfrm>
          <a:prstGeom prst="ellipse">
            <a:avLst/>
          </a:prstGeom>
          <a:noFill/>
          <a:ln>
            <a:noFill/>
          </a:ln>
        </p:spPr>
      </p:pic>
    </p:spTree>
    <p:extLst>
      <p:ext uri="{BB962C8B-B14F-4D97-AF65-F5344CB8AC3E}">
        <p14:creationId xmlns:p14="http://schemas.microsoft.com/office/powerpoint/2010/main" val="1321365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4216315-2646-B3E3-FB6D-C0D92BAA50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6" name="Google Shape;218;p23">
            <a:extLst>
              <a:ext uri="{FF2B5EF4-FFF2-40B4-BE49-F238E27FC236}">
                <a16:creationId xmlns:a16="http://schemas.microsoft.com/office/drawing/2014/main" id="{2C3C0A1D-1B73-F041-E81D-0BB5499C9C84}"/>
              </a:ext>
            </a:extLst>
          </p:cNvPr>
          <p:cNvPicPr preferRelativeResize="0"/>
          <p:nvPr/>
        </p:nvPicPr>
        <p:blipFill>
          <a:blip r:embed="rId3">
            <a:alphaModFix/>
          </a:blip>
          <a:stretch>
            <a:fillRect/>
          </a:stretch>
        </p:blipFill>
        <p:spPr>
          <a:xfrm>
            <a:off x="416100" y="214450"/>
            <a:ext cx="292200" cy="291300"/>
          </a:xfrm>
          <a:prstGeom prst="ellipse">
            <a:avLst/>
          </a:prstGeom>
          <a:noFill/>
          <a:ln>
            <a:noFill/>
          </a:ln>
        </p:spPr>
      </p:pic>
      <p:pic>
        <p:nvPicPr>
          <p:cNvPr id="7" name="Google Shape;219;p23">
            <a:extLst>
              <a:ext uri="{FF2B5EF4-FFF2-40B4-BE49-F238E27FC236}">
                <a16:creationId xmlns:a16="http://schemas.microsoft.com/office/drawing/2014/main" id="{395BFABD-4261-F470-6D94-CA8A5B131DB7}"/>
              </a:ext>
            </a:extLst>
          </p:cNvPr>
          <p:cNvPicPr preferRelativeResize="0"/>
          <p:nvPr/>
        </p:nvPicPr>
        <p:blipFill>
          <a:blip r:embed="rId4">
            <a:alphaModFix/>
          </a:blip>
          <a:stretch>
            <a:fillRect/>
          </a:stretch>
        </p:blipFill>
        <p:spPr>
          <a:xfrm>
            <a:off x="1000492" y="214450"/>
            <a:ext cx="292200" cy="291300"/>
          </a:xfrm>
          <a:prstGeom prst="ellipse">
            <a:avLst/>
          </a:prstGeom>
          <a:noFill/>
          <a:ln>
            <a:noFill/>
          </a:ln>
        </p:spPr>
      </p:pic>
      <p:sp>
        <p:nvSpPr>
          <p:cNvPr id="9" name="Google Shape;203;p22">
            <a:extLst>
              <a:ext uri="{FF2B5EF4-FFF2-40B4-BE49-F238E27FC236}">
                <a16:creationId xmlns:a16="http://schemas.microsoft.com/office/drawing/2014/main" id="{79AFFE54-4DA3-3130-AC2C-70503D7BE4D7}"/>
              </a:ext>
            </a:extLst>
          </p:cNvPr>
          <p:cNvSpPr txBox="1"/>
          <p:nvPr/>
        </p:nvSpPr>
        <p:spPr>
          <a:xfrm>
            <a:off x="308700" y="416050"/>
            <a:ext cx="8272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Healthcare jobs have a more balanced supply-demand dynamic compared to other industries</a:t>
            </a:r>
            <a:endParaRPr sz="2200" b="0" i="0" u="none" strike="noStrike" cap="none" dirty="0">
              <a:solidFill>
                <a:srgbClr val="0A070D"/>
              </a:solidFill>
              <a:latin typeface="Poppins SemiBold"/>
              <a:ea typeface="Poppins SemiBold"/>
              <a:cs typeface="Poppins SemiBold"/>
              <a:sym typeface="Poppins SemiBold"/>
            </a:endParaRPr>
          </a:p>
        </p:txBody>
      </p:sp>
      <p:sp>
        <p:nvSpPr>
          <p:cNvPr id="11" name="Google Shape;164;p19">
            <a:extLst>
              <a:ext uri="{FF2B5EF4-FFF2-40B4-BE49-F238E27FC236}">
                <a16:creationId xmlns:a16="http://schemas.microsoft.com/office/drawing/2014/main" id="{762DDBE2-D913-4BF9-426D-D7B25F564FFD}"/>
              </a:ext>
            </a:extLst>
          </p:cNvPr>
          <p:cNvSpPr txBox="1"/>
          <p:nvPr/>
        </p:nvSpPr>
        <p:spPr>
          <a:xfrm>
            <a:off x="5329880" y="1397341"/>
            <a:ext cx="3317691" cy="2819725"/>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2600"/>
              <a:buFont typeface="Arial"/>
              <a:buNone/>
            </a:pPr>
            <a:r>
              <a:rPr lang="en-US" sz="1000" b="1" dirty="0">
                <a:solidFill>
                  <a:srgbClr val="0A070D"/>
                </a:solidFill>
                <a:latin typeface="Poppins"/>
                <a:ea typeface="Poppins"/>
                <a:cs typeface="Poppins"/>
                <a:sym typeface="Poppins"/>
              </a:rPr>
              <a:t>6 out of the top 8 industries by employment volume have oversupply of candidates*</a:t>
            </a:r>
            <a:endParaRPr sz="1000" b="1"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CA" sz="1000" dirty="0">
                <a:solidFill>
                  <a:srgbClr val="0A070D"/>
                </a:solidFill>
                <a:latin typeface="Poppins"/>
                <a:cs typeface="Poppins"/>
              </a:rPr>
              <a:t>In the healthcare sector, the demand-to-supply ratio is notably tight compared to the overall job market. For every job opening in </a:t>
            </a:r>
            <a:r>
              <a:rPr lang="en-CA" sz="1000" b="1" dirty="0">
                <a:solidFill>
                  <a:srgbClr val="0A070D"/>
                </a:solidFill>
                <a:latin typeface="Poppins"/>
                <a:cs typeface="Poppins"/>
              </a:rPr>
              <a:t>healthcare</a:t>
            </a:r>
            <a:r>
              <a:rPr lang="en-CA" sz="1000" dirty="0">
                <a:solidFill>
                  <a:srgbClr val="0A070D"/>
                </a:solidFill>
                <a:latin typeface="Poppins"/>
                <a:cs typeface="Poppins"/>
              </a:rPr>
              <a:t>, there are approximately 3 candidates, compared to an </a:t>
            </a:r>
            <a:r>
              <a:rPr lang="en-CA" sz="1000" b="1" dirty="0">
                <a:solidFill>
                  <a:srgbClr val="0A070D"/>
                </a:solidFill>
                <a:latin typeface="Poppins"/>
                <a:cs typeface="Poppins"/>
              </a:rPr>
              <a:t>average of 7 candidates</a:t>
            </a:r>
            <a:r>
              <a:rPr lang="en-CA" sz="1000" dirty="0">
                <a:solidFill>
                  <a:srgbClr val="0A070D"/>
                </a:solidFill>
                <a:latin typeface="Poppins"/>
                <a:cs typeface="Poppins"/>
              </a:rPr>
              <a:t> per job opening across all sectors. </a:t>
            </a:r>
            <a:endParaRPr lang="en-US" sz="1000" dirty="0">
              <a:solidFill>
                <a:srgbClr val="0A070D"/>
              </a:solidFill>
              <a:latin typeface="Poppins"/>
              <a:cs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CA" sz="1000" dirty="0">
                <a:solidFill>
                  <a:srgbClr val="0A070D"/>
                </a:solidFill>
                <a:latin typeface="Poppins"/>
                <a:cs typeface="Poppins"/>
              </a:rPr>
              <a:t>Mid to high-skills, such as those in the technology and finance sectors, most likely exhibit a lower candidate-to-job ratio. However, this dataset is provided by the government jobsite which focuses on accessible, non-degree jobs. </a:t>
            </a:r>
            <a:endParaRPr lang="en-US" sz="1000" dirty="0">
              <a:solidFill>
                <a:srgbClr val="0A070D"/>
              </a:solidFill>
              <a:latin typeface="Poppins"/>
              <a:cs typeface="Poppins"/>
              <a:sym typeface="Poppins"/>
            </a:endParaRPr>
          </a:p>
          <a:p>
            <a:pPr marL="0" lvl="0" indent="0" algn="l" rtl="0">
              <a:spcBef>
                <a:spcPts val="0"/>
              </a:spcBef>
              <a:spcAft>
                <a:spcPts val="0"/>
              </a:spcAft>
              <a:buNone/>
            </a:pPr>
            <a:endParaRPr lang="en-US" sz="1000" b="1" dirty="0">
              <a:solidFill>
                <a:srgbClr val="0A070D"/>
              </a:solidFill>
              <a:latin typeface="Poppins"/>
              <a:ea typeface="Poppins"/>
              <a:cs typeface="Poppins"/>
              <a:sym typeface="Poppins"/>
            </a:endParaRPr>
          </a:p>
        </p:txBody>
      </p:sp>
      <p:pic>
        <p:nvPicPr>
          <p:cNvPr id="13" name="Picture 12" descr="A screenshot of a graph&#10;&#10;Description automatically generated">
            <a:extLst>
              <a:ext uri="{FF2B5EF4-FFF2-40B4-BE49-F238E27FC236}">
                <a16:creationId xmlns:a16="http://schemas.microsoft.com/office/drawing/2014/main" id="{3AA5AEC9-EDED-E6B4-6328-C42DE1E89F56}"/>
              </a:ext>
            </a:extLst>
          </p:cNvPr>
          <p:cNvPicPr>
            <a:picLocks noChangeAspect="1"/>
          </p:cNvPicPr>
          <p:nvPr/>
        </p:nvPicPr>
        <p:blipFill>
          <a:blip r:embed="rId5"/>
          <a:stretch>
            <a:fillRect/>
          </a:stretch>
        </p:blipFill>
        <p:spPr>
          <a:xfrm>
            <a:off x="414051" y="1553863"/>
            <a:ext cx="4695348" cy="2612734"/>
          </a:xfrm>
          <a:prstGeom prst="rect">
            <a:avLst/>
          </a:prstGeom>
        </p:spPr>
      </p:pic>
      <p:sp>
        <p:nvSpPr>
          <p:cNvPr id="14" name="Google Shape;222;p23">
            <a:extLst>
              <a:ext uri="{FF2B5EF4-FFF2-40B4-BE49-F238E27FC236}">
                <a16:creationId xmlns:a16="http://schemas.microsoft.com/office/drawing/2014/main" id="{D7CE9280-E491-E8AA-A2D2-361DB78AADF5}"/>
              </a:ext>
            </a:extLst>
          </p:cNvPr>
          <p:cNvSpPr txBox="1"/>
          <p:nvPr/>
        </p:nvSpPr>
        <p:spPr>
          <a:xfrm>
            <a:off x="416100" y="4519150"/>
            <a:ext cx="80010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dirty="0">
                <a:solidFill>
                  <a:srgbClr val="0A070D"/>
                </a:solidFill>
                <a:latin typeface="Poppins"/>
                <a:ea typeface="Poppins"/>
                <a:cs typeface="Poppins"/>
                <a:sym typeface="Poppins"/>
              </a:rPr>
              <a:t>* </a:t>
            </a:r>
            <a:r>
              <a:rPr lang="en-CA" sz="700" dirty="0">
                <a:solidFill>
                  <a:srgbClr val="0A070D"/>
                </a:solidFill>
                <a:latin typeface="Poppins"/>
                <a:ea typeface="Poppins"/>
                <a:cs typeface="Poppins"/>
                <a:sym typeface="Poppins"/>
              </a:rPr>
              <a:t>D</a:t>
            </a:r>
            <a:r>
              <a:rPr lang="en" sz="700" dirty="0" err="1">
                <a:solidFill>
                  <a:srgbClr val="0A070D"/>
                </a:solidFill>
                <a:latin typeface="Poppins"/>
                <a:ea typeface="Poppins"/>
                <a:cs typeface="Poppins"/>
                <a:sym typeface="Poppins"/>
              </a:rPr>
              <a:t>ata</a:t>
            </a:r>
            <a:r>
              <a:rPr lang="en" sz="700" dirty="0">
                <a:solidFill>
                  <a:srgbClr val="0A070D"/>
                </a:solidFill>
                <a:latin typeface="Poppins"/>
                <a:ea typeface="Poppins"/>
                <a:cs typeface="Poppins"/>
                <a:sym typeface="Poppins"/>
              </a:rPr>
              <a:t> for the other 2 of the top 8 (Finance and Insurance, Education Except Public Education) is not available. </a:t>
            </a:r>
            <a:endParaRPr sz="700" dirty="0">
              <a:solidFill>
                <a:srgbClr val="0A070D"/>
              </a:solidFill>
              <a:latin typeface="Poppins"/>
              <a:ea typeface="Poppins"/>
              <a:cs typeface="Poppins"/>
              <a:sym typeface="Poppins"/>
            </a:endParaRPr>
          </a:p>
        </p:txBody>
      </p:sp>
      <p:sp>
        <p:nvSpPr>
          <p:cNvPr id="15" name="Google Shape;226;p23">
            <a:extLst>
              <a:ext uri="{FF2B5EF4-FFF2-40B4-BE49-F238E27FC236}">
                <a16:creationId xmlns:a16="http://schemas.microsoft.com/office/drawing/2014/main" id="{DBBC6EAA-B96B-3B3F-8BFA-455BD619D8FA}"/>
              </a:ext>
            </a:extLst>
          </p:cNvPr>
          <p:cNvSpPr/>
          <p:nvPr/>
        </p:nvSpPr>
        <p:spPr>
          <a:xfrm>
            <a:off x="421231" y="3471218"/>
            <a:ext cx="4513233" cy="252287"/>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 name="Google Shape;154;p18">
            <a:extLst>
              <a:ext uri="{FF2B5EF4-FFF2-40B4-BE49-F238E27FC236}">
                <a16:creationId xmlns:a16="http://schemas.microsoft.com/office/drawing/2014/main" id="{9E623F3B-A69B-BE58-B88B-08E10B16D25F}"/>
              </a:ext>
            </a:extLst>
          </p:cNvPr>
          <p:cNvPicPr preferRelativeResize="0"/>
          <p:nvPr/>
        </p:nvPicPr>
        <p:blipFill>
          <a:blip r:embed="rId6">
            <a:alphaModFix/>
          </a:blip>
          <a:stretch>
            <a:fillRect/>
          </a:stretch>
        </p:blipFill>
        <p:spPr>
          <a:xfrm>
            <a:off x="708310" y="214450"/>
            <a:ext cx="292200" cy="291300"/>
          </a:xfrm>
          <a:prstGeom prst="ellipse">
            <a:avLst/>
          </a:prstGeom>
          <a:noFill/>
          <a:ln>
            <a:noFill/>
          </a:ln>
        </p:spPr>
      </p:pic>
    </p:spTree>
    <p:extLst>
      <p:ext uri="{BB962C8B-B14F-4D97-AF65-F5344CB8AC3E}">
        <p14:creationId xmlns:p14="http://schemas.microsoft.com/office/powerpoint/2010/main" val="2872381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4216315-2646-B3E3-FB6D-C0D92BAA50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3" name="Picture 2" descr="A graph of numbers and a number of people&#10;&#10;Description automatically generated with medium confidence">
            <a:extLst>
              <a:ext uri="{FF2B5EF4-FFF2-40B4-BE49-F238E27FC236}">
                <a16:creationId xmlns:a16="http://schemas.microsoft.com/office/drawing/2014/main" id="{32CA96B1-819F-A3A1-B895-DA520229A39B}"/>
              </a:ext>
            </a:extLst>
          </p:cNvPr>
          <p:cNvPicPr>
            <a:picLocks noChangeAspect="1"/>
          </p:cNvPicPr>
          <p:nvPr/>
        </p:nvPicPr>
        <p:blipFill>
          <a:blip r:embed="rId3"/>
          <a:stretch>
            <a:fillRect/>
          </a:stretch>
        </p:blipFill>
        <p:spPr>
          <a:xfrm>
            <a:off x="371079" y="1238693"/>
            <a:ext cx="5113432" cy="3414453"/>
          </a:xfrm>
          <a:prstGeom prst="rect">
            <a:avLst/>
          </a:prstGeom>
        </p:spPr>
      </p:pic>
      <p:pic>
        <p:nvPicPr>
          <p:cNvPr id="4" name="Google Shape;218;p23">
            <a:extLst>
              <a:ext uri="{FF2B5EF4-FFF2-40B4-BE49-F238E27FC236}">
                <a16:creationId xmlns:a16="http://schemas.microsoft.com/office/drawing/2014/main" id="{0C44E475-1DA5-135B-C40F-C925472A3FE3}"/>
              </a:ext>
            </a:extLst>
          </p:cNvPr>
          <p:cNvPicPr preferRelativeResize="0"/>
          <p:nvPr/>
        </p:nvPicPr>
        <p:blipFill>
          <a:blip r:embed="rId4">
            <a:alphaModFix/>
          </a:blip>
          <a:stretch>
            <a:fillRect/>
          </a:stretch>
        </p:blipFill>
        <p:spPr>
          <a:xfrm>
            <a:off x="416100" y="214450"/>
            <a:ext cx="292200" cy="291300"/>
          </a:xfrm>
          <a:prstGeom prst="ellipse">
            <a:avLst/>
          </a:prstGeom>
          <a:noFill/>
          <a:ln>
            <a:noFill/>
          </a:ln>
        </p:spPr>
      </p:pic>
      <p:pic>
        <p:nvPicPr>
          <p:cNvPr id="6" name="Google Shape;219;p23">
            <a:extLst>
              <a:ext uri="{FF2B5EF4-FFF2-40B4-BE49-F238E27FC236}">
                <a16:creationId xmlns:a16="http://schemas.microsoft.com/office/drawing/2014/main" id="{B9BA8DB1-F994-60EE-E092-A7AA3A6A21EE}"/>
              </a:ext>
            </a:extLst>
          </p:cNvPr>
          <p:cNvPicPr preferRelativeResize="0"/>
          <p:nvPr/>
        </p:nvPicPr>
        <p:blipFill>
          <a:blip r:embed="rId5">
            <a:alphaModFix/>
          </a:blip>
          <a:stretch>
            <a:fillRect/>
          </a:stretch>
        </p:blipFill>
        <p:spPr>
          <a:xfrm>
            <a:off x="1000492" y="214450"/>
            <a:ext cx="292200" cy="291300"/>
          </a:xfrm>
          <a:prstGeom prst="ellipse">
            <a:avLst/>
          </a:prstGeom>
          <a:noFill/>
          <a:ln>
            <a:noFill/>
          </a:ln>
        </p:spPr>
      </p:pic>
      <p:sp>
        <p:nvSpPr>
          <p:cNvPr id="9" name="Google Shape;203;p22">
            <a:extLst>
              <a:ext uri="{FF2B5EF4-FFF2-40B4-BE49-F238E27FC236}">
                <a16:creationId xmlns:a16="http://schemas.microsoft.com/office/drawing/2014/main" id="{7F28CDA2-A8E8-D371-BCDC-0AF0A892CB78}"/>
              </a:ext>
            </a:extLst>
          </p:cNvPr>
          <p:cNvSpPr txBox="1"/>
          <p:nvPr/>
        </p:nvSpPr>
        <p:spPr>
          <a:xfrm>
            <a:off x="308700" y="416050"/>
            <a:ext cx="8272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Call Center and Customer Service Agents are still in higher demand than others</a:t>
            </a:r>
            <a:endParaRPr sz="2200" b="0" i="0" u="none" strike="noStrike" cap="none" dirty="0">
              <a:solidFill>
                <a:srgbClr val="0A070D"/>
              </a:solidFill>
              <a:latin typeface="Poppins SemiBold"/>
              <a:ea typeface="Poppins SemiBold"/>
              <a:cs typeface="Poppins SemiBold"/>
              <a:sym typeface="Poppins SemiBold"/>
            </a:endParaRPr>
          </a:p>
        </p:txBody>
      </p:sp>
      <p:sp>
        <p:nvSpPr>
          <p:cNvPr id="10" name="Google Shape;164;p19">
            <a:extLst>
              <a:ext uri="{FF2B5EF4-FFF2-40B4-BE49-F238E27FC236}">
                <a16:creationId xmlns:a16="http://schemas.microsoft.com/office/drawing/2014/main" id="{6632B3C2-794D-72C4-990E-ED3F7FBB01C5}"/>
              </a:ext>
            </a:extLst>
          </p:cNvPr>
          <p:cNvSpPr txBox="1"/>
          <p:nvPr/>
        </p:nvSpPr>
        <p:spPr>
          <a:xfrm>
            <a:off x="5429117" y="1631091"/>
            <a:ext cx="3317691" cy="2809103"/>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2600"/>
              <a:buFont typeface="Arial"/>
              <a:buNone/>
            </a:pPr>
            <a:r>
              <a:rPr lang="en-US" sz="1000" b="1" dirty="0">
                <a:solidFill>
                  <a:srgbClr val="0A070D"/>
                </a:solidFill>
                <a:latin typeface="Poppins"/>
                <a:ea typeface="Poppins"/>
                <a:cs typeface="Poppins"/>
                <a:sym typeface="Poppins"/>
              </a:rPr>
              <a:t>Further evidence is needed to confirm the job market dynamics for roles:</a:t>
            </a:r>
          </a:p>
          <a:p>
            <a:pPr marL="165100">
              <a:buClr>
                <a:srgbClr val="0A070D"/>
              </a:buClr>
              <a:buSzPts val="1000"/>
            </a:pPr>
            <a:endParaRPr lang="en-US" sz="1000" dirty="0">
              <a:solidFill>
                <a:srgbClr val="0A070D"/>
              </a:solidFill>
              <a:latin typeface="Poppins"/>
              <a:cs typeface="Poppins"/>
            </a:endParaRPr>
          </a:p>
          <a:p>
            <a:pPr marL="457200" indent="-292100">
              <a:buClr>
                <a:srgbClr val="0A070D"/>
              </a:buClr>
              <a:buSzPts val="1000"/>
              <a:buFont typeface="Poppins"/>
              <a:buChar char="●"/>
            </a:pPr>
            <a:r>
              <a:rPr lang="en-US" sz="1000" dirty="0">
                <a:solidFill>
                  <a:srgbClr val="0A070D"/>
                </a:solidFill>
                <a:latin typeface="Poppins"/>
                <a:cs typeface="Poppins"/>
              </a:rPr>
              <a:t>Opportunities for domestic helpers to work as overseas workers (OFWs) can be investigated</a:t>
            </a:r>
          </a:p>
          <a:p>
            <a:pPr marL="165100">
              <a:buClr>
                <a:srgbClr val="0A070D"/>
              </a:buClr>
              <a:buSzPts val="1000"/>
            </a:pPr>
            <a:endParaRPr lang="en-US" sz="1000" dirty="0">
              <a:solidFill>
                <a:srgbClr val="0A070D"/>
              </a:solidFill>
              <a:latin typeface="Poppins"/>
              <a:cs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US" sz="1000" dirty="0">
                <a:solidFill>
                  <a:srgbClr val="0A070D"/>
                </a:solidFill>
                <a:latin typeface="Poppins"/>
                <a:cs typeface="Poppins"/>
              </a:rPr>
              <a:t>Compared to Call Center Agents, Admin Clerk and Data Encoder jobs have less favorable supply-demand dynamics for candidates, however, many remote jobs are posted in alternative platforms and need to reviewed holistically</a:t>
            </a:r>
          </a:p>
          <a:p>
            <a:pPr marL="165100" marR="0" lvl="0" algn="l" rtl="0">
              <a:lnSpc>
                <a:spcPct val="100000"/>
              </a:lnSpc>
              <a:spcBef>
                <a:spcPts val="0"/>
              </a:spcBef>
              <a:spcAft>
                <a:spcPts val="0"/>
              </a:spcAft>
              <a:buClr>
                <a:srgbClr val="0A070D"/>
              </a:buClr>
              <a:buSzPts val="1000"/>
            </a:pPr>
            <a:endParaRPr lang="en-US" sz="1000" dirty="0">
              <a:solidFill>
                <a:srgbClr val="0A070D"/>
              </a:solidFill>
              <a:latin typeface="Poppins"/>
              <a:cs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US" sz="1000" dirty="0">
                <a:solidFill>
                  <a:srgbClr val="0A070D"/>
                </a:solidFill>
                <a:latin typeface="Poppins"/>
                <a:cs typeface="Poppins"/>
              </a:rPr>
              <a:t>The future growth of these roles also need to reviewed</a:t>
            </a:r>
          </a:p>
          <a:p>
            <a:pPr marL="0" lvl="0" indent="0" algn="l" rtl="0">
              <a:spcBef>
                <a:spcPts val="0"/>
              </a:spcBef>
              <a:spcAft>
                <a:spcPts val="0"/>
              </a:spcAft>
              <a:buNone/>
            </a:pPr>
            <a:endParaRPr lang="en-US" sz="1000" b="1" dirty="0">
              <a:solidFill>
                <a:srgbClr val="0A070D"/>
              </a:solidFill>
              <a:latin typeface="Poppins"/>
              <a:ea typeface="Poppins"/>
              <a:cs typeface="Poppins"/>
              <a:sym typeface="Poppins"/>
            </a:endParaRPr>
          </a:p>
        </p:txBody>
      </p:sp>
      <p:sp>
        <p:nvSpPr>
          <p:cNvPr id="11" name="Google Shape;226;p23">
            <a:extLst>
              <a:ext uri="{FF2B5EF4-FFF2-40B4-BE49-F238E27FC236}">
                <a16:creationId xmlns:a16="http://schemas.microsoft.com/office/drawing/2014/main" id="{EB56331F-924B-BA87-C273-E28BB2171718}"/>
              </a:ext>
            </a:extLst>
          </p:cNvPr>
          <p:cNvSpPr/>
          <p:nvPr/>
        </p:nvSpPr>
        <p:spPr>
          <a:xfrm>
            <a:off x="371079" y="2161400"/>
            <a:ext cx="4513233" cy="408807"/>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226;p23">
            <a:extLst>
              <a:ext uri="{FF2B5EF4-FFF2-40B4-BE49-F238E27FC236}">
                <a16:creationId xmlns:a16="http://schemas.microsoft.com/office/drawing/2014/main" id="{7362DA12-C0F5-E8C7-460E-D2D06C7A7389}"/>
              </a:ext>
            </a:extLst>
          </p:cNvPr>
          <p:cNvSpPr/>
          <p:nvPr/>
        </p:nvSpPr>
        <p:spPr>
          <a:xfrm>
            <a:off x="349890" y="2980957"/>
            <a:ext cx="4513233" cy="174138"/>
          </a:xfrm>
          <a:prstGeom prst="rect">
            <a:avLst/>
          </a:prstGeom>
          <a:noFill/>
          <a:ln w="19050" cap="flat" cmpd="sng">
            <a:solidFill>
              <a:srgbClr val="C71D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 name="Google Shape;154;p18">
            <a:extLst>
              <a:ext uri="{FF2B5EF4-FFF2-40B4-BE49-F238E27FC236}">
                <a16:creationId xmlns:a16="http://schemas.microsoft.com/office/drawing/2014/main" id="{5C61FFD6-B3C2-2DD9-7B58-E68885018E1D}"/>
              </a:ext>
            </a:extLst>
          </p:cNvPr>
          <p:cNvPicPr preferRelativeResize="0"/>
          <p:nvPr/>
        </p:nvPicPr>
        <p:blipFill>
          <a:blip r:embed="rId6">
            <a:alphaModFix/>
          </a:blip>
          <a:stretch>
            <a:fillRect/>
          </a:stretch>
        </p:blipFill>
        <p:spPr>
          <a:xfrm>
            <a:off x="708310" y="214450"/>
            <a:ext cx="292200" cy="291300"/>
          </a:xfrm>
          <a:prstGeom prst="ellipse">
            <a:avLst/>
          </a:prstGeom>
          <a:noFill/>
          <a:ln>
            <a:noFill/>
          </a:ln>
        </p:spPr>
      </p:pic>
    </p:spTree>
    <p:extLst>
      <p:ext uri="{BB962C8B-B14F-4D97-AF65-F5344CB8AC3E}">
        <p14:creationId xmlns:p14="http://schemas.microsoft.com/office/powerpoint/2010/main" val="784382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1217496-691D-EF75-663C-F6D7785C74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7" name="Picture 6" descr="A screen shot of a graph&#10;&#10;Description automatically generated">
            <a:extLst>
              <a:ext uri="{FF2B5EF4-FFF2-40B4-BE49-F238E27FC236}">
                <a16:creationId xmlns:a16="http://schemas.microsoft.com/office/drawing/2014/main" id="{2DD67228-3C29-E538-7038-ADB356754A16}"/>
              </a:ext>
            </a:extLst>
          </p:cNvPr>
          <p:cNvPicPr>
            <a:picLocks noChangeAspect="1"/>
          </p:cNvPicPr>
          <p:nvPr/>
        </p:nvPicPr>
        <p:blipFill>
          <a:blip r:embed="rId3"/>
          <a:stretch>
            <a:fillRect/>
          </a:stretch>
        </p:blipFill>
        <p:spPr>
          <a:xfrm>
            <a:off x="4826216" y="243255"/>
            <a:ext cx="3763441" cy="4813562"/>
          </a:xfrm>
          <a:prstGeom prst="rect">
            <a:avLst/>
          </a:prstGeom>
        </p:spPr>
      </p:pic>
      <p:sp>
        <p:nvSpPr>
          <p:cNvPr id="12" name="Rounded Rectangle 11">
            <a:extLst>
              <a:ext uri="{FF2B5EF4-FFF2-40B4-BE49-F238E27FC236}">
                <a16:creationId xmlns:a16="http://schemas.microsoft.com/office/drawing/2014/main" id="{875E044E-52DD-17B0-3FD7-CEEBCEB4BF07}"/>
              </a:ext>
            </a:extLst>
          </p:cNvPr>
          <p:cNvSpPr/>
          <p:nvPr/>
        </p:nvSpPr>
        <p:spPr>
          <a:xfrm rot="16200000">
            <a:off x="4001644" y="1237014"/>
            <a:ext cx="1252057" cy="39709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A070D"/>
                </a:solidFill>
                <a:latin typeface="Poppins"/>
                <a:cs typeface="Poppins"/>
                <a:sym typeface="Poppins"/>
              </a:rPr>
              <a:t>Univ Grad</a:t>
            </a:r>
            <a:endParaRPr lang="en-US" dirty="0"/>
          </a:p>
        </p:txBody>
      </p:sp>
      <p:sp>
        <p:nvSpPr>
          <p:cNvPr id="13" name="Rounded Rectangle 12">
            <a:extLst>
              <a:ext uri="{FF2B5EF4-FFF2-40B4-BE49-F238E27FC236}">
                <a16:creationId xmlns:a16="http://schemas.microsoft.com/office/drawing/2014/main" id="{BB433E23-A67C-7B52-3E42-73896967B00F}"/>
              </a:ext>
            </a:extLst>
          </p:cNvPr>
          <p:cNvSpPr/>
          <p:nvPr/>
        </p:nvSpPr>
        <p:spPr>
          <a:xfrm rot="16200000">
            <a:off x="3329967" y="3258799"/>
            <a:ext cx="2634327" cy="422026"/>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A070D"/>
                </a:solidFill>
                <a:latin typeface="Poppins"/>
                <a:cs typeface="Poppins"/>
                <a:sym typeface="Poppins"/>
              </a:rPr>
              <a:t>TVET Graduate</a:t>
            </a:r>
            <a:endParaRPr lang="en-US" dirty="0"/>
          </a:p>
        </p:txBody>
      </p:sp>
      <p:sp>
        <p:nvSpPr>
          <p:cNvPr id="14" name="Google Shape;164;p19">
            <a:extLst>
              <a:ext uri="{FF2B5EF4-FFF2-40B4-BE49-F238E27FC236}">
                <a16:creationId xmlns:a16="http://schemas.microsoft.com/office/drawing/2014/main" id="{15E6B23A-B4CD-0EEB-9254-0A3C14D0B909}"/>
              </a:ext>
            </a:extLst>
          </p:cNvPr>
          <p:cNvSpPr txBox="1"/>
          <p:nvPr/>
        </p:nvSpPr>
        <p:spPr>
          <a:xfrm>
            <a:off x="332722" y="1483183"/>
            <a:ext cx="3763441" cy="2548043"/>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2600"/>
              <a:buFont typeface="Arial"/>
              <a:buNone/>
            </a:pPr>
            <a:r>
              <a:rPr lang="en-US" sz="1000" b="1" dirty="0">
                <a:solidFill>
                  <a:srgbClr val="0A070D"/>
                </a:solidFill>
                <a:latin typeface="Poppins"/>
                <a:ea typeface="Poppins"/>
                <a:cs typeface="Poppins"/>
                <a:sym typeface="Poppins"/>
              </a:rPr>
              <a:t>There is a clear wage difference between the salary reported by Univ grads and TVET grads</a:t>
            </a:r>
          </a:p>
          <a:p>
            <a:pPr marL="165100" marR="0" lvl="0" algn="l" rtl="0">
              <a:lnSpc>
                <a:spcPct val="100000"/>
              </a:lnSpc>
              <a:spcBef>
                <a:spcPts val="0"/>
              </a:spcBef>
              <a:spcAft>
                <a:spcPts val="0"/>
              </a:spcAft>
              <a:buClr>
                <a:srgbClr val="0A070D"/>
              </a:buClr>
              <a:buSzPts val="1000"/>
            </a:pPr>
            <a:endParaRPr lang="en-US" sz="1000" dirty="0">
              <a:solidFill>
                <a:srgbClr val="0A070D"/>
              </a:solidFill>
              <a:latin typeface="Poppins"/>
              <a:cs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US" sz="1000" dirty="0">
                <a:solidFill>
                  <a:srgbClr val="0A070D"/>
                </a:solidFill>
                <a:latin typeface="Poppins"/>
                <a:cs typeface="Poppins"/>
              </a:rPr>
              <a:t>Average weighted salary for TESDA graduates is $180 per month, which is $133 less than the average University graduate salary of $313 </a:t>
            </a:r>
          </a:p>
          <a:p>
            <a:pPr marL="457200" marR="0" lvl="0" indent="-292100" algn="l" rtl="0">
              <a:lnSpc>
                <a:spcPct val="100000"/>
              </a:lnSpc>
              <a:spcBef>
                <a:spcPts val="0"/>
              </a:spcBef>
              <a:spcAft>
                <a:spcPts val="0"/>
              </a:spcAft>
              <a:buClr>
                <a:srgbClr val="0A070D"/>
              </a:buClr>
              <a:buSzPts val="1000"/>
              <a:buFont typeface="Poppins"/>
              <a:buChar char="●"/>
            </a:pPr>
            <a:endParaRPr lang="en-US" sz="1000" dirty="0">
              <a:solidFill>
                <a:srgbClr val="0A070D"/>
              </a:solidFill>
              <a:latin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US" sz="1000" dirty="0">
                <a:solidFill>
                  <a:srgbClr val="0A070D"/>
                </a:solidFill>
                <a:latin typeface="Poppins"/>
                <a:cs typeface="Poppins"/>
                <a:sym typeface="Poppins"/>
              </a:rPr>
              <a:t>6 sectors can be identified as having salary data for both univ and TVET grads</a:t>
            </a:r>
          </a:p>
          <a:p>
            <a:pPr marL="457200" marR="0" lvl="0" indent="-292100" algn="l" rtl="0">
              <a:lnSpc>
                <a:spcPct val="100000"/>
              </a:lnSpc>
              <a:spcBef>
                <a:spcPts val="0"/>
              </a:spcBef>
              <a:spcAft>
                <a:spcPts val="0"/>
              </a:spcAft>
              <a:buClr>
                <a:srgbClr val="0A070D"/>
              </a:buClr>
              <a:buSzPts val="1000"/>
              <a:buFont typeface="Poppins"/>
              <a:buChar char="●"/>
            </a:pPr>
            <a:endParaRPr lang="en-US" sz="1000" dirty="0">
              <a:solidFill>
                <a:srgbClr val="0A070D"/>
              </a:solidFill>
              <a:latin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US" sz="1000" dirty="0">
                <a:solidFill>
                  <a:srgbClr val="0A070D"/>
                </a:solidFill>
                <a:latin typeface="Poppins"/>
                <a:cs typeface="Poppins"/>
              </a:rPr>
              <a:t>Further qualitative interviews with HR needed to verify if hiring process allows for TVET grads to compete with University grads</a:t>
            </a:r>
          </a:p>
        </p:txBody>
      </p:sp>
      <p:sp>
        <p:nvSpPr>
          <p:cNvPr id="15" name="Google Shape;217;p23">
            <a:extLst>
              <a:ext uri="{FF2B5EF4-FFF2-40B4-BE49-F238E27FC236}">
                <a16:creationId xmlns:a16="http://schemas.microsoft.com/office/drawing/2014/main" id="{6AF57686-AE74-169B-A2ED-2DDA7760E0C4}"/>
              </a:ext>
            </a:extLst>
          </p:cNvPr>
          <p:cNvSpPr txBox="1"/>
          <p:nvPr/>
        </p:nvSpPr>
        <p:spPr>
          <a:xfrm>
            <a:off x="308703" y="416053"/>
            <a:ext cx="4009082" cy="98412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Clear Salary differences of Univ VS TVET graduates</a:t>
            </a:r>
          </a:p>
        </p:txBody>
      </p:sp>
      <p:pic>
        <p:nvPicPr>
          <p:cNvPr id="16" name="Google Shape;218;p23">
            <a:extLst>
              <a:ext uri="{FF2B5EF4-FFF2-40B4-BE49-F238E27FC236}">
                <a16:creationId xmlns:a16="http://schemas.microsoft.com/office/drawing/2014/main" id="{2C61B653-B06B-BC8E-BBFC-01A87FE3D590}"/>
              </a:ext>
            </a:extLst>
          </p:cNvPr>
          <p:cNvPicPr preferRelativeResize="0"/>
          <p:nvPr/>
        </p:nvPicPr>
        <p:blipFill>
          <a:blip r:embed="rId4">
            <a:alphaModFix/>
          </a:blip>
          <a:stretch>
            <a:fillRect/>
          </a:stretch>
        </p:blipFill>
        <p:spPr>
          <a:xfrm>
            <a:off x="416100" y="214450"/>
            <a:ext cx="292200" cy="291300"/>
          </a:xfrm>
          <a:prstGeom prst="ellipse">
            <a:avLst/>
          </a:prstGeom>
          <a:noFill/>
          <a:ln>
            <a:noFill/>
          </a:ln>
        </p:spPr>
      </p:pic>
      <p:pic>
        <p:nvPicPr>
          <p:cNvPr id="17" name="Google Shape;219;p23">
            <a:extLst>
              <a:ext uri="{FF2B5EF4-FFF2-40B4-BE49-F238E27FC236}">
                <a16:creationId xmlns:a16="http://schemas.microsoft.com/office/drawing/2014/main" id="{AABB124B-5B43-100C-9A41-EF6148870BD7}"/>
              </a:ext>
            </a:extLst>
          </p:cNvPr>
          <p:cNvPicPr preferRelativeResize="0"/>
          <p:nvPr/>
        </p:nvPicPr>
        <p:blipFill>
          <a:blip r:embed="rId5">
            <a:alphaModFix/>
          </a:blip>
          <a:stretch>
            <a:fillRect/>
          </a:stretch>
        </p:blipFill>
        <p:spPr>
          <a:xfrm>
            <a:off x="1000492" y="214450"/>
            <a:ext cx="292200" cy="291300"/>
          </a:xfrm>
          <a:prstGeom prst="ellipse">
            <a:avLst/>
          </a:prstGeom>
          <a:noFill/>
          <a:ln>
            <a:noFill/>
          </a:ln>
        </p:spPr>
      </p:pic>
      <p:pic>
        <p:nvPicPr>
          <p:cNvPr id="18" name="Google Shape;220;p23">
            <a:extLst>
              <a:ext uri="{FF2B5EF4-FFF2-40B4-BE49-F238E27FC236}">
                <a16:creationId xmlns:a16="http://schemas.microsoft.com/office/drawing/2014/main" id="{0AD7ED33-CE5B-5CBB-A5B6-DC3384E0DFAE}"/>
              </a:ext>
            </a:extLst>
          </p:cNvPr>
          <p:cNvPicPr preferRelativeResize="0"/>
          <p:nvPr/>
        </p:nvPicPr>
        <p:blipFill>
          <a:blip r:embed="rId6">
            <a:alphaModFix/>
          </a:blip>
          <a:stretch>
            <a:fillRect/>
          </a:stretch>
        </p:blipFill>
        <p:spPr>
          <a:xfrm>
            <a:off x="708310" y="214450"/>
            <a:ext cx="292200" cy="291300"/>
          </a:xfrm>
          <a:prstGeom prst="ellipse">
            <a:avLst/>
          </a:prstGeom>
          <a:noFill/>
          <a:ln>
            <a:noFill/>
          </a:ln>
        </p:spPr>
      </p:pic>
    </p:spTree>
    <p:extLst>
      <p:ext uri="{BB962C8B-B14F-4D97-AF65-F5344CB8AC3E}">
        <p14:creationId xmlns:p14="http://schemas.microsoft.com/office/powerpoint/2010/main" val="1367679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pic>
        <p:nvPicPr>
          <p:cNvPr id="233" name="Google Shape;233;p24"/>
          <p:cNvPicPr preferRelativeResize="0"/>
          <p:nvPr/>
        </p:nvPicPr>
        <p:blipFill>
          <a:blip r:embed="rId3">
            <a:alphaModFix/>
          </a:blip>
          <a:stretch>
            <a:fillRect/>
          </a:stretch>
        </p:blipFill>
        <p:spPr>
          <a:xfrm>
            <a:off x="1126838" y="1320625"/>
            <a:ext cx="1315500" cy="1315500"/>
          </a:xfrm>
          <a:prstGeom prst="ellipse">
            <a:avLst/>
          </a:prstGeom>
          <a:noFill/>
          <a:ln>
            <a:noFill/>
          </a:ln>
        </p:spPr>
      </p:pic>
      <p:pic>
        <p:nvPicPr>
          <p:cNvPr id="234" name="Google Shape;234;p24"/>
          <p:cNvPicPr preferRelativeResize="0"/>
          <p:nvPr/>
        </p:nvPicPr>
        <p:blipFill>
          <a:blip r:embed="rId4">
            <a:alphaModFix/>
          </a:blip>
          <a:stretch>
            <a:fillRect/>
          </a:stretch>
        </p:blipFill>
        <p:spPr>
          <a:xfrm>
            <a:off x="6535791" y="1320625"/>
            <a:ext cx="1315500" cy="1315500"/>
          </a:xfrm>
          <a:prstGeom prst="ellipse">
            <a:avLst/>
          </a:prstGeom>
          <a:noFill/>
          <a:ln>
            <a:noFill/>
          </a:ln>
        </p:spPr>
      </p:pic>
      <p:pic>
        <p:nvPicPr>
          <p:cNvPr id="235" name="Google Shape;235;p24"/>
          <p:cNvPicPr preferRelativeResize="0"/>
          <p:nvPr/>
        </p:nvPicPr>
        <p:blipFill>
          <a:blip r:embed="rId5">
            <a:alphaModFix/>
          </a:blip>
          <a:stretch>
            <a:fillRect/>
          </a:stretch>
        </p:blipFill>
        <p:spPr>
          <a:xfrm>
            <a:off x="3781067" y="1320625"/>
            <a:ext cx="1353000" cy="1353000"/>
          </a:xfrm>
          <a:prstGeom prst="ellipse">
            <a:avLst/>
          </a:prstGeom>
          <a:noFill/>
          <a:ln>
            <a:noFill/>
          </a:ln>
        </p:spPr>
      </p:pic>
      <p:sp>
        <p:nvSpPr>
          <p:cNvPr id="236" name="Google Shape;236;p24"/>
          <p:cNvSpPr txBox="1"/>
          <p:nvPr/>
        </p:nvSpPr>
        <p:spPr>
          <a:xfrm>
            <a:off x="308700" y="339849"/>
            <a:ext cx="8001000" cy="756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a:solidFill>
                  <a:srgbClr val="0A070D"/>
                </a:solidFill>
                <a:latin typeface="Poppins SemiBold"/>
                <a:ea typeface="Poppins SemiBold"/>
                <a:cs typeface="Poppins SemiBold"/>
                <a:sym typeface="Poppins SemiBold"/>
              </a:rPr>
              <a:t>How can the foundation help each of these learners?</a:t>
            </a:r>
            <a:endParaRPr sz="2200" b="0" i="0" u="none" strike="noStrike" cap="none">
              <a:solidFill>
                <a:srgbClr val="0A070D"/>
              </a:solidFill>
              <a:latin typeface="Poppins SemiBold"/>
              <a:ea typeface="Poppins SemiBold"/>
              <a:cs typeface="Poppins SemiBold"/>
              <a:sym typeface="Poppins SemiBold"/>
            </a:endParaRPr>
          </a:p>
        </p:txBody>
      </p:sp>
      <p:sp>
        <p:nvSpPr>
          <p:cNvPr id="237" name="Google Shape;237;p24"/>
          <p:cNvSpPr txBox="1"/>
          <p:nvPr/>
        </p:nvSpPr>
        <p:spPr>
          <a:xfrm>
            <a:off x="1152038" y="25842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100">
                <a:solidFill>
                  <a:srgbClr val="0A070D"/>
                </a:solidFill>
                <a:latin typeface="Poppins SemiBold"/>
                <a:ea typeface="Poppins SemiBold"/>
                <a:cs typeface="Poppins SemiBold"/>
                <a:sym typeface="Poppins SemiBold"/>
              </a:rPr>
              <a:t>Beth</a:t>
            </a:r>
            <a:endParaRPr sz="1100" b="0" i="0" u="none" strike="noStrike" cap="none">
              <a:solidFill>
                <a:srgbClr val="0A070D"/>
              </a:solidFill>
              <a:latin typeface="Poppins SemiBold"/>
              <a:ea typeface="Poppins SemiBold"/>
              <a:cs typeface="Poppins SemiBold"/>
              <a:sym typeface="Poppins SemiBold"/>
            </a:endParaRPr>
          </a:p>
        </p:txBody>
      </p:sp>
      <p:sp>
        <p:nvSpPr>
          <p:cNvPr id="238" name="Google Shape;238;p24"/>
          <p:cNvSpPr txBox="1"/>
          <p:nvPr/>
        </p:nvSpPr>
        <p:spPr>
          <a:xfrm>
            <a:off x="6560991" y="25842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100">
                <a:solidFill>
                  <a:srgbClr val="0A070D"/>
                </a:solidFill>
                <a:latin typeface="Poppins SemiBold"/>
                <a:ea typeface="Poppins SemiBold"/>
                <a:cs typeface="Poppins SemiBold"/>
                <a:sym typeface="Poppins SemiBold"/>
              </a:rPr>
              <a:t>Alex</a:t>
            </a:r>
            <a:endParaRPr sz="1100" b="0" i="0" u="none" strike="noStrike" cap="none">
              <a:solidFill>
                <a:srgbClr val="0A070D"/>
              </a:solidFill>
              <a:latin typeface="Poppins SemiBold"/>
              <a:ea typeface="Poppins SemiBold"/>
              <a:cs typeface="Poppins SemiBold"/>
              <a:sym typeface="Poppins SemiBold"/>
            </a:endParaRPr>
          </a:p>
        </p:txBody>
      </p:sp>
      <p:sp>
        <p:nvSpPr>
          <p:cNvPr id="239" name="Google Shape;239;p24"/>
          <p:cNvSpPr txBox="1"/>
          <p:nvPr/>
        </p:nvSpPr>
        <p:spPr>
          <a:xfrm>
            <a:off x="3825017" y="25842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100">
                <a:solidFill>
                  <a:srgbClr val="0A070D"/>
                </a:solidFill>
                <a:latin typeface="Poppins SemiBold"/>
                <a:ea typeface="Poppins SemiBold"/>
                <a:cs typeface="Poppins SemiBold"/>
                <a:sym typeface="Poppins SemiBold"/>
              </a:rPr>
              <a:t>Carla</a:t>
            </a:r>
            <a:endParaRPr sz="1100" b="0" i="0" u="none" strike="noStrike" cap="none">
              <a:solidFill>
                <a:srgbClr val="0A070D"/>
              </a:solidFill>
              <a:latin typeface="Poppins SemiBold"/>
              <a:ea typeface="Poppins SemiBold"/>
              <a:cs typeface="Poppins SemiBold"/>
              <a:sym typeface="Poppins SemiBold"/>
            </a:endParaRPr>
          </a:p>
        </p:txBody>
      </p:sp>
      <p:sp>
        <p:nvSpPr>
          <p:cNvPr id="240" name="Google Shape;240;p24"/>
          <p:cNvSpPr/>
          <p:nvPr/>
        </p:nvSpPr>
        <p:spPr>
          <a:xfrm>
            <a:off x="1506593" y="2925075"/>
            <a:ext cx="513900" cy="231900"/>
          </a:xfrm>
          <a:prstGeom prst="roundRect">
            <a:avLst>
              <a:gd name="adj" fmla="val 16667"/>
            </a:avLst>
          </a:prstGeom>
          <a:solidFill>
            <a:srgbClr val="224B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Poppins Medium"/>
                <a:ea typeface="Poppins Medium"/>
                <a:cs typeface="Poppins Medium"/>
                <a:sym typeface="Poppins Medium"/>
              </a:rPr>
              <a:t>K-12</a:t>
            </a:r>
            <a:endParaRPr sz="900">
              <a:solidFill>
                <a:schemeClr val="lt1"/>
              </a:solidFill>
              <a:latin typeface="Poppins Medium"/>
              <a:ea typeface="Poppins Medium"/>
              <a:cs typeface="Poppins Medium"/>
              <a:sym typeface="Poppins Medium"/>
            </a:endParaRPr>
          </a:p>
        </p:txBody>
      </p:sp>
      <p:sp>
        <p:nvSpPr>
          <p:cNvPr id="241" name="Google Shape;241;p24"/>
          <p:cNvSpPr/>
          <p:nvPr/>
        </p:nvSpPr>
        <p:spPr>
          <a:xfrm>
            <a:off x="4553899" y="2925075"/>
            <a:ext cx="386700" cy="231900"/>
          </a:xfrm>
          <a:prstGeom prst="roundRect">
            <a:avLst>
              <a:gd name="adj" fmla="val 16667"/>
            </a:avLst>
          </a:prstGeom>
          <a:solidFill>
            <a:srgbClr val="B6D7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Poppins Medium"/>
                <a:ea typeface="Poppins Medium"/>
                <a:cs typeface="Poppins Medium"/>
                <a:sym typeface="Poppins Medium"/>
              </a:rPr>
              <a:t>HEI</a:t>
            </a:r>
            <a:endParaRPr sz="900">
              <a:solidFill>
                <a:schemeClr val="dk1"/>
              </a:solidFill>
              <a:latin typeface="Poppins Medium"/>
              <a:ea typeface="Poppins Medium"/>
              <a:cs typeface="Poppins Medium"/>
              <a:sym typeface="Poppins Medium"/>
            </a:endParaRPr>
          </a:p>
        </p:txBody>
      </p:sp>
      <p:sp>
        <p:nvSpPr>
          <p:cNvPr id="242" name="Google Shape;242;p24"/>
          <p:cNvSpPr txBox="1"/>
          <p:nvPr/>
        </p:nvSpPr>
        <p:spPr>
          <a:xfrm>
            <a:off x="604800" y="3197950"/>
            <a:ext cx="2317500" cy="118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900">
                <a:solidFill>
                  <a:srgbClr val="0A070D"/>
                </a:solidFill>
                <a:latin typeface="Poppins"/>
                <a:ea typeface="Poppins"/>
                <a:cs typeface="Poppins"/>
                <a:sym typeface="Poppins"/>
              </a:rPr>
              <a:t>Beth and her cohort are disadvantaged in workforce and are competing with prior cohorts who have completed at least 2 years of HEI studies. </a:t>
            </a:r>
            <a:r>
              <a:rPr lang="en" sz="900" b="1">
                <a:solidFill>
                  <a:srgbClr val="0A070D"/>
                </a:solidFill>
                <a:latin typeface="Poppins"/>
                <a:ea typeface="Poppins"/>
                <a:cs typeface="Poppins"/>
                <a:sym typeface="Poppins"/>
              </a:rPr>
              <a:t>The foundation can work with public or private placement agencies, or approach large corporate directly. </a:t>
            </a:r>
            <a:endParaRPr sz="900" b="1">
              <a:solidFill>
                <a:srgbClr val="0A070D"/>
              </a:solidFill>
              <a:latin typeface="Poppins"/>
              <a:ea typeface="Poppins"/>
              <a:cs typeface="Poppins"/>
              <a:sym typeface="Poppins"/>
            </a:endParaRPr>
          </a:p>
        </p:txBody>
      </p:sp>
      <p:sp>
        <p:nvSpPr>
          <p:cNvPr id="243" name="Google Shape;243;p24"/>
          <p:cNvSpPr txBox="1"/>
          <p:nvPr/>
        </p:nvSpPr>
        <p:spPr>
          <a:xfrm>
            <a:off x="1152038" y="9573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300">
                <a:solidFill>
                  <a:srgbClr val="0A070D"/>
                </a:solidFill>
                <a:latin typeface="Poppins SemiBold"/>
                <a:ea typeface="Poppins SemiBold"/>
                <a:cs typeface="Poppins SemiBold"/>
                <a:sym typeface="Poppins SemiBold"/>
              </a:rPr>
              <a:t>Group 1</a:t>
            </a:r>
            <a:endParaRPr sz="1300" b="0" i="0" u="none" strike="noStrike" cap="none">
              <a:solidFill>
                <a:srgbClr val="0A070D"/>
              </a:solidFill>
              <a:latin typeface="Poppins SemiBold"/>
              <a:ea typeface="Poppins SemiBold"/>
              <a:cs typeface="Poppins SemiBold"/>
              <a:sym typeface="Poppins SemiBold"/>
            </a:endParaRPr>
          </a:p>
        </p:txBody>
      </p:sp>
      <p:sp>
        <p:nvSpPr>
          <p:cNvPr id="244" name="Google Shape;244;p24"/>
          <p:cNvSpPr txBox="1"/>
          <p:nvPr/>
        </p:nvSpPr>
        <p:spPr>
          <a:xfrm>
            <a:off x="3825017" y="9573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300">
                <a:solidFill>
                  <a:srgbClr val="0A070D"/>
                </a:solidFill>
                <a:latin typeface="Poppins SemiBold"/>
                <a:ea typeface="Poppins SemiBold"/>
                <a:cs typeface="Poppins SemiBold"/>
                <a:sym typeface="Poppins SemiBold"/>
              </a:rPr>
              <a:t>Group 2</a:t>
            </a:r>
            <a:endParaRPr sz="1300" b="0" i="0" u="none" strike="noStrike" cap="none">
              <a:solidFill>
                <a:srgbClr val="0A070D"/>
              </a:solidFill>
              <a:latin typeface="Poppins SemiBold"/>
              <a:ea typeface="Poppins SemiBold"/>
              <a:cs typeface="Poppins SemiBold"/>
              <a:sym typeface="Poppins SemiBold"/>
            </a:endParaRPr>
          </a:p>
        </p:txBody>
      </p:sp>
      <p:sp>
        <p:nvSpPr>
          <p:cNvPr id="245" name="Google Shape;245;p24"/>
          <p:cNvSpPr txBox="1"/>
          <p:nvPr/>
        </p:nvSpPr>
        <p:spPr>
          <a:xfrm>
            <a:off x="6560991" y="957363"/>
            <a:ext cx="1265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1300">
                <a:solidFill>
                  <a:srgbClr val="0A070D"/>
                </a:solidFill>
                <a:latin typeface="Poppins SemiBold"/>
                <a:ea typeface="Poppins SemiBold"/>
                <a:cs typeface="Poppins SemiBold"/>
                <a:sym typeface="Poppins SemiBold"/>
              </a:rPr>
              <a:t>Group 3</a:t>
            </a:r>
            <a:endParaRPr sz="1300" b="0" i="0" u="none" strike="noStrike" cap="none">
              <a:solidFill>
                <a:srgbClr val="0A070D"/>
              </a:solidFill>
              <a:latin typeface="Poppins SemiBold"/>
              <a:ea typeface="Poppins SemiBold"/>
              <a:cs typeface="Poppins SemiBold"/>
              <a:sym typeface="Poppins SemiBold"/>
            </a:endParaRPr>
          </a:p>
        </p:txBody>
      </p:sp>
      <p:sp>
        <p:nvSpPr>
          <p:cNvPr id="246" name="Google Shape;246;p24"/>
          <p:cNvSpPr txBox="1"/>
          <p:nvPr/>
        </p:nvSpPr>
        <p:spPr>
          <a:xfrm>
            <a:off x="3318600" y="3197950"/>
            <a:ext cx="2348700" cy="118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900">
                <a:solidFill>
                  <a:srgbClr val="0A070D"/>
                </a:solidFill>
                <a:latin typeface="Poppins"/>
                <a:ea typeface="Poppins"/>
                <a:cs typeface="Poppins"/>
                <a:sym typeface="Poppins"/>
              </a:rPr>
              <a:t>HEI graduates like Carla are most likely to succeed in higher paying entry-level positioners. The foundation can focus on working with </a:t>
            </a:r>
            <a:r>
              <a:rPr lang="en" sz="900" b="1">
                <a:solidFill>
                  <a:srgbClr val="0A070D"/>
                </a:solidFill>
                <a:latin typeface="Poppins"/>
                <a:ea typeface="Poppins"/>
                <a:cs typeface="Poppins"/>
                <a:sym typeface="Poppins"/>
              </a:rPr>
              <a:t>Public HEIs where more grads studied disciplines with longer time to placement, and lower salary, and thus can improve their outcomes with the foundation’s courses. </a:t>
            </a:r>
            <a:endParaRPr sz="900" b="1">
              <a:solidFill>
                <a:srgbClr val="0A070D"/>
              </a:solidFill>
              <a:latin typeface="Poppins"/>
              <a:ea typeface="Poppins"/>
              <a:cs typeface="Poppins"/>
              <a:sym typeface="Poppins"/>
            </a:endParaRPr>
          </a:p>
        </p:txBody>
      </p:sp>
      <p:sp>
        <p:nvSpPr>
          <p:cNvPr id="247" name="Google Shape;247;p24"/>
          <p:cNvSpPr txBox="1"/>
          <p:nvPr/>
        </p:nvSpPr>
        <p:spPr>
          <a:xfrm>
            <a:off x="6063600" y="3253175"/>
            <a:ext cx="2409000" cy="118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900">
                <a:solidFill>
                  <a:srgbClr val="0A070D"/>
                </a:solidFill>
                <a:latin typeface="Poppins"/>
                <a:ea typeface="Poppins"/>
                <a:cs typeface="Poppins"/>
                <a:sym typeface="Poppins"/>
              </a:rPr>
              <a:t>Alex will likely try to secure a BPO job where current hiring practices accept his dropout status. </a:t>
            </a:r>
            <a:r>
              <a:rPr lang="en" sz="900" b="1">
                <a:solidFill>
                  <a:srgbClr val="0A070D"/>
                </a:solidFill>
                <a:latin typeface="Poppins"/>
                <a:ea typeface="Poppins"/>
                <a:cs typeface="Poppins"/>
                <a:sym typeface="Poppins"/>
              </a:rPr>
              <a:t>The foundation can work with BPO industry association and companies directly to facilitate the transition.</a:t>
            </a:r>
            <a:r>
              <a:rPr lang="en" sz="900">
                <a:solidFill>
                  <a:srgbClr val="0A070D"/>
                </a:solidFill>
                <a:latin typeface="Poppins"/>
                <a:ea typeface="Poppins"/>
                <a:cs typeface="Poppins"/>
                <a:sym typeface="Poppins"/>
              </a:rPr>
              <a:t> Schools may not be the right partner for those like Alex who leave the system.</a:t>
            </a:r>
            <a:endParaRPr sz="900">
              <a:solidFill>
                <a:srgbClr val="0A070D"/>
              </a:solidFill>
              <a:latin typeface="Poppins"/>
              <a:ea typeface="Poppins"/>
              <a:cs typeface="Poppins"/>
              <a:sym typeface="Poppins"/>
            </a:endParaRPr>
          </a:p>
        </p:txBody>
      </p:sp>
      <p:sp>
        <p:nvSpPr>
          <p:cNvPr id="248" name="Google Shape;248;p24"/>
          <p:cNvSpPr txBox="1"/>
          <p:nvPr/>
        </p:nvSpPr>
        <p:spPr>
          <a:xfrm>
            <a:off x="416100" y="4765525"/>
            <a:ext cx="77862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Please note that 70 out of the 1000 youths are pursuing entrepreneurship or are considered NEETs. NEETs are out of school youth not in education, employment or training.</a:t>
            </a:r>
            <a:endParaRPr sz="700">
              <a:solidFill>
                <a:schemeClr val="dk2"/>
              </a:solidFill>
            </a:endParaRPr>
          </a:p>
        </p:txBody>
      </p:sp>
      <p:sp>
        <p:nvSpPr>
          <p:cNvPr id="249" name="Google Shape;249;p24"/>
          <p:cNvSpPr/>
          <p:nvPr/>
        </p:nvSpPr>
        <p:spPr>
          <a:xfrm>
            <a:off x="3974543" y="2925075"/>
            <a:ext cx="513900" cy="231900"/>
          </a:xfrm>
          <a:prstGeom prst="roundRect">
            <a:avLst>
              <a:gd name="adj" fmla="val 16667"/>
            </a:avLst>
          </a:prstGeom>
          <a:solidFill>
            <a:srgbClr val="224B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Poppins Medium"/>
                <a:ea typeface="Poppins Medium"/>
                <a:cs typeface="Poppins Medium"/>
                <a:sym typeface="Poppins Medium"/>
              </a:rPr>
              <a:t>K-12</a:t>
            </a:r>
            <a:endParaRPr sz="900">
              <a:solidFill>
                <a:schemeClr val="lt1"/>
              </a:solidFill>
              <a:latin typeface="Poppins Medium"/>
              <a:ea typeface="Poppins Medium"/>
              <a:cs typeface="Poppins Medium"/>
              <a:sym typeface="Poppins Medium"/>
            </a:endParaRPr>
          </a:p>
        </p:txBody>
      </p:sp>
      <p:sp>
        <p:nvSpPr>
          <p:cNvPr id="250" name="Google Shape;250;p24"/>
          <p:cNvSpPr/>
          <p:nvPr/>
        </p:nvSpPr>
        <p:spPr>
          <a:xfrm>
            <a:off x="7223399" y="2925075"/>
            <a:ext cx="386700" cy="231900"/>
          </a:xfrm>
          <a:prstGeom prst="roundRect">
            <a:avLst>
              <a:gd name="adj" fmla="val 16667"/>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Poppins Medium"/>
                <a:ea typeface="Poppins Medium"/>
                <a:cs typeface="Poppins Medium"/>
                <a:sym typeface="Poppins Medium"/>
              </a:rPr>
              <a:t>HEI</a:t>
            </a:r>
            <a:endParaRPr sz="900">
              <a:solidFill>
                <a:schemeClr val="dk1"/>
              </a:solidFill>
              <a:latin typeface="Poppins Medium"/>
              <a:ea typeface="Poppins Medium"/>
              <a:cs typeface="Poppins Medium"/>
              <a:sym typeface="Poppins Medium"/>
            </a:endParaRPr>
          </a:p>
        </p:txBody>
      </p:sp>
      <p:sp>
        <p:nvSpPr>
          <p:cNvPr id="251" name="Google Shape;251;p24"/>
          <p:cNvSpPr/>
          <p:nvPr/>
        </p:nvSpPr>
        <p:spPr>
          <a:xfrm>
            <a:off x="6644043" y="2925075"/>
            <a:ext cx="513900" cy="231900"/>
          </a:xfrm>
          <a:prstGeom prst="roundRect">
            <a:avLst>
              <a:gd name="adj" fmla="val 16667"/>
            </a:avLst>
          </a:prstGeom>
          <a:solidFill>
            <a:srgbClr val="224B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lt1"/>
                </a:solidFill>
                <a:latin typeface="Poppins Medium"/>
                <a:ea typeface="Poppins Medium"/>
                <a:cs typeface="Poppins Medium"/>
                <a:sym typeface="Poppins Medium"/>
              </a:rPr>
              <a:t>K-12</a:t>
            </a:r>
            <a:endParaRPr sz="900">
              <a:solidFill>
                <a:schemeClr val="lt1"/>
              </a:solidFill>
              <a:latin typeface="Poppins Medium"/>
              <a:ea typeface="Poppins Medium"/>
              <a:cs typeface="Poppins Medium"/>
              <a:sym typeface="Poppins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pic>
        <p:nvPicPr>
          <p:cNvPr id="257" name="Google Shape;257;p25"/>
          <p:cNvPicPr preferRelativeResize="0"/>
          <p:nvPr/>
        </p:nvPicPr>
        <p:blipFill rotWithShape="1">
          <a:blip r:embed="rId3">
            <a:alphaModFix/>
          </a:blip>
          <a:srcRect b="4223"/>
          <a:stretch/>
        </p:blipFill>
        <p:spPr>
          <a:xfrm>
            <a:off x="667525" y="1355013"/>
            <a:ext cx="3158901" cy="3025524"/>
          </a:xfrm>
          <a:prstGeom prst="rect">
            <a:avLst/>
          </a:prstGeom>
          <a:noFill/>
          <a:ln>
            <a:noFill/>
          </a:ln>
        </p:spPr>
      </p:pic>
      <p:sp>
        <p:nvSpPr>
          <p:cNvPr id="258" name="Google Shape;258;p25"/>
          <p:cNvSpPr txBox="1"/>
          <p:nvPr/>
        </p:nvSpPr>
        <p:spPr>
          <a:xfrm>
            <a:off x="4572001" y="1411700"/>
            <a:ext cx="4126726" cy="28497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 sz="1000" b="1" dirty="0">
                <a:solidFill>
                  <a:srgbClr val="0A070D"/>
                </a:solidFill>
                <a:latin typeface="Poppins"/>
                <a:ea typeface="Poppins"/>
                <a:cs typeface="Poppins"/>
                <a:sym typeface="Poppins"/>
              </a:rPr>
              <a:t>Additionality of impact can be achieved where no one else is serving those learners left behind</a:t>
            </a:r>
            <a:endParaRPr sz="1000" b="1"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r>
              <a:rPr lang="en" sz="1000" dirty="0">
                <a:solidFill>
                  <a:srgbClr val="0A070D"/>
                </a:solidFill>
                <a:latin typeface="Poppins"/>
                <a:ea typeface="Poppins"/>
                <a:cs typeface="Poppins"/>
                <a:sym typeface="Poppins"/>
              </a:rPr>
              <a:t>The foundation currently work almost exclusively with learners like Carla, who only represents ~20% of the 1,000 learners who are the most prepared to enter the workforce. </a:t>
            </a:r>
            <a:r>
              <a:rPr lang="en" sz="1000" i="1" dirty="0">
                <a:solidFill>
                  <a:schemeClr val="tx1"/>
                </a:solidFill>
                <a:latin typeface="Poppins"/>
                <a:ea typeface="Poppins"/>
                <a:cs typeface="Poppins"/>
                <a:sym typeface="Poppins"/>
              </a:rPr>
              <a:t>Additional analysis will provide the exact split.</a:t>
            </a:r>
            <a:endParaRPr sz="1000" i="1" dirty="0">
              <a:solidFill>
                <a:schemeClr val="tx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r>
              <a:rPr lang="en" sz="1000" dirty="0">
                <a:solidFill>
                  <a:srgbClr val="0A070D"/>
                </a:solidFill>
                <a:latin typeface="Poppins"/>
                <a:ea typeface="Poppins"/>
                <a:cs typeface="Poppins"/>
                <a:sym typeface="Poppins"/>
              </a:rPr>
              <a:t>To match our GTM direction to maximize the impact of the foundation and achieve its 1 million Filipinos upskilled by 2030 goal: </a:t>
            </a:r>
            <a:endParaRPr sz="1000" dirty="0">
              <a:solidFill>
                <a:srgbClr val="0A070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600"/>
              <a:buFont typeface="Arial"/>
              <a:buNone/>
            </a:pPr>
            <a:endParaRPr sz="1000"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b="1" dirty="0">
                <a:solidFill>
                  <a:srgbClr val="0A070D"/>
                </a:solidFill>
                <a:latin typeface="Poppins"/>
                <a:ea typeface="Poppins"/>
                <a:cs typeface="Poppins"/>
                <a:sym typeface="Poppins"/>
              </a:rPr>
              <a:t>Focus more on those who are not HEI graduates</a:t>
            </a:r>
            <a:endParaRPr sz="1000" b="1"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US" sz="1000" b="1" dirty="0">
                <a:solidFill>
                  <a:srgbClr val="0A070D"/>
                </a:solidFill>
                <a:latin typeface="Poppins"/>
                <a:ea typeface="Poppins"/>
                <a:cs typeface="Poppins"/>
                <a:sym typeface="Poppins"/>
              </a:rPr>
              <a:t>Target job roles with tight supply-demand ratios</a:t>
            </a:r>
            <a:endParaRPr sz="1000" b="1" dirty="0">
              <a:solidFill>
                <a:srgbClr val="0A070D"/>
              </a:solidFill>
              <a:latin typeface="Poppins"/>
              <a:ea typeface="Poppins"/>
              <a:cs typeface="Poppins"/>
              <a:sym typeface="Poppins"/>
            </a:endParaRPr>
          </a:p>
          <a:p>
            <a:pPr marL="457200" marR="0" lvl="0" indent="-292100" algn="l" rtl="0">
              <a:lnSpc>
                <a:spcPct val="100000"/>
              </a:lnSpc>
              <a:spcBef>
                <a:spcPts val="0"/>
              </a:spcBef>
              <a:spcAft>
                <a:spcPts val="0"/>
              </a:spcAft>
              <a:buClr>
                <a:srgbClr val="0A070D"/>
              </a:buClr>
              <a:buSzPts val="1000"/>
              <a:buFont typeface="Poppins"/>
              <a:buChar char="-"/>
            </a:pPr>
            <a:r>
              <a:rPr lang="en" sz="1000" dirty="0">
                <a:solidFill>
                  <a:srgbClr val="0A070D"/>
                </a:solidFill>
                <a:latin typeface="Poppins"/>
                <a:ea typeface="Poppins"/>
                <a:cs typeface="Poppins"/>
                <a:sym typeface="Poppins"/>
              </a:rPr>
              <a:t>Additional benchmark data on existing placement rates, average salary and time to place for University Leavers</a:t>
            </a:r>
            <a:endParaRPr sz="1000" dirty="0">
              <a:solidFill>
                <a:srgbClr val="0A070D"/>
              </a:solidFill>
              <a:latin typeface="Poppins"/>
              <a:ea typeface="Poppins"/>
              <a:cs typeface="Poppins"/>
              <a:sym typeface="Poppins"/>
            </a:endParaRPr>
          </a:p>
        </p:txBody>
      </p:sp>
      <p:sp>
        <p:nvSpPr>
          <p:cNvPr id="259" name="Google Shape;259;p25"/>
          <p:cNvSpPr txBox="1"/>
          <p:nvPr/>
        </p:nvSpPr>
        <p:spPr>
          <a:xfrm>
            <a:off x="308703" y="416053"/>
            <a:ext cx="80010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200" dirty="0">
                <a:solidFill>
                  <a:srgbClr val="0A070D"/>
                </a:solidFill>
                <a:latin typeface="Poppins SemiBold"/>
                <a:ea typeface="Poppins SemiBold"/>
                <a:cs typeface="Poppins SemiBold"/>
                <a:sym typeface="Poppins SemiBold"/>
              </a:rPr>
              <a:t>Maximize Impact Potential with Targeted Partnerships</a:t>
            </a:r>
            <a:endParaRPr sz="2200" b="0" i="0" u="none" strike="noStrike" cap="none" dirty="0">
              <a:solidFill>
                <a:srgbClr val="0A070D"/>
              </a:solidFill>
              <a:latin typeface="Poppins SemiBold"/>
              <a:ea typeface="Poppins SemiBold"/>
              <a:cs typeface="Poppins SemiBold"/>
              <a:sym typeface="Poppins SemiBold"/>
            </a:endParaRPr>
          </a:p>
        </p:txBody>
      </p:sp>
      <p:sp>
        <p:nvSpPr>
          <p:cNvPr id="260" name="Google Shape;260;p25"/>
          <p:cNvSpPr txBox="1"/>
          <p:nvPr/>
        </p:nvSpPr>
        <p:spPr>
          <a:xfrm>
            <a:off x="416100" y="4439300"/>
            <a:ext cx="7786200" cy="4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0A070D"/>
                </a:solidFill>
                <a:latin typeface="Poppins"/>
                <a:ea typeface="Poppins"/>
                <a:cs typeface="Poppins"/>
                <a:sym typeface="Poppins"/>
              </a:rPr>
              <a:t>Source: 2023 Department of Education's Basic Education Report from its 2019 and 2020 National Senior High School Tracer Study; HEI Completion rate PBEd State of Philippine Education Report 2023. SHS Graduates from PSA: 2023 Stats Yearbook.  https://www.psa.gov.ph/system/files/psy/2023-Philippine-Statistical-Yearbook.pdf.</a:t>
            </a:r>
            <a:endParaRPr sz="700">
              <a:solidFill>
                <a:srgbClr val="0A070D"/>
              </a:solidFill>
              <a:latin typeface="Poppins"/>
              <a:ea typeface="Poppins"/>
              <a:cs typeface="Poppins"/>
              <a:sym typeface="Poppins"/>
            </a:endParaRPr>
          </a:p>
          <a:p>
            <a:pPr marL="0" lvl="0" indent="0" algn="l" rtl="0">
              <a:spcBef>
                <a:spcPts val="0"/>
              </a:spcBef>
              <a:spcAft>
                <a:spcPts val="0"/>
              </a:spcAft>
              <a:buNone/>
            </a:pPr>
            <a:r>
              <a:rPr lang="en" sz="700">
                <a:solidFill>
                  <a:srgbClr val="0A070D"/>
                </a:solidFill>
                <a:latin typeface="Poppins"/>
                <a:ea typeface="Poppins"/>
                <a:cs typeface="Poppins"/>
                <a:sym typeface="Poppins"/>
              </a:rPr>
              <a:t>Those who entered entrepreneurship or are NEETs are not considered in this analysis.</a:t>
            </a:r>
            <a:endParaRPr sz="700">
              <a:solidFill>
                <a:srgbClr val="0A070D"/>
              </a:solidFill>
              <a:latin typeface="Poppins"/>
              <a:ea typeface="Poppins"/>
              <a:cs typeface="Poppins"/>
              <a:sym typeface="Poppins"/>
            </a:endParaRPr>
          </a:p>
        </p:txBody>
      </p:sp>
      <p:sp>
        <p:nvSpPr>
          <p:cNvPr id="261" name="Google Shape;261;p25"/>
          <p:cNvSpPr txBox="1"/>
          <p:nvPr/>
        </p:nvSpPr>
        <p:spPr>
          <a:xfrm>
            <a:off x="386225" y="1120400"/>
            <a:ext cx="4457700" cy="2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A070D"/>
                </a:solidFill>
                <a:latin typeface="Poppins"/>
                <a:ea typeface="Poppins"/>
                <a:cs typeface="Poppins"/>
                <a:sym typeface="Poppins"/>
              </a:rPr>
              <a:t>Illustrative School-to-Work Journey of 1,000 youths</a:t>
            </a:r>
            <a:endParaRPr sz="1100">
              <a:solidFill>
                <a:schemeClr val="dk2"/>
              </a:solidFill>
            </a:endParaRPr>
          </a:p>
        </p:txBody>
      </p:sp>
      <p:pic>
        <p:nvPicPr>
          <p:cNvPr id="262" name="Google Shape;262;p25"/>
          <p:cNvPicPr preferRelativeResize="0"/>
          <p:nvPr/>
        </p:nvPicPr>
        <p:blipFill>
          <a:blip r:embed="rId4">
            <a:alphaModFix/>
          </a:blip>
          <a:stretch>
            <a:fillRect/>
          </a:stretch>
        </p:blipFill>
        <p:spPr>
          <a:xfrm>
            <a:off x="2402075" y="1411700"/>
            <a:ext cx="426000" cy="426000"/>
          </a:xfrm>
          <a:prstGeom prst="ellipse">
            <a:avLst/>
          </a:prstGeom>
          <a:noFill/>
          <a:ln>
            <a:noFill/>
          </a:ln>
        </p:spPr>
      </p:pic>
      <p:pic>
        <p:nvPicPr>
          <p:cNvPr id="263" name="Google Shape;263;p25"/>
          <p:cNvPicPr preferRelativeResize="0"/>
          <p:nvPr/>
        </p:nvPicPr>
        <p:blipFill>
          <a:blip r:embed="rId5">
            <a:alphaModFix/>
          </a:blip>
          <a:stretch>
            <a:fillRect/>
          </a:stretch>
        </p:blipFill>
        <p:spPr>
          <a:xfrm>
            <a:off x="3772125" y="2792950"/>
            <a:ext cx="426000" cy="426000"/>
          </a:xfrm>
          <a:prstGeom prst="ellipse">
            <a:avLst/>
          </a:prstGeom>
          <a:noFill/>
          <a:ln>
            <a:noFill/>
          </a:ln>
        </p:spPr>
      </p:pic>
      <p:pic>
        <p:nvPicPr>
          <p:cNvPr id="264" name="Google Shape;264;p25"/>
          <p:cNvPicPr preferRelativeResize="0"/>
          <p:nvPr/>
        </p:nvPicPr>
        <p:blipFill>
          <a:blip r:embed="rId6">
            <a:alphaModFix/>
          </a:blip>
          <a:stretch>
            <a:fillRect/>
          </a:stretch>
        </p:blipFill>
        <p:spPr>
          <a:xfrm>
            <a:off x="3804525" y="1777800"/>
            <a:ext cx="393600" cy="393600"/>
          </a:xfrm>
          <a:prstGeom prst="ellipse">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3038</TotalTime>
  <Words>3204</Words>
  <Application>Microsoft Macintosh PowerPoint</Application>
  <PresentationFormat>On-screen Show (16:9)</PresentationFormat>
  <Paragraphs>208</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Poppins Medium</vt:lpstr>
      <vt:lpstr>Poppins</vt:lpstr>
      <vt:lpstr>Poppins SemiBold</vt:lpstr>
      <vt:lpstr>Simple Light</vt:lpstr>
      <vt:lpstr>School-to-Work Transitions in the Philippines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School-to-Work Transitions in the Philippines</dc:title>
  <cp:lastModifiedBy>John Francis Y. Viray</cp:lastModifiedBy>
  <cp:revision>7</cp:revision>
  <dcterms:modified xsi:type="dcterms:W3CDTF">2026-02-26T22:28:40Z</dcterms:modified>
</cp:coreProperties>
</file>