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101_4AF0F1E5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9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54F86AE-C401-A553-B85B-F4E9BA5CE323}" name="Chen-Delantar, Angela" initials="CDA" userId="S::angelachen@gse.harvard.edu::c11b12a4-8a97-4118-8e0a-4b83c99870b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8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2" autoAdjust="0"/>
    <p:restoredTop sz="94641" autoAdjust="0"/>
  </p:normalViewPr>
  <p:slideViewPr>
    <p:cSldViewPr snapToGrid="0">
      <p:cViewPr>
        <p:scale>
          <a:sx n="100" d="100"/>
          <a:sy n="100" d="100"/>
        </p:scale>
        <p:origin x="58" y="-8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omments/modernComment_101_4AF0F1E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36AD0B4-717F-B44F-A2C2-59C0662C0671}" authorId="{454F86AE-C401-A553-B85B-F4E9BA5CE323}" created="2025-10-08T09:16:30.69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257304549" sldId="257"/>
      <ac:picMk id="5" creationId="{3D7A3EAD-B27A-1318-7DFF-20B4FF2D18E9}"/>
    </ac:deMkLst>
    <p188:replyLst>
      <p188:reply id="{3818B67F-9FFE-364A-9428-C55B10EDE573}" authorId="{454F86AE-C401-A553-B85B-F4E9BA5CE323}" created="2025-10-08T09:18:42.276">
        <p188:txBody>
          <a:bodyPr/>
          <a:lstStyle/>
          <a:p>
            <a:r>
              <a:rPr lang="en-US"/>
              <a:t>GDP per Capita unit, change from PHP to USD: scale it down 55:1; update the y-axis
secondary axis - the label is wrong, says unemployment rate</a:t>
            </a:r>
          </a:p>
        </p188:txBody>
      </p188:reply>
    </p188:replyLst>
    <p188:txBody>
      <a:bodyPr/>
      <a:lstStyle/>
      <a:p>
        <a:r>
          <a:rPr lang="en-US"/>
          <a:t>Replace "CAGR Values" with "Historical YoY Growth"</a:t>
        </a:r>
      </a:p>
    </p188:txBody>
  </p188:cm>
  <p188:cm id="{65192A30-B912-8744-9E2D-B43A0CD003E8}" authorId="{454F86AE-C401-A553-B85B-F4E9BA5CE323}" created="2025-10-08T09:31:37.24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257304549" sldId="257"/>
      <ac:picMk id="105" creationId="{F0CA5597-D686-7EC3-507C-360C7EFBACD7}"/>
    </ac:deMkLst>
    <p188:txBody>
      <a:bodyPr/>
      <a:lstStyle/>
      <a:p>
        <a:r>
          <a:rPr lang="en-US"/>
          <a:t>Combine 2 and 3 into 1 category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229328-7DF1-4EB4-A3FD-168FF58EED64}" type="datetimeFigureOut">
              <a:rPr lang="en-PH" smtClean="0"/>
              <a:t>10/10/2025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9A6D8B-F098-4F26-82B7-C86E7E169D59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63172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C9264-B444-F6E6-B8C8-C104C5981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AC05D5-1BEA-40A7-0749-0C7BE53C9E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857D74-6011-B4EC-3655-FF8F13C626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4F3B9A-FB98-4A7C-6EF4-E339977DE7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F6092F-8A27-EF41-AC2C-B49022051DA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7603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F6092F-8A27-EF41-AC2C-B49022051DA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4919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CF4DD-C6A1-1901-1BDD-E16CD727A3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E0D3D2-C4BA-C918-E50B-3819BF0E81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3A61CA-AA39-B702-4303-307417372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E6A74-CE58-4FD4-851A-C163BB4E31F5}" type="datetimeFigureOut">
              <a:rPr lang="en-PH" smtClean="0"/>
              <a:t>10/10/2025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987FF9-86D4-DD35-C301-228BF7AF8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CA7B4-BC53-FF23-1DAF-7E44F8AFE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ECB61-0FDB-4BED-BBC5-3AA6EDCBDCC8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53733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D12DA-F5B8-4F0A-A91A-8FDB3A01B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E5F0CF-48E4-4B30-5DAA-A2E72B09CA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9BBA4B-AF62-D9B7-5378-843C32ADF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E6A74-CE58-4FD4-851A-C163BB4E31F5}" type="datetimeFigureOut">
              <a:rPr lang="en-PH" smtClean="0"/>
              <a:t>10/10/2025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868AE0-EF2D-95DC-D770-D4C35E54D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B0018A-C299-0557-E786-1686FB4C9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ECB61-0FDB-4BED-BBC5-3AA6EDCBDCC8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12660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97C80-C8A7-270D-A1BB-FEBBB3B51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A4825A-73C0-B3FA-09AB-84C6FD3F13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827182-55FE-9D90-B262-52FEF00D9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E6A74-CE58-4FD4-851A-C163BB4E31F5}" type="datetimeFigureOut">
              <a:rPr lang="en-PH" smtClean="0"/>
              <a:t>10/10/2025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72AC5-F9F1-F0A2-49E9-D01AFF692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0DD836-C237-48C2-69AE-77B2699D8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ECB61-0FDB-4BED-BBC5-3AA6EDCBDCC8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60061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34748-0183-19F6-3F5A-5A88F065F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611C54-F549-DB81-B544-7593B39582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AB2AE4-DDF8-FA9B-9DF4-82C4221196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C1D366-E564-3FFB-73F4-B35B8497B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E6A74-CE58-4FD4-851A-C163BB4E31F5}" type="datetimeFigureOut">
              <a:rPr lang="en-PH" smtClean="0"/>
              <a:t>10/10/2025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F3EB9E-3A90-A5A4-FF54-0C744563B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894869-2A9B-756D-113C-CB08794DB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ECB61-0FDB-4BED-BBC5-3AA6EDCBDCC8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80359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FB315-1AE6-FB01-A444-E9B44A62C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73C691-7AAE-CC75-6080-6F43A14B76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FE8E2A-C2DC-2FA9-D2F1-89D7069F60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5601EA-77D3-4EF0-14BD-1CA277B16B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95EE30-E84D-7F1E-BA8D-C641C9E3D6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5FBFCA-50DE-07FC-3BB0-22955DFD4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E6A74-CE58-4FD4-851A-C163BB4E31F5}" type="datetimeFigureOut">
              <a:rPr lang="en-PH" smtClean="0"/>
              <a:t>10/10/2025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1B6C88-4215-4B00-256C-FE249E792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497F56-7DEF-F284-EBEF-9F875EF78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ECB61-0FDB-4BED-BBC5-3AA6EDCBDCC8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90066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86F19-F53E-8DB2-F446-C58010775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4AB45F-7800-0A13-69A9-D6D03CC79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E6A74-CE58-4FD4-851A-C163BB4E31F5}" type="datetimeFigureOut">
              <a:rPr lang="en-PH" smtClean="0"/>
              <a:t>10/10/2025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FC6264-702E-1720-5659-F46C3023A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9115C8-D9FA-8AA9-8818-023096A7E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ECB61-0FDB-4BED-BBC5-3AA6EDCBDCC8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1582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0E195F-D8D2-13E8-14DA-366E661E8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E6A74-CE58-4FD4-851A-C163BB4E31F5}" type="datetimeFigureOut">
              <a:rPr lang="en-PH" smtClean="0"/>
              <a:t>10/10/2025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3852B8-9ADE-7825-516D-16D84029B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0927F0-C5E7-F6A4-D322-81E1E8D4B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ECB61-0FDB-4BED-BBC5-3AA6EDCBDCC8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3648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091C2-CDF8-3C0A-BE50-3CB1E3739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57AD1-E522-CD27-B301-1F356EDA3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8C0B61-1DB4-A85B-6CD1-773990FEC9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903FAC-7149-99D9-E845-62052651F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E6A74-CE58-4FD4-851A-C163BB4E31F5}" type="datetimeFigureOut">
              <a:rPr lang="en-PH" smtClean="0"/>
              <a:t>10/10/2025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47943F-7D2F-ABA1-38AC-AF16D4A45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15A3AE-AA98-063F-6866-3F91C526C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ECB61-0FDB-4BED-BBC5-3AA6EDCBDCC8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72070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4E223-7D79-5580-62D0-761F94FAE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522312-A4DD-D25B-C338-B56CEB6B63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F4C539-1181-2DDB-70EA-612EBBC3DE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AE63AF-BF36-78F6-7AE1-960870641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E6A74-CE58-4FD4-851A-C163BB4E31F5}" type="datetimeFigureOut">
              <a:rPr lang="en-PH" smtClean="0"/>
              <a:t>10/10/2025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B8559E-1C04-F7E0-E5D6-1BD0C5D95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54405D-12EB-5AC0-B2A7-8F10421DC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ECB61-0FDB-4BED-BBC5-3AA6EDCBDCC8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6764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66951-8A4D-C88D-77B2-74AA3D829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20F61D-C6AB-22B3-B00E-1A04A23C9A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2DCD32-31DF-64ED-035E-218F9419C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E6A74-CE58-4FD4-851A-C163BB4E31F5}" type="datetimeFigureOut">
              <a:rPr lang="en-PH" smtClean="0"/>
              <a:t>10/10/2025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117EAA-D6C9-A4BC-9E66-A436B90DD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28DB3D-F8C3-FCED-57AD-86AEFA273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ECB61-0FDB-4BED-BBC5-3AA6EDCBDCC8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10236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302D66-EBF0-E109-0184-6CAF2EEB98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54F4DD-6FEA-99CA-FAF5-62C9C4F74F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BD9EE-6781-67A9-A86A-5AA216E12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E6A74-CE58-4FD4-851A-C163BB4E31F5}" type="datetimeFigureOut">
              <a:rPr lang="en-PH" smtClean="0"/>
              <a:t>10/10/2025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FA8CB1-947B-F10E-41D1-E5AEB6852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D7D888-C662-2762-3406-E9229AD64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ECB61-0FDB-4BED-BBC5-3AA6EDCBDCC8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03244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512046-4AC1-31A1-3D75-25FEA6A91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87A67A-0E63-CA35-4572-9C8C60B9F6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E28D28-0250-5DA0-9ABB-1D6E15EAB1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DE6A74-CE58-4FD4-851A-C163BB4E31F5}" type="datetimeFigureOut">
              <a:rPr lang="en-PH" smtClean="0"/>
              <a:t>10/10/2025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598AA0-B967-0C95-DA24-60F9583104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C99B1-DDB4-3220-D6F3-3B571FC53B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3ECB61-0FDB-4BED-BBC5-3AA6EDCBDCC8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39262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1_4AF0F1E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E0BAC-EA0F-270A-213D-30BE6FC64C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PH" dirty="0"/>
              <a:t>NCR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CFA31B-0802-75FD-3353-BC761C7B4A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PH" dirty="0"/>
              <a:t>Raymond Martin Z. Castro</a:t>
            </a:r>
          </a:p>
        </p:txBody>
      </p:sp>
    </p:spTree>
    <p:extLst>
      <p:ext uri="{BB962C8B-B14F-4D97-AF65-F5344CB8AC3E}">
        <p14:creationId xmlns:p14="http://schemas.microsoft.com/office/powerpoint/2010/main" val="936429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B5339-4898-E4BC-FF70-ACEB9DC82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ectangle 113">
            <a:extLst>
              <a:ext uri="{FF2B5EF4-FFF2-40B4-BE49-F238E27FC236}">
                <a16:creationId xmlns:a16="http://schemas.microsoft.com/office/drawing/2014/main" id="{E97C7780-087B-B447-D848-F93E9510F65B}"/>
              </a:ext>
            </a:extLst>
          </p:cNvPr>
          <p:cNvSpPr/>
          <p:nvPr/>
        </p:nvSpPr>
        <p:spPr>
          <a:xfrm>
            <a:off x="5897480" y="4562882"/>
            <a:ext cx="5901228" cy="170595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9381F0-B8B3-DDED-B061-B932208CB3C2}"/>
              </a:ext>
            </a:extLst>
          </p:cNvPr>
          <p:cNvSpPr txBox="1"/>
          <p:nvPr/>
        </p:nvSpPr>
        <p:spPr>
          <a:xfrm>
            <a:off x="432486" y="296562"/>
            <a:ext cx="112940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Region XX – one line summary about the potential of this region</a:t>
            </a:r>
          </a:p>
        </p:txBody>
      </p:sp>
      <p:cxnSp>
        <p:nvCxnSpPr>
          <p:cNvPr id="10" name="Google Shape;56;p13">
            <a:extLst>
              <a:ext uri="{FF2B5EF4-FFF2-40B4-BE49-F238E27FC236}">
                <a16:creationId xmlns:a16="http://schemas.microsoft.com/office/drawing/2014/main" id="{14A641EC-141E-8BAF-649C-A565C7DB8053}"/>
              </a:ext>
            </a:extLst>
          </p:cNvPr>
          <p:cNvCxnSpPr>
            <a:cxnSpLocks/>
          </p:cNvCxnSpPr>
          <p:nvPr/>
        </p:nvCxnSpPr>
        <p:spPr>
          <a:xfrm>
            <a:off x="5990069" y="1219031"/>
            <a:ext cx="4207800" cy="0"/>
          </a:xfrm>
          <a:prstGeom prst="straightConnector1">
            <a:avLst/>
          </a:prstGeom>
          <a:noFill/>
          <a:ln w="21675" cap="flat" cmpd="sng">
            <a:solidFill>
              <a:srgbClr val="60111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" name="Google Shape;59;p13">
            <a:extLst>
              <a:ext uri="{FF2B5EF4-FFF2-40B4-BE49-F238E27FC236}">
                <a16:creationId xmlns:a16="http://schemas.microsoft.com/office/drawing/2014/main" id="{7BFC9E64-2783-E160-44DC-EE3BC92118D2}"/>
              </a:ext>
            </a:extLst>
          </p:cNvPr>
          <p:cNvSpPr/>
          <p:nvPr/>
        </p:nvSpPr>
        <p:spPr>
          <a:xfrm>
            <a:off x="5990069" y="1429585"/>
            <a:ext cx="2339052" cy="25263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530" dist="28897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69350" tIns="34650" rIns="69350" bIns="346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60;p13">
            <a:extLst>
              <a:ext uri="{FF2B5EF4-FFF2-40B4-BE49-F238E27FC236}">
                <a16:creationId xmlns:a16="http://schemas.microsoft.com/office/drawing/2014/main" id="{2CCF8FF1-4B02-9DF2-A8D6-100C05DACA26}"/>
              </a:ext>
            </a:extLst>
          </p:cNvPr>
          <p:cNvSpPr txBox="1"/>
          <p:nvPr/>
        </p:nvSpPr>
        <p:spPr>
          <a:xfrm>
            <a:off x="6239134" y="1416839"/>
            <a:ext cx="1885228" cy="285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350" tIns="34650" rIns="69350" bIns="3465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dirty="0"/>
              <a:t>SUPPLY</a:t>
            </a:r>
            <a:endParaRPr sz="14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66;p13">
            <a:extLst>
              <a:ext uri="{FF2B5EF4-FFF2-40B4-BE49-F238E27FC236}">
                <a16:creationId xmlns:a16="http://schemas.microsoft.com/office/drawing/2014/main" id="{9CFDF4C0-7D83-DCB5-F92E-0C020F5F9818}"/>
              </a:ext>
            </a:extLst>
          </p:cNvPr>
          <p:cNvSpPr/>
          <p:nvPr/>
        </p:nvSpPr>
        <p:spPr>
          <a:xfrm>
            <a:off x="6496140" y="1415371"/>
            <a:ext cx="245550" cy="230244"/>
          </a:xfrm>
          <a:custGeom>
            <a:avLst/>
            <a:gdLst/>
            <a:ahLst/>
            <a:cxnLst/>
            <a:rect l="l" t="t" r="r" b="b"/>
            <a:pathLst>
              <a:path w="11504" h="11504" extrusionOk="0">
                <a:moveTo>
                  <a:pt x="1" y="1"/>
                </a:moveTo>
                <a:lnTo>
                  <a:pt x="1" y="11503"/>
                </a:lnTo>
                <a:lnTo>
                  <a:pt x="11503" y="11503"/>
                </a:lnTo>
                <a:lnTo>
                  <a:pt x="11503" y="10241"/>
                </a:lnTo>
                <a:lnTo>
                  <a:pt x="10908" y="10241"/>
                </a:lnTo>
                <a:lnTo>
                  <a:pt x="10908" y="10789"/>
                </a:lnTo>
                <a:lnTo>
                  <a:pt x="10146" y="10789"/>
                </a:lnTo>
                <a:lnTo>
                  <a:pt x="10146" y="5026"/>
                </a:lnTo>
                <a:lnTo>
                  <a:pt x="8288" y="6383"/>
                </a:lnTo>
                <a:lnTo>
                  <a:pt x="7312" y="5931"/>
                </a:lnTo>
                <a:lnTo>
                  <a:pt x="5883" y="7574"/>
                </a:lnTo>
                <a:lnTo>
                  <a:pt x="4740" y="7002"/>
                </a:lnTo>
                <a:lnTo>
                  <a:pt x="3192" y="8907"/>
                </a:lnTo>
                <a:lnTo>
                  <a:pt x="2168" y="8526"/>
                </a:lnTo>
                <a:lnTo>
                  <a:pt x="763" y="10003"/>
                </a:lnTo>
                <a:lnTo>
                  <a:pt x="763" y="9027"/>
                </a:lnTo>
                <a:lnTo>
                  <a:pt x="1977" y="7717"/>
                </a:lnTo>
                <a:lnTo>
                  <a:pt x="3001" y="8098"/>
                </a:lnTo>
                <a:lnTo>
                  <a:pt x="4573" y="6169"/>
                </a:lnTo>
                <a:lnTo>
                  <a:pt x="5692" y="6740"/>
                </a:lnTo>
                <a:lnTo>
                  <a:pt x="7097" y="5097"/>
                </a:lnTo>
                <a:lnTo>
                  <a:pt x="8169" y="5597"/>
                </a:lnTo>
                <a:lnTo>
                  <a:pt x="10098" y="4240"/>
                </a:lnTo>
                <a:lnTo>
                  <a:pt x="10098" y="2192"/>
                </a:lnTo>
                <a:lnTo>
                  <a:pt x="8884" y="2954"/>
                </a:lnTo>
                <a:lnTo>
                  <a:pt x="7669" y="2716"/>
                </a:lnTo>
                <a:lnTo>
                  <a:pt x="5526" y="4811"/>
                </a:lnTo>
                <a:lnTo>
                  <a:pt x="4549" y="4478"/>
                </a:lnTo>
                <a:lnTo>
                  <a:pt x="2668" y="6502"/>
                </a:lnTo>
                <a:lnTo>
                  <a:pt x="1811" y="5954"/>
                </a:lnTo>
                <a:lnTo>
                  <a:pt x="739" y="7193"/>
                </a:lnTo>
                <a:lnTo>
                  <a:pt x="739" y="692"/>
                </a:lnTo>
                <a:lnTo>
                  <a:pt x="1263" y="692"/>
                </a:lnTo>
                <a:lnTo>
                  <a:pt x="1263" y="1"/>
                </a:lnTo>
                <a:close/>
              </a:path>
            </a:pathLst>
          </a:custGeom>
          <a:solidFill>
            <a:srgbClr val="BF1F26"/>
          </a:solidFill>
          <a:ln>
            <a:noFill/>
          </a:ln>
        </p:spPr>
        <p:txBody>
          <a:bodyPr spcFirstLastPara="1" wrap="square" lIns="92450" tIns="92450" rIns="92450" bIns="92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20"/>
              <a:buFont typeface="Calibri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68;p13">
            <a:extLst>
              <a:ext uri="{FF2B5EF4-FFF2-40B4-BE49-F238E27FC236}">
                <a16:creationId xmlns:a16="http://schemas.microsoft.com/office/drawing/2014/main" id="{EC062347-6A27-EBD3-AD3F-B7B991138B2D}"/>
              </a:ext>
            </a:extLst>
          </p:cNvPr>
          <p:cNvSpPr/>
          <p:nvPr/>
        </p:nvSpPr>
        <p:spPr>
          <a:xfrm>
            <a:off x="5990069" y="1774005"/>
            <a:ext cx="2349726" cy="2707581"/>
          </a:xfrm>
          <a:prstGeom prst="rect">
            <a:avLst/>
          </a:prstGeom>
          <a:noFill/>
          <a:ln w="14450" cap="flat" cmpd="sng">
            <a:solidFill>
              <a:srgbClr val="BFBFBF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69350" tIns="34650" rIns="69350" bIns="346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71;p13">
            <a:extLst>
              <a:ext uri="{FF2B5EF4-FFF2-40B4-BE49-F238E27FC236}">
                <a16:creationId xmlns:a16="http://schemas.microsoft.com/office/drawing/2014/main" id="{3A1F4564-D004-B5EE-F5D0-9C22567C7D04}"/>
              </a:ext>
            </a:extLst>
          </p:cNvPr>
          <p:cNvSpPr txBox="1"/>
          <p:nvPr/>
        </p:nvSpPr>
        <p:spPr>
          <a:xfrm>
            <a:off x="6386202" y="1820413"/>
            <a:ext cx="1226024" cy="239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350" tIns="34650" rIns="69350" bIns="3465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i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Price driver</a:t>
            </a:r>
            <a:endParaRPr sz="1100" b="1" i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87;p13">
            <a:extLst>
              <a:ext uri="{FF2B5EF4-FFF2-40B4-BE49-F238E27FC236}">
                <a16:creationId xmlns:a16="http://schemas.microsoft.com/office/drawing/2014/main" id="{AD539C8E-3FDA-170C-AF92-7DF331876C38}"/>
              </a:ext>
            </a:extLst>
          </p:cNvPr>
          <p:cNvSpPr/>
          <p:nvPr/>
        </p:nvSpPr>
        <p:spPr>
          <a:xfrm>
            <a:off x="6062637" y="1808417"/>
            <a:ext cx="2175263" cy="238480"/>
          </a:xfrm>
          <a:prstGeom prst="roundRect">
            <a:avLst>
              <a:gd name="adj" fmla="val 16667"/>
            </a:avLst>
          </a:prstGeom>
          <a:solidFill>
            <a:srgbClr val="BF1F26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9350" tIns="34650" rIns="69350" bIns="346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88;p13">
            <a:extLst>
              <a:ext uri="{FF2B5EF4-FFF2-40B4-BE49-F238E27FC236}">
                <a16:creationId xmlns:a16="http://schemas.microsoft.com/office/drawing/2014/main" id="{A31C6B39-B7AB-F571-AADD-888E5936A8A9}"/>
              </a:ext>
            </a:extLst>
          </p:cNvPr>
          <p:cNvSpPr txBox="1"/>
          <p:nvPr/>
        </p:nvSpPr>
        <p:spPr>
          <a:xfrm>
            <a:off x="6123366" y="1804158"/>
            <a:ext cx="1982374" cy="239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350" tIns="34650" rIns="69350" bIns="3465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Grads/yr: ###,###</a:t>
            </a:r>
            <a:endParaRPr sz="1100" b="1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89;p13">
            <a:extLst>
              <a:ext uri="{FF2B5EF4-FFF2-40B4-BE49-F238E27FC236}">
                <a16:creationId xmlns:a16="http://schemas.microsoft.com/office/drawing/2014/main" id="{E15028C9-5ABA-F447-145B-6225915252D4}"/>
              </a:ext>
            </a:extLst>
          </p:cNvPr>
          <p:cNvSpPr/>
          <p:nvPr/>
        </p:nvSpPr>
        <p:spPr>
          <a:xfrm>
            <a:off x="6062637" y="2080758"/>
            <a:ext cx="2175263" cy="238480"/>
          </a:xfrm>
          <a:prstGeom prst="roundRect">
            <a:avLst>
              <a:gd name="adj" fmla="val 16667"/>
            </a:avLst>
          </a:prstGeom>
          <a:solidFill>
            <a:srgbClr val="BF1F26"/>
          </a:solidFill>
          <a:ln>
            <a:noFill/>
          </a:ln>
        </p:spPr>
        <p:txBody>
          <a:bodyPr spcFirstLastPara="1" wrap="square" lIns="69350" tIns="34650" rIns="69350" bIns="346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90;p13">
            <a:extLst>
              <a:ext uri="{FF2B5EF4-FFF2-40B4-BE49-F238E27FC236}">
                <a16:creationId xmlns:a16="http://schemas.microsoft.com/office/drawing/2014/main" id="{507C3767-FC6D-47EE-AB99-1FBC72263457}"/>
              </a:ext>
            </a:extLst>
          </p:cNvPr>
          <p:cNvSpPr txBox="1"/>
          <p:nvPr/>
        </p:nvSpPr>
        <p:spPr>
          <a:xfrm>
            <a:off x="6071838" y="2084964"/>
            <a:ext cx="2099258" cy="239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350" tIns="34650" rIns="69350" bIns="3465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New entrant in LF/yr: ##,####</a:t>
            </a:r>
            <a:endParaRPr sz="1100" b="1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91;p13">
            <a:extLst>
              <a:ext uri="{FF2B5EF4-FFF2-40B4-BE49-F238E27FC236}">
                <a16:creationId xmlns:a16="http://schemas.microsoft.com/office/drawing/2014/main" id="{719D09DB-1278-71A0-23EE-E5389967C404}"/>
              </a:ext>
            </a:extLst>
          </p:cNvPr>
          <p:cNvSpPr/>
          <p:nvPr/>
        </p:nvSpPr>
        <p:spPr>
          <a:xfrm>
            <a:off x="6103637" y="2468137"/>
            <a:ext cx="188081" cy="176358"/>
          </a:xfrm>
          <a:prstGeom prst="ellipse">
            <a:avLst/>
          </a:prstGeom>
          <a:solidFill>
            <a:srgbClr val="F58820"/>
          </a:solidFill>
          <a:ln>
            <a:noFill/>
          </a:ln>
        </p:spPr>
        <p:txBody>
          <a:bodyPr spcFirstLastPara="1" wrap="square" lIns="69350" tIns="34650" rIns="69350" bIns="346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1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92;p13">
            <a:extLst>
              <a:ext uri="{FF2B5EF4-FFF2-40B4-BE49-F238E27FC236}">
                <a16:creationId xmlns:a16="http://schemas.microsoft.com/office/drawing/2014/main" id="{D6D791BE-D76B-7D07-43AA-43BC9AEA238C}"/>
              </a:ext>
            </a:extLst>
          </p:cNvPr>
          <p:cNvSpPr txBox="1"/>
          <p:nvPr/>
        </p:nvSpPr>
        <p:spPr>
          <a:xfrm>
            <a:off x="6238004" y="2453399"/>
            <a:ext cx="2028037" cy="239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350" tIns="34650" rIns="69350" bIns="346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SHS, TVET</a:t>
            </a:r>
            <a:endParaRPr sz="11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93;p13">
            <a:extLst>
              <a:ext uri="{FF2B5EF4-FFF2-40B4-BE49-F238E27FC236}">
                <a16:creationId xmlns:a16="http://schemas.microsoft.com/office/drawing/2014/main" id="{A7F7051A-BD91-AD3D-CBC3-A4CB2EDD1EA3}"/>
              </a:ext>
            </a:extLst>
          </p:cNvPr>
          <p:cNvSpPr txBox="1"/>
          <p:nvPr/>
        </p:nvSpPr>
        <p:spPr>
          <a:xfrm>
            <a:off x="6072288" y="2707391"/>
            <a:ext cx="2141769" cy="916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350" tIns="34650" rIns="69350" bIns="34650" anchor="t" anchorCtr="0">
            <a:spAutoFit/>
          </a:bodyPr>
          <a:lstStyle/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##,### SHS, with ###,### of annual graduates, with </a:t>
            </a:r>
            <a:r>
              <a:rPr lang="en-US" sz="1100" b="1" dirty="0">
                <a:solidFill>
                  <a:srgbClr val="000000"/>
                </a:solidFill>
              </a:rPr>
              <a:t>##,###  </a:t>
            </a:r>
            <a:r>
              <a:rPr lang="en-US" sz="1100" dirty="0">
                <a:solidFill>
                  <a:srgbClr val="000000"/>
                </a:solidFill>
              </a:rPr>
              <a:t>entering labor force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### TVET schools, with </a:t>
            </a:r>
            <a:r>
              <a:rPr lang="en-US" sz="1100" b="1" dirty="0">
                <a:solidFill>
                  <a:srgbClr val="000000"/>
                </a:solidFill>
              </a:rPr>
              <a:t>##,###</a:t>
            </a:r>
            <a:r>
              <a:rPr lang="en-US" sz="1100" dirty="0">
                <a:solidFill>
                  <a:srgbClr val="000000"/>
                </a:solidFill>
              </a:rPr>
              <a:t> graduates</a:t>
            </a:r>
            <a:endParaRPr sz="1100" dirty="0">
              <a:solidFill>
                <a:srgbClr val="000000"/>
              </a:solidFill>
            </a:endParaRPr>
          </a:p>
        </p:txBody>
      </p:sp>
      <p:cxnSp>
        <p:nvCxnSpPr>
          <p:cNvPr id="47" name="Google Shape;94;p13">
            <a:extLst>
              <a:ext uri="{FF2B5EF4-FFF2-40B4-BE49-F238E27FC236}">
                <a16:creationId xmlns:a16="http://schemas.microsoft.com/office/drawing/2014/main" id="{6F3B664E-94D2-E9F6-BDC9-7B01653EB0EF}"/>
              </a:ext>
            </a:extLst>
          </p:cNvPr>
          <p:cNvCxnSpPr>
            <a:cxnSpLocks/>
          </p:cNvCxnSpPr>
          <p:nvPr/>
        </p:nvCxnSpPr>
        <p:spPr>
          <a:xfrm>
            <a:off x="6044684" y="2357172"/>
            <a:ext cx="2196979" cy="0"/>
          </a:xfrm>
          <a:prstGeom prst="straightConnector1">
            <a:avLst/>
          </a:prstGeom>
          <a:noFill/>
          <a:ln w="12050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8" name="Google Shape;95;p13">
            <a:extLst>
              <a:ext uri="{FF2B5EF4-FFF2-40B4-BE49-F238E27FC236}">
                <a16:creationId xmlns:a16="http://schemas.microsoft.com/office/drawing/2014/main" id="{2853AC79-84CF-1ECE-0682-06334A4789F8}"/>
              </a:ext>
            </a:extLst>
          </p:cNvPr>
          <p:cNvSpPr txBox="1"/>
          <p:nvPr/>
        </p:nvSpPr>
        <p:spPr>
          <a:xfrm>
            <a:off x="5923548" y="4654672"/>
            <a:ext cx="1295044" cy="285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350" tIns="34650" rIns="69350" bIns="3465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dirty="0">
                <a:solidFill>
                  <a:srgbClr val="BF1F26"/>
                </a:solidFill>
                <a:latin typeface="Arial"/>
                <a:ea typeface="Arial"/>
                <a:cs typeface="Arial"/>
                <a:sym typeface="Arial"/>
              </a:rPr>
              <a:t>Insights</a:t>
            </a:r>
            <a:endParaRPr sz="1400" b="1" dirty="0">
              <a:solidFill>
                <a:srgbClr val="BF1F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96;p13">
            <a:extLst>
              <a:ext uri="{FF2B5EF4-FFF2-40B4-BE49-F238E27FC236}">
                <a16:creationId xmlns:a16="http://schemas.microsoft.com/office/drawing/2014/main" id="{DB152CEF-02AE-3CFF-1E00-6D7C15238D1B}"/>
              </a:ext>
            </a:extLst>
          </p:cNvPr>
          <p:cNvSpPr txBox="1"/>
          <p:nvPr/>
        </p:nvSpPr>
        <p:spPr>
          <a:xfrm>
            <a:off x="5897479" y="4931817"/>
            <a:ext cx="5665255" cy="747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350" tIns="34650" rIns="69350" bIns="34650" anchor="t" anchorCtr="0">
            <a:spAutoFit/>
          </a:bodyPr>
          <a:lstStyle/>
          <a:p>
            <a:pPr marL="130037" marR="0" lvl="0" indent="-130038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0"/>
              <a:buFont typeface="Arial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each region, depends on what the insight per region for the supply vs demand drivers </a:t>
            </a:r>
          </a:p>
          <a:p>
            <a:pPr marL="130037" marR="0" lvl="0" indent="-130038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0"/>
              <a:buFont typeface="Arial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TESDA NCs which are supplying for the sectors are NC xxx, and NC </a:t>
            </a:r>
            <a:r>
              <a:rPr lang="en-US" sz="11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xxxx</a:t>
            </a:r>
            <a:endParaRPr lang="en-US" sz="11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0037" marR="0" lvl="0" indent="-130038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0"/>
              <a:buFont typeface="Arial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Other points you want to add</a:t>
            </a:r>
            <a:endParaRPr sz="11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" name="Google Shape;97;p13">
            <a:extLst>
              <a:ext uri="{FF2B5EF4-FFF2-40B4-BE49-F238E27FC236}">
                <a16:creationId xmlns:a16="http://schemas.microsoft.com/office/drawing/2014/main" id="{EA5DD570-B8CD-E886-07AE-15DAC484B700}"/>
              </a:ext>
            </a:extLst>
          </p:cNvPr>
          <p:cNvGrpSpPr/>
          <p:nvPr/>
        </p:nvGrpSpPr>
        <p:grpSpPr>
          <a:xfrm>
            <a:off x="6741690" y="4691334"/>
            <a:ext cx="221945" cy="207590"/>
            <a:chOff x="-4118225" y="3990475"/>
            <a:chExt cx="292225" cy="273325"/>
          </a:xfrm>
        </p:grpSpPr>
        <p:sp>
          <p:nvSpPr>
            <p:cNvPr id="51" name="Google Shape;98;p13">
              <a:extLst>
                <a:ext uri="{FF2B5EF4-FFF2-40B4-BE49-F238E27FC236}">
                  <a16:creationId xmlns:a16="http://schemas.microsoft.com/office/drawing/2014/main" id="{C47DD869-0335-B00B-599A-28E6328C4EC2}"/>
                </a:ext>
              </a:extLst>
            </p:cNvPr>
            <p:cNvSpPr/>
            <p:nvPr/>
          </p:nvSpPr>
          <p:spPr>
            <a:xfrm>
              <a:off x="-3963850" y="4040100"/>
              <a:ext cx="51200" cy="51225"/>
            </a:xfrm>
            <a:custGeom>
              <a:avLst/>
              <a:gdLst/>
              <a:ahLst/>
              <a:cxnLst/>
              <a:rect l="l" t="t" r="r" b="b"/>
              <a:pathLst>
                <a:path w="2048" h="2049" extrusionOk="0">
                  <a:moveTo>
                    <a:pt x="1008" y="0"/>
                  </a:moveTo>
                  <a:cubicBezTo>
                    <a:pt x="473" y="0"/>
                    <a:pt x="0" y="473"/>
                    <a:pt x="0" y="1040"/>
                  </a:cubicBezTo>
                  <a:cubicBezTo>
                    <a:pt x="0" y="1607"/>
                    <a:pt x="473" y="2048"/>
                    <a:pt x="1008" y="2048"/>
                  </a:cubicBezTo>
                  <a:cubicBezTo>
                    <a:pt x="1575" y="2048"/>
                    <a:pt x="2048" y="1607"/>
                    <a:pt x="2048" y="1040"/>
                  </a:cubicBezTo>
                  <a:cubicBezTo>
                    <a:pt x="2048" y="473"/>
                    <a:pt x="1575" y="0"/>
                    <a:pt x="1008" y="0"/>
                  </a:cubicBezTo>
                  <a:close/>
                </a:path>
              </a:pathLst>
            </a:custGeom>
            <a:solidFill>
              <a:srgbClr val="BF1F26"/>
            </a:solidFill>
            <a:ln>
              <a:noFill/>
            </a:ln>
          </p:spPr>
          <p:txBody>
            <a:bodyPr spcFirstLastPara="1" wrap="square" lIns="92450" tIns="92450" rIns="92450" bIns="92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20"/>
                <a:buFont typeface="Calibri"/>
                <a:buNone/>
              </a:pPr>
              <a:endParaRPr sz="182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99;p13">
              <a:extLst>
                <a:ext uri="{FF2B5EF4-FFF2-40B4-BE49-F238E27FC236}">
                  <a16:creationId xmlns:a16="http://schemas.microsoft.com/office/drawing/2014/main" id="{F11BFF1B-A118-FF78-BB26-AF7F6EEDF1F3}"/>
                </a:ext>
              </a:extLst>
            </p:cNvPr>
            <p:cNvSpPr/>
            <p:nvPr/>
          </p:nvSpPr>
          <p:spPr>
            <a:xfrm>
              <a:off x="-4015050" y="3990475"/>
              <a:ext cx="153600" cy="153625"/>
            </a:xfrm>
            <a:custGeom>
              <a:avLst/>
              <a:gdLst/>
              <a:ahLst/>
              <a:cxnLst/>
              <a:rect l="l" t="t" r="r" b="b"/>
              <a:pathLst>
                <a:path w="6144" h="6145" extrusionOk="0">
                  <a:moveTo>
                    <a:pt x="3056" y="1324"/>
                  </a:moveTo>
                  <a:cubicBezTo>
                    <a:pt x="4001" y="1324"/>
                    <a:pt x="4757" y="2080"/>
                    <a:pt x="4757" y="3025"/>
                  </a:cubicBezTo>
                  <a:cubicBezTo>
                    <a:pt x="4757" y="3970"/>
                    <a:pt x="4033" y="4726"/>
                    <a:pt x="3056" y="4726"/>
                  </a:cubicBezTo>
                  <a:cubicBezTo>
                    <a:pt x="2111" y="4726"/>
                    <a:pt x="1386" y="3970"/>
                    <a:pt x="1386" y="3025"/>
                  </a:cubicBezTo>
                  <a:cubicBezTo>
                    <a:pt x="1386" y="2080"/>
                    <a:pt x="2111" y="1324"/>
                    <a:pt x="3056" y="1324"/>
                  </a:cubicBezTo>
                  <a:close/>
                  <a:moveTo>
                    <a:pt x="3056" y="1"/>
                  </a:moveTo>
                  <a:cubicBezTo>
                    <a:pt x="1386" y="1"/>
                    <a:pt x="0" y="1355"/>
                    <a:pt x="0" y="3057"/>
                  </a:cubicBezTo>
                  <a:cubicBezTo>
                    <a:pt x="0" y="4758"/>
                    <a:pt x="1323" y="6144"/>
                    <a:pt x="3056" y="6144"/>
                  </a:cubicBezTo>
                  <a:cubicBezTo>
                    <a:pt x="4757" y="6144"/>
                    <a:pt x="6144" y="4758"/>
                    <a:pt x="6144" y="3057"/>
                  </a:cubicBezTo>
                  <a:cubicBezTo>
                    <a:pt x="6144" y="1355"/>
                    <a:pt x="4757" y="1"/>
                    <a:pt x="3056" y="1"/>
                  </a:cubicBezTo>
                  <a:close/>
                </a:path>
              </a:pathLst>
            </a:custGeom>
            <a:solidFill>
              <a:srgbClr val="BF1F26"/>
            </a:solidFill>
            <a:ln>
              <a:noFill/>
            </a:ln>
          </p:spPr>
          <p:txBody>
            <a:bodyPr spcFirstLastPara="1" wrap="square" lIns="92450" tIns="92450" rIns="92450" bIns="92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20"/>
                <a:buFont typeface="Calibri"/>
                <a:buNone/>
              </a:pPr>
              <a:endParaRPr sz="182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100;p13">
              <a:extLst>
                <a:ext uri="{FF2B5EF4-FFF2-40B4-BE49-F238E27FC236}">
                  <a16:creationId xmlns:a16="http://schemas.microsoft.com/office/drawing/2014/main" id="{D94D667E-E784-027A-3511-710D5B591621}"/>
                </a:ext>
              </a:extLst>
            </p:cNvPr>
            <p:cNvSpPr/>
            <p:nvPr/>
          </p:nvSpPr>
          <p:spPr>
            <a:xfrm>
              <a:off x="-4118225" y="4144075"/>
              <a:ext cx="33875" cy="119725"/>
            </a:xfrm>
            <a:custGeom>
              <a:avLst/>
              <a:gdLst/>
              <a:ahLst/>
              <a:cxnLst/>
              <a:rect l="l" t="t" r="r" b="b"/>
              <a:pathLst>
                <a:path w="1355" h="4789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4442"/>
                  </a:lnTo>
                  <a:cubicBezTo>
                    <a:pt x="0" y="4631"/>
                    <a:pt x="158" y="4789"/>
                    <a:pt x="347" y="4789"/>
                  </a:cubicBezTo>
                  <a:lnTo>
                    <a:pt x="1008" y="4789"/>
                  </a:lnTo>
                  <a:cubicBezTo>
                    <a:pt x="1134" y="4789"/>
                    <a:pt x="1260" y="4757"/>
                    <a:pt x="1355" y="4726"/>
                  </a:cubicBezTo>
                  <a:lnTo>
                    <a:pt x="1355" y="63"/>
                  </a:lnTo>
                  <a:cubicBezTo>
                    <a:pt x="1260" y="32"/>
                    <a:pt x="1134" y="0"/>
                    <a:pt x="1008" y="0"/>
                  </a:cubicBezTo>
                  <a:close/>
                </a:path>
              </a:pathLst>
            </a:custGeom>
            <a:solidFill>
              <a:srgbClr val="BF1F26"/>
            </a:solidFill>
            <a:ln>
              <a:noFill/>
            </a:ln>
          </p:spPr>
          <p:txBody>
            <a:bodyPr spcFirstLastPara="1" wrap="square" lIns="92450" tIns="92450" rIns="92450" bIns="92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20"/>
                <a:buFont typeface="Calibri"/>
                <a:buNone/>
              </a:pPr>
              <a:endParaRPr sz="182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101;p13">
              <a:extLst>
                <a:ext uri="{FF2B5EF4-FFF2-40B4-BE49-F238E27FC236}">
                  <a16:creationId xmlns:a16="http://schemas.microsoft.com/office/drawing/2014/main" id="{0BFCF40C-4CDB-FD57-9CF2-3FE78EDA02CB}"/>
                </a:ext>
              </a:extLst>
            </p:cNvPr>
            <p:cNvSpPr/>
            <p:nvPr/>
          </p:nvSpPr>
          <p:spPr>
            <a:xfrm>
              <a:off x="-4067050" y="4143750"/>
              <a:ext cx="241050" cy="120050"/>
            </a:xfrm>
            <a:custGeom>
              <a:avLst/>
              <a:gdLst/>
              <a:ahLst/>
              <a:cxnLst/>
              <a:rect l="l" t="t" r="r" b="b"/>
              <a:pathLst>
                <a:path w="9642" h="4802" extrusionOk="0">
                  <a:moveTo>
                    <a:pt x="1750" y="1"/>
                  </a:moveTo>
                  <a:cubicBezTo>
                    <a:pt x="1124" y="1"/>
                    <a:pt x="537" y="197"/>
                    <a:pt x="1" y="549"/>
                  </a:cubicBezTo>
                  <a:lnTo>
                    <a:pt x="1" y="4550"/>
                  </a:lnTo>
                  <a:cubicBezTo>
                    <a:pt x="410" y="4707"/>
                    <a:pt x="883" y="4802"/>
                    <a:pt x="1356" y="4802"/>
                  </a:cubicBezTo>
                  <a:lnTo>
                    <a:pt x="5294" y="4802"/>
                  </a:lnTo>
                  <a:cubicBezTo>
                    <a:pt x="5735" y="4802"/>
                    <a:pt x="6144" y="4644"/>
                    <a:pt x="6459" y="4392"/>
                  </a:cubicBezTo>
                  <a:cubicBezTo>
                    <a:pt x="6459" y="4392"/>
                    <a:pt x="8507" y="2502"/>
                    <a:pt x="9169" y="1872"/>
                  </a:cubicBezTo>
                  <a:cubicBezTo>
                    <a:pt x="9169" y="1872"/>
                    <a:pt x="9547" y="1399"/>
                    <a:pt x="9547" y="1021"/>
                  </a:cubicBezTo>
                  <a:cubicBezTo>
                    <a:pt x="9641" y="454"/>
                    <a:pt x="9169" y="13"/>
                    <a:pt x="8602" y="13"/>
                  </a:cubicBezTo>
                  <a:cubicBezTo>
                    <a:pt x="8413" y="13"/>
                    <a:pt x="7751" y="202"/>
                    <a:pt x="6711" y="1777"/>
                  </a:cubicBezTo>
                  <a:cubicBezTo>
                    <a:pt x="6333" y="2376"/>
                    <a:pt x="5766" y="2754"/>
                    <a:pt x="5199" y="2754"/>
                  </a:cubicBezTo>
                  <a:lnTo>
                    <a:pt x="2710" y="2754"/>
                  </a:lnTo>
                  <a:cubicBezTo>
                    <a:pt x="2584" y="2754"/>
                    <a:pt x="2458" y="2849"/>
                    <a:pt x="2395" y="2975"/>
                  </a:cubicBezTo>
                  <a:cubicBezTo>
                    <a:pt x="2333" y="3099"/>
                    <a:pt x="2223" y="3152"/>
                    <a:pt x="2110" y="3152"/>
                  </a:cubicBezTo>
                  <a:cubicBezTo>
                    <a:pt x="1880" y="3152"/>
                    <a:pt x="1638" y="2934"/>
                    <a:pt x="1765" y="2660"/>
                  </a:cubicBezTo>
                  <a:cubicBezTo>
                    <a:pt x="1923" y="2344"/>
                    <a:pt x="2238" y="2092"/>
                    <a:pt x="2616" y="2092"/>
                  </a:cubicBezTo>
                  <a:lnTo>
                    <a:pt x="5231" y="2092"/>
                  </a:lnTo>
                  <a:cubicBezTo>
                    <a:pt x="6081" y="2061"/>
                    <a:pt x="6081" y="706"/>
                    <a:pt x="5136" y="706"/>
                  </a:cubicBezTo>
                  <a:lnTo>
                    <a:pt x="3844" y="706"/>
                  </a:lnTo>
                  <a:cubicBezTo>
                    <a:pt x="3116" y="220"/>
                    <a:pt x="2412" y="1"/>
                    <a:pt x="1750" y="1"/>
                  </a:cubicBezTo>
                  <a:close/>
                </a:path>
              </a:pathLst>
            </a:custGeom>
            <a:solidFill>
              <a:srgbClr val="BF1F26"/>
            </a:solidFill>
            <a:ln>
              <a:noFill/>
            </a:ln>
          </p:spPr>
          <p:txBody>
            <a:bodyPr spcFirstLastPara="1" wrap="square" lIns="92450" tIns="92450" rIns="92450" bIns="92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20"/>
                <a:buFont typeface="Calibri"/>
                <a:buNone/>
              </a:pPr>
              <a:endParaRPr sz="182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1" name="Google Shape;57;p13">
            <a:extLst>
              <a:ext uri="{FF2B5EF4-FFF2-40B4-BE49-F238E27FC236}">
                <a16:creationId xmlns:a16="http://schemas.microsoft.com/office/drawing/2014/main" id="{43E49A09-7BB9-8968-03AC-8D725F5B52B5}"/>
              </a:ext>
            </a:extLst>
          </p:cNvPr>
          <p:cNvSpPr txBox="1"/>
          <p:nvPr/>
        </p:nvSpPr>
        <p:spPr>
          <a:xfrm>
            <a:off x="596836" y="915785"/>
            <a:ext cx="4539151" cy="303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350" tIns="34650" rIns="69350" bIns="346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16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Regional Economy and Labor Force Overview</a:t>
            </a:r>
            <a:endParaRPr sz="1516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626641B5-AB79-0C03-E224-1CC9990CEEF9}"/>
              </a:ext>
            </a:extLst>
          </p:cNvPr>
          <p:cNvSpPr/>
          <p:nvPr/>
        </p:nvSpPr>
        <p:spPr>
          <a:xfrm>
            <a:off x="479879" y="849157"/>
            <a:ext cx="5027786" cy="55023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Google Shape;96;p13">
            <a:extLst>
              <a:ext uri="{FF2B5EF4-FFF2-40B4-BE49-F238E27FC236}">
                <a16:creationId xmlns:a16="http://schemas.microsoft.com/office/drawing/2014/main" id="{2638A6E5-3153-5DC4-0DA4-04F427F57555}"/>
              </a:ext>
            </a:extLst>
          </p:cNvPr>
          <p:cNvSpPr txBox="1"/>
          <p:nvPr/>
        </p:nvSpPr>
        <p:spPr>
          <a:xfrm>
            <a:off x="720058" y="3806646"/>
            <a:ext cx="4547428" cy="408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350" tIns="34650" rIns="69350" bIns="34650" anchor="t" anchorCtr="0">
            <a:spAutoFit/>
          </a:bodyPr>
          <a:lstStyle/>
          <a:p>
            <a:pPr marL="130037" lvl="0" indent="-130038">
              <a:buClr>
                <a:srgbClr val="000000"/>
              </a:buClr>
              <a:buSzPts val="910"/>
              <a:buFont typeface="Arial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GDP (2024, USD): </a:t>
            </a:r>
            <a:r>
              <a:rPr lang="en-PH" sz="1100" dirty="0"/>
              <a:t>US$146.7 bn</a:t>
            </a:r>
          </a:p>
          <a:p>
            <a:pPr marL="130037" lvl="0" indent="-130038">
              <a:buClr>
                <a:srgbClr val="000000"/>
              </a:buClr>
              <a:buSzPts val="910"/>
              <a:buFont typeface="Arial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Regional Share of GDP vs National (31.1%)</a:t>
            </a:r>
            <a:endParaRPr sz="11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" name="Google Shape;112;p13">
            <a:extLst>
              <a:ext uri="{FF2B5EF4-FFF2-40B4-BE49-F238E27FC236}">
                <a16:creationId xmlns:a16="http://schemas.microsoft.com/office/drawing/2014/main" id="{C6A7388C-188A-A0AA-5243-9CEE3D0A7055}"/>
              </a:ext>
            </a:extLst>
          </p:cNvPr>
          <p:cNvCxnSpPr>
            <a:cxnSpLocks/>
          </p:cNvCxnSpPr>
          <p:nvPr/>
        </p:nvCxnSpPr>
        <p:spPr>
          <a:xfrm>
            <a:off x="330215" y="6487758"/>
            <a:ext cx="11136855" cy="0"/>
          </a:xfrm>
          <a:prstGeom prst="straightConnector1">
            <a:avLst/>
          </a:prstGeom>
          <a:noFill/>
          <a:ln w="21675" cap="flat" cmpd="sng">
            <a:solidFill>
              <a:srgbClr val="60111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9" name="Google Shape;113;p13">
            <a:extLst>
              <a:ext uri="{FF2B5EF4-FFF2-40B4-BE49-F238E27FC236}">
                <a16:creationId xmlns:a16="http://schemas.microsoft.com/office/drawing/2014/main" id="{559975AC-CFF9-76E3-90FF-4C240A1F93D7}"/>
              </a:ext>
            </a:extLst>
          </p:cNvPr>
          <p:cNvSpPr txBox="1"/>
          <p:nvPr/>
        </p:nvSpPr>
        <p:spPr>
          <a:xfrm>
            <a:off x="330215" y="6537138"/>
            <a:ext cx="10308288" cy="326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350" tIns="34650" rIns="69350" bIns="346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34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Reference: FX applied USD: PHP: 1: 55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34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Sources: [link], [report]</a:t>
            </a:r>
            <a:endParaRPr sz="834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57;p13">
            <a:extLst>
              <a:ext uri="{FF2B5EF4-FFF2-40B4-BE49-F238E27FC236}">
                <a16:creationId xmlns:a16="http://schemas.microsoft.com/office/drawing/2014/main" id="{9F5C0755-3BF8-443A-8D74-10A770E4BDD2}"/>
              </a:ext>
            </a:extLst>
          </p:cNvPr>
          <p:cNvSpPr txBox="1"/>
          <p:nvPr/>
        </p:nvSpPr>
        <p:spPr>
          <a:xfrm>
            <a:off x="5897480" y="894416"/>
            <a:ext cx="4539151" cy="303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350" tIns="34650" rIns="69350" bIns="346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16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Talent Supply and Demand Drivers</a:t>
            </a:r>
            <a:endParaRPr sz="1516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91;p13">
            <a:extLst>
              <a:ext uri="{FF2B5EF4-FFF2-40B4-BE49-F238E27FC236}">
                <a16:creationId xmlns:a16="http://schemas.microsoft.com/office/drawing/2014/main" id="{B02D064E-E8DB-135E-9E1D-8BC1ADF88DB2}"/>
              </a:ext>
            </a:extLst>
          </p:cNvPr>
          <p:cNvSpPr/>
          <p:nvPr/>
        </p:nvSpPr>
        <p:spPr>
          <a:xfrm>
            <a:off x="6029326" y="3642494"/>
            <a:ext cx="188081" cy="176358"/>
          </a:xfrm>
          <a:prstGeom prst="ellipse">
            <a:avLst/>
          </a:prstGeom>
          <a:solidFill>
            <a:srgbClr val="F58820"/>
          </a:solidFill>
          <a:ln>
            <a:noFill/>
          </a:ln>
        </p:spPr>
        <p:txBody>
          <a:bodyPr spcFirstLastPara="1" wrap="square" lIns="69350" tIns="34650" rIns="69350" bIns="346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1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92;p13">
            <a:extLst>
              <a:ext uri="{FF2B5EF4-FFF2-40B4-BE49-F238E27FC236}">
                <a16:creationId xmlns:a16="http://schemas.microsoft.com/office/drawing/2014/main" id="{2FD6D798-8F7E-38B1-F28A-20135144FAD7}"/>
              </a:ext>
            </a:extLst>
          </p:cNvPr>
          <p:cNvSpPr txBox="1"/>
          <p:nvPr/>
        </p:nvSpPr>
        <p:spPr>
          <a:xfrm>
            <a:off x="6213626" y="3608688"/>
            <a:ext cx="2028037" cy="239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350" tIns="34650" rIns="69350" bIns="346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HEI</a:t>
            </a:r>
            <a:endParaRPr sz="11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93;p13">
            <a:extLst>
              <a:ext uri="{FF2B5EF4-FFF2-40B4-BE49-F238E27FC236}">
                <a16:creationId xmlns:a16="http://schemas.microsoft.com/office/drawing/2014/main" id="{347E2E54-D15D-6C48-946A-0B4A4870E909}"/>
              </a:ext>
            </a:extLst>
          </p:cNvPr>
          <p:cNvSpPr txBox="1"/>
          <p:nvPr/>
        </p:nvSpPr>
        <p:spPr>
          <a:xfrm>
            <a:off x="6029326" y="3832876"/>
            <a:ext cx="2141769" cy="408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350" tIns="34650" rIns="69350" bIns="34650" anchor="t" anchorCtr="0">
            <a:spAutoFit/>
          </a:bodyPr>
          <a:lstStyle/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## HEIs, producing </a:t>
            </a:r>
            <a:r>
              <a:rPr lang="en-US" sz="1100" b="1" dirty="0">
                <a:solidFill>
                  <a:srgbClr val="000000"/>
                </a:solidFill>
              </a:rPr>
              <a:t>##,### </a:t>
            </a:r>
            <a:r>
              <a:rPr lang="en-US" sz="1100" dirty="0">
                <a:solidFill>
                  <a:srgbClr val="000000"/>
                </a:solidFill>
              </a:rPr>
              <a:t>of graduates every year</a:t>
            </a:r>
            <a:endParaRPr sz="1100" dirty="0">
              <a:solidFill>
                <a:srgbClr val="000000"/>
              </a:solidFill>
            </a:endParaRPr>
          </a:p>
        </p:txBody>
      </p:sp>
      <p:sp>
        <p:nvSpPr>
          <p:cNvPr id="78" name="Google Shape;60;p13">
            <a:extLst>
              <a:ext uri="{FF2B5EF4-FFF2-40B4-BE49-F238E27FC236}">
                <a16:creationId xmlns:a16="http://schemas.microsoft.com/office/drawing/2014/main" id="{7ADE4A15-719C-F9D1-A03F-435ABA6ED11C}"/>
              </a:ext>
            </a:extLst>
          </p:cNvPr>
          <p:cNvSpPr txBox="1"/>
          <p:nvPr/>
        </p:nvSpPr>
        <p:spPr>
          <a:xfrm>
            <a:off x="476687" y="4328432"/>
            <a:ext cx="2615483" cy="285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350" tIns="34650" rIns="69350" bIns="3465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dirty="0"/>
              <a:t>LABOR FORCE (LF)</a:t>
            </a:r>
            <a:endParaRPr sz="14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66;p13">
            <a:extLst>
              <a:ext uri="{FF2B5EF4-FFF2-40B4-BE49-F238E27FC236}">
                <a16:creationId xmlns:a16="http://schemas.microsoft.com/office/drawing/2014/main" id="{877CEA11-81ED-9AF5-EF67-98FB47893EC7}"/>
              </a:ext>
            </a:extLst>
          </p:cNvPr>
          <p:cNvSpPr/>
          <p:nvPr/>
        </p:nvSpPr>
        <p:spPr>
          <a:xfrm>
            <a:off x="720058" y="4342556"/>
            <a:ext cx="245550" cy="230244"/>
          </a:xfrm>
          <a:custGeom>
            <a:avLst/>
            <a:gdLst/>
            <a:ahLst/>
            <a:cxnLst/>
            <a:rect l="l" t="t" r="r" b="b"/>
            <a:pathLst>
              <a:path w="11504" h="11504" extrusionOk="0">
                <a:moveTo>
                  <a:pt x="1" y="1"/>
                </a:moveTo>
                <a:lnTo>
                  <a:pt x="1" y="11503"/>
                </a:lnTo>
                <a:lnTo>
                  <a:pt x="11503" y="11503"/>
                </a:lnTo>
                <a:lnTo>
                  <a:pt x="11503" y="10241"/>
                </a:lnTo>
                <a:lnTo>
                  <a:pt x="10908" y="10241"/>
                </a:lnTo>
                <a:lnTo>
                  <a:pt x="10908" y="10789"/>
                </a:lnTo>
                <a:lnTo>
                  <a:pt x="10146" y="10789"/>
                </a:lnTo>
                <a:lnTo>
                  <a:pt x="10146" y="5026"/>
                </a:lnTo>
                <a:lnTo>
                  <a:pt x="8288" y="6383"/>
                </a:lnTo>
                <a:lnTo>
                  <a:pt x="7312" y="5931"/>
                </a:lnTo>
                <a:lnTo>
                  <a:pt x="5883" y="7574"/>
                </a:lnTo>
                <a:lnTo>
                  <a:pt x="4740" y="7002"/>
                </a:lnTo>
                <a:lnTo>
                  <a:pt x="3192" y="8907"/>
                </a:lnTo>
                <a:lnTo>
                  <a:pt x="2168" y="8526"/>
                </a:lnTo>
                <a:lnTo>
                  <a:pt x="763" y="10003"/>
                </a:lnTo>
                <a:lnTo>
                  <a:pt x="763" y="9027"/>
                </a:lnTo>
                <a:lnTo>
                  <a:pt x="1977" y="7717"/>
                </a:lnTo>
                <a:lnTo>
                  <a:pt x="3001" y="8098"/>
                </a:lnTo>
                <a:lnTo>
                  <a:pt x="4573" y="6169"/>
                </a:lnTo>
                <a:lnTo>
                  <a:pt x="5692" y="6740"/>
                </a:lnTo>
                <a:lnTo>
                  <a:pt x="7097" y="5097"/>
                </a:lnTo>
                <a:lnTo>
                  <a:pt x="8169" y="5597"/>
                </a:lnTo>
                <a:lnTo>
                  <a:pt x="10098" y="4240"/>
                </a:lnTo>
                <a:lnTo>
                  <a:pt x="10098" y="2192"/>
                </a:lnTo>
                <a:lnTo>
                  <a:pt x="8884" y="2954"/>
                </a:lnTo>
                <a:lnTo>
                  <a:pt x="7669" y="2716"/>
                </a:lnTo>
                <a:lnTo>
                  <a:pt x="5526" y="4811"/>
                </a:lnTo>
                <a:lnTo>
                  <a:pt x="4549" y="4478"/>
                </a:lnTo>
                <a:lnTo>
                  <a:pt x="2668" y="6502"/>
                </a:lnTo>
                <a:lnTo>
                  <a:pt x="1811" y="5954"/>
                </a:lnTo>
                <a:lnTo>
                  <a:pt x="739" y="7193"/>
                </a:lnTo>
                <a:lnTo>
                  <a:pt x="739" y="692"/>
                </a:lnTo>
                <a:lnTo>
                  <a:pt x="1263" y="692"/>
                </a:lnTo>
                <a:lnTo>
                  <a:pt x="1263" y="1"/>
                </a:lnTo>
                <a:close/>
              </a:path>
            </a:pathLst>
          </a:custGeom>
          <a:solidFill>
            <a:srgbClr val="BF1F26"/>
          </a:solidFill>
          <a:ln>
            <a:noFill/>
          </a:ln>
        </p:spPr>
        <p:txBody>
          <a:bodyPr spcFirstLastPara="1" wrap="square" lIns="92450" tIns="92450" rIns="92450" bIns="92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20"/>
              <a:buFont typeface="Calibri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59;p13">
            <a:extLst>
              <a:ext uri="{FF2B5EF4-FFF2-40B4-BE49-F238E27FC236}">
                <a16:creationId xmlns:a16="http://schemas.microsoft.com/office/drawing/2014/main" id="{5882AC89-487F-990B-E13F-060633773A9B}"/>
              </a:ext>
            </a:extLst>
          </p:cNvPr>
          <p:cNvSpPr/>
          <p:nvPr/>
        </p:nvSpPr>
        <p:spPr>
          <a:xfrm>
            <a:off x="8596492" y="1429585"/>
            <a:ext cx="3202217" cy="25263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530" dist="28897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69350" tIns="34650" rIns="69350" bIns="346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60;p13">
            <a:extLst>
              <a:ext uri="{FF2B5EF4-FFF2-40B4-BE49-F238E27FC236}">
                <a16:creationId xmlns:a16="http://schemas.microsoft.com/office/drawing/2014/main" id="{C4E47A71-4058-8796-2418-A9BF84FA15D7}"/>
              </a:ext>
            </a:extLst>
          </p:cNvPr>
          <p:cNvSpPr txBox="1"/>
          <p:nvPr/>
        </p:nvSpPr>
        <p:spPr>
          <a:xfrm>
            <a:off x="9376674" y="1387783"/>
            <a:ext cx="1885228" cy="285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350" tIns="34650" rIns="69350" bIns="3465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dirty="0"/>
              <a:t>DEMAND</a:t>
            </a:r>
            <a:endParaRPr sz="14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" name="Google Shape;61;p13">
            <a:extLst>
              <a:ext uri="{FF2B5EF4-FFF2-40B4-BE49-F238E27FC236}">
                <a16:creationId xmlns:a16="http://schemas.microsoft.com/office/drawing/2014/main" id="{EC5EFC88-2A16-17B8-D3ED-6A72E4427C45}"/>
              </a:ext>
            </a:extLst>
          </p:cNvPr>
          <p:cNvGrpSpPr/>
          <p:nvPr/>
        </p:nvGrpSpPr>
        <p:grpSpPr>
          <a:xfrm>
            <a:off x="9589385" y="1421382"/>
            <a:ext cx="208868" cy="208018"/>
            <a:chOff x="6459594" y="2439037"/>
            <a:chExt cx="342519" cy="341125"/>
          </a:xfrm>
        </p:grpSpPr>
        <p:sp>
          <p:nvSpPr>
            <p:cNvPr id="16" name="Google Shape;62;p13">
              <a:extLst>
                <a:ext uri="{FF2B5EF4-FFF2-40B4-BE49-F238E27FC236}">
                  <a16:creationId xmlns:a16="http://schemas.microsoft.com/office/drawing/2014/main" id="{5BA30FD5-4A59-A189-9795-FFF5A05A70DD}"/>
                </a:ext>
              </a:extLst>
            </p:cNvPr>
            <p:cNvSpPr/>
            <p:nvPr/>
          </p:nvSpPr>
          <p:spPr>
            <a:xfrm>
              <a:off x="6473709" y="2452469"/>
              <a:ext cx="146898" cy="146898"/>
            </a:xfrm>
            <a:custGeom>
              <a:avLst/>
              <a:gdLst/>
              <a:ahLst/>
              <a:cxnLst/>
              <a:rect l="l" t="t" r="r" b="b"/>
              <a:pathLst>
                <a:path w="4954" h="4954" extrusionOk="0">
                  <a:moveTo>
                    <a:pt x="4954" y="0"/>
                  </a:moveTo>
                  <a:cubicBezTo>
                    <a:pt x="2287" y="191"/>
                    <a:pt x="191" y="2286"/>
                    <a:pt x="0" y="4954"/>
                  </a:cubicBezTo>
                  <a:lnTo>
                    <a:pt x="4954" y="4954"/>
                  </a:lnTo>
                  <a:lnTo>
                    <a:pt x="4954" y="0"/>
                  </a:lnTo>
                  <a:close/>
                </a:path>
              </a:pathLst>
            </a:custGeom>
            <a:solidFill>
              <a:srgbClr val="BF1F26"/>
            </a:solidFill>
            <a:ln>
              <a:noFill/>
            </a:ln>
          </p:spPr>
          <p:txBody>
            <a:bodyPr spcFirstLastPara="1" wrap="square" lIns="92450" tIns="92450" rIns="92450" bIns="92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20"/>
                <a:buFont typeface="Calibri"/>
                <a:buNone/>
              </a:pPr>
              <a:endParaRPr sz="182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63;p13">
              <a:extLst>
                <a:ext uri="{FF2B5EF4-FFF2-40B4-BE49-F238E27FC236}">
                  <a16:creationId xmlns:a16="http://schemas.microsoft.com/office/drawing/2014/main" id="{5A76B6D2-5C02-28F1-1281-EB5A6A2CD4B1}"/>
                </a:ext>
              </a:extLst>
            </p:cNvPr>
            <p:cNvSpPr/>
            <p:nvPr/>
          </p:nvSpPr>
          <p:spPr>
            <a:xfrm>
              <a:off x="6641782" y="2439037"/>
              <a:ext cx="160331" cy="161043"/>
            </a:xfrm>
            <a:custGeom>
              <a:avLst/>
              <a:gdLst/>
              <a:ahLst/>
              <a:cxnLst/>
              <a:rect l="l" t="t" r="r" b="b"/>
              <a:pathLst>
                <a:path w="5407" h="5431" extrusionOk="0">
                  <a:moveTo>
                    <a:pt x="2810" y="2120"/>
                  </a:moveTo>
                  <a:lnTo>
                    <a:pt x="2810" y="2811"/>
                  </a:lnTo>
                  <a:lnTo>
                    <a:pt x="977" y="2811"/>
                  </a:lnTo>
                  <a:lnTo>
                    <a:pt x="977" y="2120"/>
                  </a:lnTo>
                  <a:close/>
                  <a:moveTo>
                    <a:pt x="2810" y="3740"/>
                  </a:moveTo>
                  <a:lnTo>
                    <a:pt x="2810" y="4406"/>
                  </a:lnTo>
                  <a:lnTo>
                    <a:pt x="977" y="4406"/>
                  </a:lnTo>
                  <a:lnTo>
                    <a:pt x="977" y="3740"/>
                  </a:lnTo>
                  <a:close/>
                  <a:moveTo>
                    <a:pt x="0" y="1"/>
                  </a:moveTo>
                  <a:lnTo>
                    <a:pt x="0" y="5431"/>
                  </a:lnTo>
                  <a:lnTo>
                    <a:pt x="5406" y="5431"/>
                  </a:lnTo>
                  <a:cubicBezTo>
                    <a:pt x="5239" y="2501"/>
                    <a:pt x="2882" y="144"/>
                    <a:pt x="0" y="1"/>
                  </a:cubicBezTo>
                  <a:close/>
                </a:path>
              </a:pathLst>
            </a:custGeom>
            <a:solidFill>
              <a:srgbClr val="BF1F26"/>
            </a:solidFill>
            <a:ln>
              <a:noFill/>
            </a:ln>
          </p:spPr>
          <p:txBody>
            <a:bodyPr spcFirstLastPara="1" wrap="square" lIns="92450" tIns="92450" rIns="92450" bIns="92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20"/>
                <a:buFont typeface="Calibri"/>
                <a:buNone/>
              </a:pPr>
              <a:endParaRPr sz="182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64;p13">
              <a:extLst>
                <a:ext uri="{FF2B5EF4-FFF2-40B4-BE49-F238E27FC236}">
                  <a16:creationId xmlns:a16="http://schemas.microsoft.com/office/drawing/2014/main" id="{63AA420B-5758-BCA8-F8C6-4A8AC37D90DD}"/>
                </a:ext>
              </a:extLst>
            </p:cNvPr>
            <p:cNvSpPr/>
            <p:nvPr/>
          </p:nvSpPr>
          <p:spPr>
            <a:xfrm>
              <a:off x="6641782" y="2619119"/>
              <a:ext cx="146187" cy="146898"/>
            </a:xfrm>
            <a:custGeom>
              <a:avLst/>
              <a:gdLst/>
              <a:ahLst/>
              <a:cxnLst/>
              <a:rect l="l" t="t" r="r" b="b"/>
              <a:pathLst>
                <a:path w="4930" h="4954" extrusionOk="0">
                  <a:moveTo>
                    <a:pt x="0" y="0"/>
                  </a:moveTo>
                  <a:lnTo>
                    <a:pt x="0" y="4954"/>
                  </a:lnTo>
                  <a:cubicBezTo>
                    <a:pt x="2644" y="4763"/>
                    <a:pt x="4763" y="2668"/>
                    <a:pt x="4930" y="0"/>
                  </a:cubicBezTo>
                  <a:close/>
                </a:path>
              </a:pathLst>
            </a:custGeom>
            <a:solidFill>
              <a:srgbClr val="BF1F26"/>
            </a:solidFill>
            <a:ln>
              <a:noFill/>
            </a:ln>
          </p:spPr>
          <p:txBody>
            <a:bodyPr spcFirstLastPara="1" wrap="square" lIns="92450" tIns="92450" rIns="92450" bIns="92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20"/>
                <a:buFont typeface="Calibri"/>
                <a:buNone/>
              </a:pPr>
              <a:endParaRPr sz="182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65;p13">
              <a:extLst>
                <a:ext uri="{FF2B5EF4-FFF2-40B4-BE49-F238E27FC236}">
                  <a16:creationId xmlns:a16="http://schemas.microsoft.com/office/drawing/2014/main" id="{6FE1DC68-C6B8-CD91-00DB-CA6FAA0B2940}"/>
                </a:ext>
              </a:extLst>
            </p:cNvPr>
            <p:cNvSpPr/>
            <p:nvPr/>
          </p:nvSpPr>
          <p:spPr>
            <a:xfrm>
              <a:off x="6459594" y="2619119"/>
              <a:ext cx="161013" cy="161043"/>
            </a:xfrm>
            <a:custGeom>
              <a:avLst/>
              <a:gdLst/>
              <a:ahLst/>
              <a:cxnLst/>
              <a:rect l="l" t="t" r="r" b="b"/>
              <a:pathLst>
                <a:path w="5430" h="5431" extrusionOk="0">
                  <a:moveTo>
                    <a:pt x="4430" y="1001"/>
                  </a:moveTo>
                  <a:lnTo>
                    <a:pt x="4430" y="1668"/>
                  </a:lnTo>
                  <a:lnTo>
                    <a:pt x="2596" y="1668"/>
                  </a:lnTo>
                  <a:lnTo>
                    <a:pt x="2596" y="1001"/>
                  </a:lnTo>
                  <a:close/>
                  <a:moveTo>
                    <a:pt x="4430" y="2620"/>
                  </a:moveTo>
                  <a:lnTo>
                    <a:pt x="4430" y="3311"/>
                  </a:lnTo>
                  <a:lnTo>
                    <a:pt x="2596" y="3311"/>
                  </a:lnTo>
                  <a:lnTo>
                    <a:pt x="2596" y="2620"/>
                  </a:lnTo>
                  <a:close/>
                  <a:moveTo>
                    <a:pt x="0" y="0"/>
                  </a:moveTo>
                  <a:cubicBezTo>
                    <a:pt x="191" y="2930"/>
                    <a:pt x="2501" y="5240"/>
                    <a:pt x="5430" y="5430"/>
                  </a:cubicBezTo>
                  <a:lnTo>
                    <a:pt x="5430" y="0"/>
                  </a:lnTo>
                  <a:close/>
                </a:path>
              </a:pathLst>
            </a:custGeom>
            <a:solidFill>
              <a:srgbClr val="BF1F26"/>
            </a:solidFill>
            <a:ln>
              <a:noFill/>
            </a:ln>
          </p:spPr>
          <p:txBody>
            <a:bodyPr spcFirstLastPara="1" wrap="square" lIns="92450" tIns="92450" rIns="92450" bIns="92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20"/>
                <a:buFont typeface="Calibri"/>
                <a:buNone/>
              </a:pPr>
              <a:endParaRPr sz="182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05" name="Picture 104" descr="A graph of sales growth&#10;&#10;AI-generated content may be incorrect.">
            <a:extLst>
              <a:ext uri="{FF2B5EF4-FFF2-40B4-BE49-F238E27FC236}">
                <a16:creationId xmlns:a16="http://schemas.microsoft.com/office/drawing/2014/main" id="{E6686C41-B344-D13B-627B-B6741D3AA3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3824" y="2747231"/>
            <a:ext cx="2268078" cy="1644528"/>
          </a:xfrm>
          <a:prstGeom prst="rect">
            <a:avLst/>
          </a:prstGeom>
        </p:spPr>
      </p:pic>
      <p:sp>
        <p:nvSpPr>
          <p:cNvPr id="106" name="Google Shape;91;p13">
            <a:extLst>
              <a:ext uri="{FF2B5EF4-FFF2-40B4-BE49-F238E27FC236}">
                <a16:creationId xmlns:a16="http://schemas.microsoft.com/office/drawing/2014/main" id="{B3CABDC1-E65B-24C6-99B4-155C7EC0D39E}"/>
              </a:ext>
            </a:extLst>
          </p:cNvPr>
          <p:cNvSpPr/>
          <p:nvPr/>
        </p:nvSpPr>
        <p:spPr>
          <a:xfrm>
            <a:off x="8687832" y="1940396"/>
            <a:ext cx="188081" cy="176358"/>
          </a:xfrm>
          <a:prstGeom prst="ellipse">
            <a:avLst/>
          </a:prstGeom>
          <a:solidFill>
            <a:srgbClr val="F58820"/>
          </a:solidFill>
          <a:ln>
            <a:noFill/>
          </a:ln>
        </p:spPr>
        <p:txBody>
          <a:bodyPr spcFirstLastPara="1" wrap="square" lIns="69350" tIns="34650" rIns="69350" bIns="346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1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92;p13">
            <a:extLst>
              <a:ext uri="{FF2B5EF4-FFF2-40B4-BE49-F238E27FC236}">
                <a16:creationId xmlns:a16="http://schemas.microsoft.com/office/drawing/2014/main" id="{B5A646FF-40BB-0EC8-9D1C-B1CDDA879EF3}"/>
              </a:ext>
            </a:extLst>
          </p:cNvPr>
          <p:cNvSpPr txBox="1"/>
          <p:nvPr/>
        </p:nvSpPr>
        <p:spPr>
          <a:xfrm>
            <a:off x="8822199" y="1925658"/>
            <a:ext cx="2028037" cy="239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350" tIns="34650" rIns="69350" bIns="346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Admin &amp; Support (##% LF)</a:t>
            </a:r>
            <a:endParaRPr sz="11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91;p13">
            <a:extLst>
              <a:ext uri="{FF2B5EF4-FFF2-40B4-BE49-F238E27FC236}">
                <a16:creationId xmlns:a16="http://schemas.microsoft.com/office/drawing/2014/main" id="{6ED7F2ED-9428-ACFF-2FDB-2194E984A91B}"/>
              </a:ext>
            </a:extLst>
          </p:cNvPr>
          <p:cNvSpPr/>
          <p:nvPr/>
        </p:nvSpPr>
        <p:spPr>
          <a:xfrm>
            <a:off x="8691613" y="2219970"/>
            <a:ext cx="188081" cy="176358"/>
          </a:xfrm>
          <a:prstGeom prst="ellipse">
            <a:avLst/>
          </a:prstGeom>
          <a:solidFill>
            <a:srgbClr val="F58820"/>
          </a:solidFill>
          <a:ln>
            <a:noFill/>
          </a:ln>
        </p:spPr>
        <p:txBody>
          <a:bodyPr spcFirstLastPara="1" wrap="square" lIns="69350" tIns="34650" rIns="69350" bIns="346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1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92;p13">
            <a:extLst>
              <a:ext uri="{FF2B5EF4-FFF2-40B4-BE49-F238E27FC236}">
                <a16:creationId xmlns:a16="http://schemas.microsoft.com/office/drawing/2014/main" id="{0573201E-2712-4F58-A369-1ABDE2F1361F}"/>
              </a:ext>
            </a:extLst>
          </p:cNvPr>
          <p:cNvSpPr txBox="1"/>
          <p:nvPr/>
        </p:nvSpPr>
        <p:spPr>
          <a:xfrm>
            <a:off x="8875913" y="2186164"/>
            <a:ext cx="2841463" cy="239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350" tIns="34650" rIns="69350" bIns="346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Retail, F&amp;B, Hospitality (##% of LF)</a:t>
            </a:r>
            <a:endParaRPr sz="11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96;p13">
            <a:extLst>
              <a:ext uri="{FF2B5EF4-FFF2-40B4-BE49-F238E27FC236}">
                <a16:creationId xmlns:a16="http://schemas.microsoft.com/office/drawing/2014/main" id="{8B856697-5E11-D56C-5931-79EE56516F2B}"/>
              </a:ext>
            </a:extLst>
          </p:cNvPr>
          <p:cNvSpPr txBox="1"/>
          <p:nvPr/>
        </p:nvSpPr>
        <p:spPr>
          <a:xfrm>
            <a:off x="8682577" y="2603817"/>
            <a:ext cx="4547428" cy="239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350" tIns="34650" rIns="69350" bIns="34650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0"/>
            </a:pPr>
            <a:r>
              <a:rPr lang="en-US" sz="1100" u="sng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YoY Change in Demand per Top Sectors</a:t>
            </a:r>
            <a:endParaRPr sz="1100" u="sng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68;p13">
            <a:extLst>
              <a:ext uri="{FF2B5EF4-FFF2-40B4-BE49-F238E27FC236}">
                <a16:creationId xmlns:a16="http://schemas.microsoft.com/office/drawing/2014/main" id="{C29B43A1-BE23-AE24-76C4-4DD6F4F49D73}"/>
              </a:ext>
            </a:extLst>
          </p:cNvPr>
          <p:cNvSpPr/>
          <p:nvPr/>
        </p:nvSpPr>
        <p:spPr>
          <a:xfrm>
            <a:off x="8593936" y="1780683"/>
            <a:ext cx="3202217" cy="2700903"/>
          </a:xfrm>
          <a:prstGeom prst="rect">
            <a:avLst/>
          </a:prstGeom>
          <a:noFill/>
          <a:ln w="14450" cap="flat" cmpd="sng">
            <a:solidFill>
              <a:srgbClr val="BFBFBF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69350" tIns="34650" rIns="69350" bIns="346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Slide Number Placeholder 115">
            <a:extLst>
              <a:ext uri="{FF2B5EF4-FFF2-40B4-BE49-F238E27FC236}">
                <a16:creationId xmlns:a16="http://schemas.microsoft.com/office/drawing/2014/main" id="{4D2C151B-B35C-C85C-3BAD-9EF5C0B66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8585" y="6434260"/>
            <a:ext cx="2743200" cy="365125"/>
          </a:xfrm>
        </p:spPr>
        <p:txBody>
          <a:bodyPr/>
          <a:lstStyle/>
          <a:p>
            <a:fld id="{50B6FB21-2085-AB4E-A540-3FC8A1AE1B59}" type="slidenum">
              <a:rPr lang="en-US" smtClean="0"/>
              <a:t>2</a:t>
            </a:fld>
            <a:endParaRPr lang="en-US" dirty="0"/>
          </a:p>
        </p:txBody>
      </p:sp>
      <p:sp>
        <p:nvSpPr>
          <p:cNvPr id="117" name="Google Shape;96;p13">
            <a:extLst>
              <a:ext uri="{FF2B5EF4-FFF2-40B4-BE49-F238E27FC236}">
                <a16:creationId xmlns:a16="http://schemas.microsoft.com/office/drawing/2014/main" id="{C5173783-F4D3-4E27-177B-DFAF42967ADF}"/>
              </a:ext>
            </a:extLst>
          </p:cNvPr>
          <p:cNvSpPr txBox="1"/>
          <p:nvPr/>
        </p:nvSpPr>
        <p:spPr>
          <a:xfrm>
            <a:off x="856469" y="5652865"/>
            <a:ext cx="3328997" cy="408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350" tIns="34650" rIns="69350" bIns="34650" anchor="t" anchorCtr="0">
            <a:spAutoFit/>
          </a:bodyPr>
          <a:lstStyle/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Unemployment Rate: #.#%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Median age: ##</a:t>
            </a:r>
            <a:endParaRPr sz="11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FAD36D0B-3982-DD3A-5145-E53919957409}"/>
              </a:ext>
            </a:extLst>
          </p:cNvPr>
          <p:cNvSpPr/>
          <p:nvPr/>
        </p:nvSpPr>
        <p:spPr>
          <a:xfrm>
            <a:off x="720058" y="4727107"/>
            <a:ext cx="1506014" cy="789544"/>
          </a:xfrm>
          <a:prstGeom prst="rect">
            <a:avLst/>
          </a:prstGeom>
          <a:solidFill>
            <a:srgbClr val="F7F8D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B10A1AE-0A61-4AD2-82AA-181AD8C8A9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469" y="1228542"/>
            <a:ext cx="4149669" cy="2568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926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ectangle 113">
            <a:extLst>
              <a:ext uri="{FF2B5EF4-FFF2-40B4-BE49-F238E27FC236}">
                <a16:creationId xmlns:a16="http://schemas.microsoft.com/office/drawing/2014/main" id="{72B901FF-6517-ED86-2835-59319FB56FCD}"/>
              </a:ext>
            </a:extLst>
          </p:cNvPr>
          <p:cNvSpPr/>
          <p:nvPr/>
        </p:nvSpPr>
        <p:spPr>
          <a:xfrm>
            <a:off x="5897480" y="4562882"/>
            <a:ext cx="5901228" cy="170595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graph with red and orange bars&#10;&#10;AI-generated content may be incorrect.">
            <a:extLst>
              <a:ext uri="{FF2B5EF4-FFF2-40B4-BE49-F238E27FC236}">
                <a16:creationId xmlns:a16="http://schemas.microsoft.com/office/drawing/2014/main" id="{3D7A3EAD-B27A-1318-7DFF-20B4FF2D18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706" y="1268410"/>
            <a:ext cx="4115608" cy="25331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A3E48FD-F74B-5EC0-0EC4-DCB1A6DB4BDD}"/>
              </a:ext>
            </a:extLst>
          </p:cNvPr>
          <p:cNvSpPr txBox="1"/>
          <p:nvPr/>
        </p:nvSpPr>
        <p:spPr>
          <a:xfrm>
            <a:off x="432486" y="296562"/>
            <a:ext cx="112940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Region XX – one line summary about the potential of this region</a:t>
            </a:r>
          </a:p>
        </p:txBody>
      </p:sp>
      <p:cxnSp>
        <p:nvCxnSpPr>
          <p:cNvPr id="10" name="Google Shape;56;p13">
            <a:extLst>
              <a:ext uri="{FF2B5EF4-FFF2-40B4-BE49-F238E27FC236}">
                <a16:creationId xmlns:a16="http://schemas.microsoft.com/office/drawing/2014/main" id="{F157849F-D5CD-CAD3-A789-9925118A426D}"/>
              </a:ext>
            </a:extLst>
          </p:cNvPr>
          <p:cNvCxnSpPr>
            <a:cxnSpLocks/>
          </p:cNvCxnSpPr>
          <p:nvPr/>
        </p:nvCxnSpPr>
        <p:spPr>
          <a:xfrm>
            <a:off x="5990069" y="1219031"/>
            <a:ext cx="4207800" cy="0"/>
          </a:xfrm>
          <a:prstGeom prst="straightConnector1">
            <a:avLst/>
          </a:prstGeom>
          <a:noFill/>
          <a:ln w="21675" cap="flat" cmpd="sng">
            <a:solidFill>
              <a:srgbClr val="60111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" name="Google Shape;59;p13">
            <a:extLst>
              <a:ext uri="{FF2B5EF4-FFF2-40B4-BE49-F238E27FC236}">
                <a16:creationId xmlns:a16="http://schemas.microsoft.com/office/drawing/2014/main" id="{00D7244C-8199-87D9-4C58-F617BBD93249}"/>
              </a:ext>
            </a:extLst>
          </p:cNvPr>
          <p:cNvSpPr/>
          <p:nvPr/>
        </p:nvSpPr>
        <p:spPr>
          <a:xfrm>
            <a:off x="5990069" y="1429585"/>
            <a:ext cx="2339052" cy="25263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530" dist="28897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69350" tIns="34650" rIns="69350" bIns="346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60;p13">
            <a:extLst>
              <a:ext uri="{FF2B5EF4-FFF2-40B4-BE49-F238E27FC236}">
                <a16:creationId xmlns:a16="http://schemas.microsoft.com/office/drawing/2014/main" id="{E02E4414-898C-EE80-C145-A915569309B7}"/>
              </a:ext>
            </a:extLst>
          </p:cNvPr>
          <p:cNvSpPr txBox="1"/>
          <p:nvPr/>
        </p:nvSpPr>
        <p:spPr>
          <a:xfrm>
            <a:off x="6239134" y="1416839"/>
            <a:ext cx="1885228" cy="285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350" tIns="34650" rIns="69350" bIns="3465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dirty="0"/>
              <a:t>SUPPLY</a:t>
            </a:r>
            <a:endParaRPr sz="14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66;p13">
            <a:extLst>
              <a:ext uri="{FF2B5EF4-FFF2-40B4-BE49-F238E27FC236}">
                <a16:creationId xmlns:a16="http://schemas.microsoft.com/office/drawing/2014/main" id="{AD73CC25-E862-A5DB-9529-CBB44471FC8A}"/>
              </a:ext>
            </a:extLst>
          </p:cNvPr>
          <p:cNvSpPr/>
          <p:nvPr/>
        </p:nvSpPr>
        <p:spPr>
          <a:xfrm>
            <a:off x="6496140" y="1415371"/>
            <a:ext cx="245550" cy="230244"/>
          </a:xfrm>
          <a:custGeom>
            <a:avLst/>
            <a:gdLst/>
            <a:ahLst/>
            <a:cxnLst/>
            <a:rect l="l" t="t" r="r" b="b"/>
            <a:pathLst>
              <a:path w="11504" h="11504" extrusionOk="0">
                <a:moveTo>
                  <a:pt x="1" y="1"/>
                </a:moveTo>
                <a:lnTo>
                  <a:pt x="1" y="11503"/>
                </a:lnTo>
                <a:lnTo>
                  <a:pt x="11503" y="11503"/>
                </a:lnTo>
                <a:lnTo>
                  <a:pt x="11503" y="10241"/>
                </a:lnTo>
                <a:lnTo>
                  <a:pt x="10908" y="10241"/>
                </a:lnTo>
                <a:lnTo>
                  <a:pt x="10908" y="10789"/>
                </a:lnTo>
                <a:lnTo>
                  <a:pt x="10146" y="10789"/>
                </a:lnTo>
                <a:lnTo>
                  <a:pt x="10146" y="5026"/>
                </a:lnTo>
                <a:lnTo>
                  <a:pt x="8288" y="6383"/>
                </a:lnTo>
                <a:lnTo>
                  <a:pt x="7312" y="5931"/>
                </a:lnTo>
                <a:lnTo>
                  <a:pt x="5883" y="7574"/>
                </a:lnTo>
                <a:lnTo>
                  <a:pt x="4740" y="7002"/>
                </a:lnTo>
                <a:lnTo>
                  <a:pt x="3192" y="8907"/>
                </a:lnTo>
                <a:lnTo>
                  <a:pt x="2168" y="8526"/>
                </a:lnTo>
                <a:lnTo>
                  <a:pt x="763" y="10003"/>
                </a:lnTo>
                <a:lnTo>
                  <a:pt x="763" y="9027"/>
                </a:lnTo>
                <a:lnTo>
                  <a:pt x="1977" y="7717"/>
                </a:lnTo>
                <a:lnTo>
                  <a:pt x="3001" y="8098"/>
                </a:lnTo>
                <a:lnTo>
                  <a:pt x="4573" y="6169"/>
                </a:lnTo>
                <a:lnTo>
                  <a:pt x="5692" y="6740"/>
                </a:lnTo>
                <a:lnTo>
                  <a:pt x="7097" y="5097"/>
                </a:lnTo>
                <a:lnTo>
                  <a:pt x="8169" y="5597"/>
                </a:lnTo>
                <a:lnTo>
                  <a:pt x="10098" y="4240"/>
                </a:lnTo>
                <a:lnTo>
                  <a:pt x="10098" y="2192"/>
                </a:lnTo>
                <a:lnTo>
                  <a:pt x="8884" y="2954"/>
                </a:lnTo>
                <a:lnTo>
                  <a:pt x="7669" y="2716"/>
                </a:lnTo>
                <a:lnTo>
                  <a:pt x="5526" y="4811"/>
                </a:lnTo>
                <a:lnTo>
                  <a:pt x="4549" y="4478"/>
                </a:lnTo>
                <a:lnTo>
                  <a:pt x="2668" y="6502"/>
                </a:lnTo>
                <a:lnTo>
                  <a:pt x="1811" y="5954"/>
                </a:lnTo>
                <a:lnTo>
                  <a:pt x="739" y="7193"/>
                </a:lnTo>
                <a:lnTo>
                  <a:pt x="739" y="692"/>
                </a:lnTo>
                <a:lnTo>
                  <a:pt x="1263" y="692"/>
                </a:lnTo>
                <a:lnTo>
                  <a:pt x="1263" y="1"/>
                </a:lnTo>
                <a:close/>
              </a:path>
            </a:pathLst>
          </a:custGeom>
          <a:solidFill>
            <a:srgbClr val="BF1F26"/>
          </a:solidFill>
          <a:ln>
            <a:noFill/>
          </a:ln>
        </p:spPr>
        <p:txBody>
          <a:bodyPr spcFirstLastPara="1" wrap="square" lIns="92450" tIns="92450" rIns="92450" bIns="92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20"/>
              <a:buFont typeface="Calibri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68;p13">
            <a:extLst>
              <a:ext uri="{FF2B5EF4-FFF2-40B4-BE49-F238E27FC236}">
                <a16:creationId xmlns:a16="http://schemas.microsoft.com/office/drawing/2014/main" id="{69EB1CCA-BFC6-F419-CACD-939F43E65DA9}"/>
              </a:ext>
            </a:extLst>
          </p:cNvPr>
          <p:cNvSpPr/>
          <p:nvPr/>
        </p:nvSpPr>
        <p:spPr>
          <a:xfrm>
            <a:off x="5990069" y="1774005"/>
            <a:ext cx="2349726" cy="2707581"/>
          </a:xfrm>
          <a:prstGeom prst="rect">
            <a:avLst/>
          </a:prstGeom>
          <a:noFill/>
          <a:ln w="14450" cap="flat" cmpd="sng">
            <a:solidFill>
              <a:srgbClr val="BFBFBF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69350" tIns="34650" rIns="69350" bIns="346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71;p13">
            <a:extLst>
              <a:ext uri="{FF2B5EF4-FFF2-40B4-BE49-F238E27FC236}">
                <a16:creationId xmlns:a16="http://schemas.microsoft.com/office/drawing/2014/main" id="{C51D1E4A-945F-980F-32C6-3BA8038718AA}"/>
              </a:ext>
            </a:extLst>
          </p:cNvPr>
          <p:cNvSpPr txBox="1"/>
          <p:nvPr/>
        </p:nvSpPr>
        <p:spPr>
          <a:xfrm>
            <a:off x="6386202" y="1820413"/>
            <a:ext cx="1226024" cy="239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350" tIns="34650" rIns="69350" bIns="3465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i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Price driver</a:t>
            </a:r>
            <a:endParaRPr sz="1100" b="1" i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87;p13">
            <a:extLst>
              <a:ext uri="{FF2B5EF4-FFF2-40B4-BE49-F238E27FC236}">
                <a16:creationId xmlns:a16="http://schemas.microsoft.com/office/drawing/2014/main" id="{CB46389A-1EA6-A1CD-D095-F5CE39405D70}"/>
              </a:ext>
            </a:extLst>
          </p:cNvPr>
          <p:cNvSpPr/>
          <p:nvPr/>
        </p:nvSpPr>
        <p:spPr>
          <a:xfrm>
            <a:off x="6062637" y="1808417"/>
            <a:ext cx="2175263" cy="238480"/>
          </a:xfrm>
          <a:prstGeom prst="roundRect">
            <a:avLst>
              <a:gd name="adj" fmla="val 16667"/>
            </a:avLst>
          </a:prstGeom>
          <a:solidFill>
            <a:srgbClr val="BF1F26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9350" tIns="34650" rIns="69350" bIns="346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88;p13">
            <a:extLst>
              <a:ext uri="{FF2B5EF4-FFF2-40B4-BE49-F238E27FC236}">
                <a16:creationId xmlns:a16="http://schemas.microsoft.com/office/drawing/2014/main" id="{693A932C-1582-98AE-510A-94BA66E365CB}"/>
              </a:ext>
            </a:extLst>
          </p:cNvPr>
          <p:cNvSpPr txBox="1"/>
          <p:nvPr/>
        </p:nvSpPr>
        <p:spPr>
          <a:xfrm>
            <a:off x="6123366" y="1804158"/>
            <a:ext cx="1982374" cy="239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350" tIns="34650" rIns="69350" bIns="3465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Grads/yr: ###,###</a:t>
            </a:r>
            <a:endParaRPr sz="1100" b="1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89;p13">
            <a:extLst>
              <a:ext uri="{FF2B5EF4-FFF2-40B4-BE49-F238E27FC236}">
                <a16:creationId xmlns:a16="http://schemas.microsoft.com/office/drawing/2014/main" id="{F07C68D2-CC23-BCF0-2EB0-A4FF057BA244}"/>
              </a:ext>
            </a:extLst>
          </p:cNvPr>
          <p:cNvSpPr/>
          <p:nvPr/>
        </p:nvSpPr>
        <p:spPr>
          <a:xfrm>
            <a:off x="6062637" y="2080758"/>
            <a:ext cx="2175263" cy="238480"/>
          </a:xfrm>
          <a:prstGeom prst="roundRect">
            <a:avLst>
              <a:gd name="adj" fmla="val 16667"/>
            </a:avLst>
          </a:prstGeom>
          <a:solidFill>
            <a:srgbClr val="BF1F26"/>
          </a:solidFill>
          <a:ln>
            <a:noFill/>
          </a:ln>
        </p:spPr>
        <p:txBody>
          <a:bodyPr spcFirstLastPara="1" wrap="square" lIns="69350" tIns="34650" rIns="69350" bIns="346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90;p13">
            <a:extLst>
              <a:ext uri="{FF2B5EF4-FFF2-40B4-BE49-F238E27FC236}">
                <a16:creationId xmlns:a16="http://schemas.microsoft.com/office/drawing/2014/main" id="{0DE0840B-0BF4-CE5E-A42C-CFDA213F2143}"/>
              </a:ext>
            </a:extLst>
          </p:cNvPr>
          <p:cNvSpPr txBox="1"/>
          <p:nvPr/>
        </p:nvSpPr>
        <p:spPr>
          <a:xfrm>
            <a:off x="6071838" y="2084964"/>
            <a:ext cx="2099258" cy="239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350" tIns="34650" rIns="69350" bIns="3465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New entrant in LF/yr: ##,####</a:t>
            </a:r>
            <a:endParaRPr sz="1100" b="1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91;p13">
            <a:extLst>
              <a:ext uri="{FF2B5EF4-FFF2-40B4-BE49-F238E27FC236}">
                <a16:creationId xmlns:a16="http://schemas.microsoft.com/office/drawing/2014/main" id="{940A31DE-ABEE-09B2-6384-59E82A2D34E7}"/>
              </a:ext>
            </a:extLst>
          </p:cNvPr>
          <p:cNvSpPr/>
          <p:nvPr/>
        </p:nvSpPr>
        <p:spPr>
          <a:xfrm>
            <a:off x="6103637" y="2468137"/>
            <a:ext cx="188081" cy="176358"/>
          </a:xfrm>
          <a:prstGeom prst="ellipse">
            <a:avLst/>
          </a:prstGeom>
          <a:solidFill>
            <a:srgbClr val="F58820"/>
          </a:solidFill>
          <a:ln>
            <a:noFill/>
          </a:ln>
        </p:spPr>
        <p:txBody>
          <a:bodyPr spcFirstLastPara="1" wrap="square" lIns="69350" tIns="34650" rIns="69350" bIns="346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1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92;p13">
            <a:extLst>
              <a:ext uri="{FF2B5EF4-FFF2-40B4-BE49-F238E27FC236}">
                <a16:creationId xmlns:a16="http://schemas.microsoft.com/office/drawing/2014/main" id="{A6F4D29C-8041-AF0D-D5EF-7F051AE7EA03}"/>
              </a:ext>
            </a:extLst>
          </p:cNvPr>
          <p:cNvSpPr txBox="1"/>
          <p:nvPr/>
        </p:nvSpPr>
        <p:spPr>
          <a:xfrm>
            <a:off x="6238004" y="2453399"/>
            <a:ext cx="2028037" cy="239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350" tIns="34650" rIns="69350" bIns="346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SHS, TVET</a:t>
            </a:r>
            <a:endParaRPr sz="11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93;p13">
            <a:extLst>
              <a:ext uri="{FF2B5EF4-FFF2-40B4-BE49-F238E27FC236}">
                <a16:creationId xmlns:a16="http://schemas.microsoft.com/office/drawing/2014/main" id="{D5925A50-FD28-6BDC-341C-19F92E7780EA}"/>
              </a:ext>
            </a:extLst>
          </p:cNvPr>
          <p:cNvSpPr txBox="1"/>
          <p:nvPr/>
        </p:nvSpPr>
        <p:spPr>
          <a:xfrm>
            <a:off x="6072288" y="2707391"/>
            <a:ext cx="2141769" cy="916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350" tIns="34650" rIns="69350" bIns="34650" anchor="t" anchorCtr="0">
            <a:spAutoFit/>
          </a:bodyPr>
          <a:lstStyle/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##,### SHS, with ###,### of annual graduates, with </a:t>
            </a:r>
            <a:r>
              <a:rPr lang="en-US" sz="1100" b="1" dirty="0">
                <a:solidFill>
                  <a:srgbClr val="000000"/>
                </a:solidFill>
              </a:rPr>
              <a:t>##,###  </a:t>
            </a:r>
            <a:r>
              <a:rPr lang="en-US" sz="1100" dirty="0">
                <a:solidFill>
                  <a:srgbClr val="000000"/>
                </a:solidFill>
              </a:rPr>
              <a:t>entering labor force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### TVET schools, with </a:t>
            </a:r>
            <a:r>
              <a:rPr lang="en-US" sz="1100" b="1" dirty="0">
                <a:solidFill>
                  <a:srgbClr val="000000"/>
                </a:solidFill>
              </a:rPr>
              <a:t>##,###</a:t>
            </a:r>
            <a:r>
              <a:rPr lang="en-US" sz="1100" dirty="0">
                <a:solidFill>
                  <a:srgbClr val="000000"/>
                </a:solidFill>
              </a:rPr>
              <a:t> graduates</a:t>
            </a:r>
            <a:endParaRPr sz="1100" dirty="0">
              <a:solidFill>
                <a:srgbClr val="000000"/>
              </a:solidFill>
            </a:endParaRPr>
          </a:p>
        </p:txBody>
      </p:sp>
      <p:cxnSp>
        <p:nvCxnSpPr>
          <p:cNvPr id="47" name="Google Shape;94;p13">
            <a:extLst>
              <a:ext uri="{FF2B5EF4-FFF2-40B4-BE49-F238E27FC236}">
                <a16:creationId xmlns:a16="http://schemas.microsoft.com/office/drawing/2014/main" id="{A1FA9B8A-455C-33E6-10A0-E4CCCDE2B8AF}"/>
              </a:ext>
            </a:extLst>
          </p:cNvPr>
          <p:cNvCxnSpPr>
            <a:cxnSpLocks/>
          </p:cNvCxnSpPr>
          <p:nvPr/>
        </p:nvCxnSpPr>
        <p:spPr>
          <a:xfrm>
            <a:off x="6044684" y="2357172"/>
            <a:ext cx="2196979" cy="0"/>
          </a:xfrm>
          <a:prstGeom prst="straightConnector1">
            <a:avLst/>
          </a:prstGeom>
          <a:noFill/>
          <a:ln w="12050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8" name="Google Shape;95;p13">
            <a:extLst>
              <a:ext uri="{FF2B5EF4-FFF2-40B4-BE49-F238E27FC236}">
                <a16:creationId xmlns:a16="http://schemas.microsoft.com/office/drawing/2014/main" id="{CABD8BAB-44E9-AE61-23C2-0C6F46587F21}"/>
              </a:ext>
            </a:extLst>
          </p:cNvPr>
          <p:cNvSpPr txBox="1"/>
          <p:nvPr/>
        </p:nvSpPr>
        <p:spPr>
          <a:xfrm>
            <a:off x="5923548" y="4654672"/>
            <a:ext cx="1295044" cy="285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350" tIns="34650" rIns="69350" bIns="3465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dirty="0">
                <a:solidFill>
                  <a:srgbClr val="BF1F26"/>
                </a:solidFill>
                <a:latin typeface="Arial"/>
                <a:ea typeface="Arial"/>
                <a:cs typeface="Arial"/>
                <a:sym typeface="Arial"/>
              </a:rPr>
              <a:t>Insights</a:t>
            </a:r>
            <a:endParaRPr sz="1400" b="1" dirty="0">
              <a:solidFill>
                <a:srgbClr val="BF1F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96;p13">
            <a:extLst>
              <a:ext uri="{FF2B5EF4-FFF2-40B4-BE49-F238E27FC236}">
                <a16:creationId xmlns:a16="http://schemas.microsoft.com/office/drawing/2014/main" id="{C418F69A-48F6-59DA-6198-6FE251752123}"/>
              </a:ext>
            </a:extLst>
          </p:cNvPr>
          <p:cNvSpPr txBox="1"/>
          <p:nvPr/>
        </p:nvSpPr>
        <p:spPr>
          <a:xfrm>
            <a:off x="5897479" y="4931817"/>
            <a:ext cx="5665255" cy="747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350" tIns="34650" rIns="69350" bIns="34650" anchor="t" anchorCtr="0">
            <a:spAutoFit/>
          </a:bodyPr>
          <a:lstStyle/>
          <a:p>
            <a:pPr marL="130037" marR="0" lvl="0" indent="-130038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0"/>
              <a:buFont typeface="Arial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each region, depends on what the insight per region for the supply vs demand drivers </a:t>
            </a:r>
          </a:p>
          <a:p>
            <a:pPr marL="130037" marR="0" lvl="0" indent="-130038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0"/>
              <a:buFont typeface="Arial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TESDA NCs which are supplying for the sectors are NC xxx, and NC </a:t>
            </a:r>
            <a:r>
              <a:rPr lang="en-US" sz="11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xxxx</a:t>
            </a:r>
            <a:endParaRPr lang="en-US" sz="11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0037" marR="0" lvl="0" indent="-130038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0"/>
              <a:buFont typeface="Arial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Other points you want to add</a:t>
            </a:r>
            <a:endParaRPr sz="11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" name="Google Shape;97;p13">
            <a:extLst>
              <a:ext uri="{FF2B5EF4-FFF2-40B4-BE49-F238E27FC236}">
                <a16:creationId xmlns:a16="http://schemas.microsoft.com/office/drawing/2014/main" id="{8A525021-E2DD-6E58-6B85-C79147EE4D23}"/>
              </a:ext>
            </a:extLst>
          </p:cNvPr>
          <p:cNvGrpSpPr/>
          <p:nvPr/>
        </p:nvGrpSpPr>
        <p:grpSpPr>
          <a:xfrm>
            <a:off x="6741690" y="4691334"/>
            <a:ext cx="221945" cy="207590"/>
            <a:chOff x="-4118225" y="3990475"/>
            <a:chExt cx="292225" cy="273325"/>
          </a:xfrm>
        </p:grpSpPr>
        <p:sp>
          <p:nvSpPr>
            <p:cNvPr id="51" name="Google Shape;98;p13">
              <a:extLst>
                <a:ext uri="{FF2B5EF4-FFF2-40B4-BE49-F238E27FC236}">
                  <a16:creationId xmlns:a16="http://schemas.microsoft.com/office/drawing/2014/main" id="{96E217DD-5480-9CF1-83C0-A08ED0EA2D5E}"/>
                </a:ext>
              </a:extLst>
            </p:cNvPr>
            <p:cNvSpPr/>
            <p:nvPr/>
          </p:nvSpPr>
          <p:spPr>
            <a:xfrm>
              <a:off x="-3963850" y="4040100"/>
              <a:ext cx="51200" cy="51225"/>
            </a:xfrm>
            <a:custGeom>
              <a:avLst/>
              <a:gdLst/>
              <a:ahLst/>
              <a:cxnLst/>
              <a:rect l="l" t="t" r="r" b="b"/>
              <a:pathLst>
                <a:path w="2048" h="2049" extrusionOk="0">
                  <a:moveTo>
                    <a:pt x="1008" y="0"/>
                  </a:moveTo>
                  <a:cubicBezTo>
                    <a:pt x="473" y="0"/>
                    <a:pt x="0" y="473"/>
                    <a:pt x="0" y="1040"/>
                  </a:cubicBezTo>
                  <a:cubicBezTo>
                    <a:pt x="0" y="1607"/>
                    <a:pt x="473" y="2048"/>
                    <a:pt x="1008" y="2048"/>
                  </a:cubicBezTo>
                  <a:cubicBezTo>
                    <a:pt x="1575" y="2048"/>
                    <a:pt x="2048" y="1607"/>
                    <a:pt x="2048" y="1040"/>
                  </a:cubicBezTo>
                  <a:cubicBezTo>
                    <a:pt x="2048" y="473"/>
                    <a:pt x="1575" y="0"/>
                    <a:pt x="1008" y="0"/>
                  </a:cubicBezTo>
                  <a:close/>
                </a:path>
              </a:pathLst>
            </a:custGeom>
            <a:solidFill>
              <a:srgbClr val="BF1F26"/>
            </a:solidFill>
            <a:ln>
              <a:noFill/>
            </a:ln>
          </p:spPr>
          <p:txBody>
            <a:bodyPr spcFirstLastPara="1" wrap="square" lIns="92450" tIns="92450" rIns="92450" bIns="92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20"/>
                <a:buFont typeface="Calibri"/>
                <a:buNone/>
              </a:pPr>
              <a:endParaRPr sz="182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99;p13">
              <a:extLst>
                <a:ext uri="{FF2B5EF4-FFF2-40B4-BE49-F238E27FC236}">
                  <a16:creationId xmlns:a16="http://schemas.microsoft.com/office/drawing/2014/main" id="{D5BDD179-B343-BA0C-0439-64916DA0CC08}"/>
                </a:ext>
              </a:extLst>
            </p:cNvPr>
            <p:cNvSpPr/>
            <p:nvPr/>
          </p:nvSpPr>
          <p:spPr>
            <a:xfrm>
              <a:off x="-4015050" y="3990475"/>
              <a:ext cx="153600" cy="153625"/>
            </a:xfrm>
            <a:custGeom>
              <a:avLst/>
              <a:gdLst/>
              <a:ahLst/>
              <a:cxnLst/>
              <a:rect l="l" t="t" r="r" b="b"/>
              <a:pathLst>
                <a:path w="6144" h="6145" extrusionOk="0">
                  <a:moveTo>
                    <a:pt x="3056" y="1324"/>
                  </a:moveTo>
                  <a:cubicBezTo>
                    <a:pt x="4001" y="1324"/>
                    <a:pt x="4757" y="2080"/>
                    <a:pt x="4757" y="3025"/>
                  </a:cubicBezTo>
                  <a:cubicBezTo>
                    <a:pt x="4757" y="3970"/>
                    <a:pt x="4033" y="4726"/>
                    <a:pt x="3056" y="4726"/>
                  </a:cubicBezTo>
                  <a:cubicBezTo>
                    <a:pt x="2111" y="4726"/>
                    <a:pt x="1386" y="3970"/>
                    <a:pt x="1386" y="3025"/>
                  </a:cubicBezTo>
                  <a:cubicBezTo>
                    <a:pt x="1386" y="2080"/>
                    <a:pt x="2111" y="1324"/>
                    <a:pt x="3056" y="1324"/>
                  </a:cubicBezTo>
                  <a:close/>
                  <a:moveTo>
                    <a:pt x="3056" y="1"/>
                  </a:moveTo>
                  <a:cubicBezTo>
                    <a:pt x="1386" y="1"/>
                    <a:pt x="0" y="1355"/>
                    <a:pt x="0" y="3057"/>
                  </a:cubicBezTo>
                  <a:cubicBezTo>
                    <a:pt x="0" y="4758"/>
                    <a:pt x="1323" y="6144"/>
                    <a:pt x="3056" y="6144"/>
                  </a:cubicBezTo>
                  <a:cubicBezTo>
                    <a:pt x="4757" y="6144"/>
                    <a:pt x="6144" y="4758"/>
                    <a:pt x="6144" y="3057"/>
                  </a:cubicBezTo>
                  <a:cubicBezTo>
                    <a:pt x="6144" y="1355"/>
                    <a:pt x="4757" y="1"/>
                    <a:pt x="3056" y="1"/>
                  </a:cubicBezTo>
                  <a:close/>
                </a:path>
              </a:pathLst>
            </a:custGeom>
            <a:solidFill>
              <a:srgbClr val="BF1F26"/>
            </a:solidFill>
            <a:ln>
              <a:noFill/>
            </a:ln>
          </p:spPr>
          <p:txBody>
            <a:bodyPr spcFirstLastPara="1" wrap="square" lIns="92450" tIns="92450" rIns="92450" bIns="92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20"/>
                <a:buFont typeface="Calibri"/>
                <a:buNone/>
              </a:pPr>
              <a:endParaRPr sz="182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100;p13">
              <a:extLst>
                <a:ext uri="{FF2B5EF4-FFF2-40B4-BE49-F238E27FC236}">
                  <a16:creationId xmlns:a16="http://schemas.microsoft.com/office/drawing/2014/main" id="{9B21915F-C705-4012-A945-8819F6FC065F}"/>
                </a:ext>
              </a:extLst>
            </p:cNvPr>
            <p:cNvSpPr/>
            <p:nvPr/>
          </p:nvSpPr>
          <p:spPr>
            <a:xfrm>
              <a:off x="-4118225" y="4144075"/>
              <a:ext cx="33875" cy="119725"/>
            </a:xfrm>
            <a:custGeom>
              <a:avLst/>
              <a:gdLst/>
              <a:ahLst/>
              <a:cxnLst/>
              <a:rect l="l" t="t" r="r" b="b"/>
              <a:pathLst>
                <a:path w="1355" h="4789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4442"/>
                  </a:lnTo>
                  <a:cubicBezTo>
                    <a:pt x="0" y="4631"/>
                    <a:pt x="158" y="4789"/>
                    <a:pt x="347" y="4789"/>
                  </a:cubicBezTo>
                  <a:lnTo>
                    <a:pt x="1008" y="4789"/>
                  </a:lnTo>
                  <a:cubicBezTo>
                    <a:pt x="1134" y="4789"/>
                    <a:pt x="1260" y="4757"/>
                    <a:pt x="1355" y="4726"/>
                  </a:cubicBezTo>
                  <a:lnTo>
                    <a:pt x="1355" y="63"/>
                  </a:lnTo>
                  <a:cubicBezTo>
                    <a:pt x="1260" y="32"/>
                    <a:pt x="1134" y="0"/>
                    <a:pt x="1008" y="0"/>
                  </a:cubicBezTo>
                  <a:close/>
                </a:path>
              </a:pathLst>
            </a:custGeom>
            <a:solidFill>
              <a:srgbClr val="BF1F26"/>
            </a:solidFill>
            <a:ln>
              <a:noFill/>
            </a:ln>
          </p:spPr>
          <p:txBody>
            <a:bodyPr spcFirstLastPara="1" wrap="square" lIns="92450" tIns="92450" rIns="92450" bIns="92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20"/>
                <a:buFont typeface="Calibri"/>
                <a:buNone/>
              </a:pPr>
              <a:endParaRPr sz="182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101;p13">
              <a:extLst>
                <a:ext uri="{FF2B5EF4-FFF2-40B4-BE49-F238E27FC236}">
                  <a16:creationId xmlns:a16="http://schemas.microsoft.com/office/drawing/2014/main" id="{9B876A3F-541F-03CE-F8D5-D2AB17BEB56D}"/>
                </a:ext>
              </a:extLst>
            </p:cNvPr>
            <p:cNvSpPr/>
            <p:nvPr/>
          </p:nvSpPr>
          <p:spPr>
            <a:xfrm>
              <a:off x="-4067050" y="4143750"/>
              <a:ext cx="241050" cy="120050"/>
            </a:xfrm>
            <a:custGeom>
              <a:avLst/>
              <a:gdLst/>
              <a:ahLst/>
              <a:cxnLst/>
              <a:rect l="l" t="t" r="r" b="b"/>
              <a:pathLst>
                <a:path w="9642" h="4802" extrusionOk="0">
                  <a:moveTo>
                    <a:pt x="1750" y="1"/>
                  </a:moveTo>
                  <a:cubicBezTo>
                    <a:pt x="1124" y="1"/>
                    <a:pt x="537" y="197"/>
                    <a:pt x="1" y="549"/>
                  </a:cubicBezTo>
                  <a:lnTo>
                    <a:pt x="1" y="4550"/>
                  </a:lnTo>
                  <a:cubicBezTo>
                    <a:pt x="410" y="4707"/>
                    <a:pt x="883" y="4802"/>
                    <a:pt x="1356" y="4802"/>
                  </a:cubicBezTo>
                  <a:lnTo>
                    <a:pt x="5294" y="4802"/>
                  </a:lnTo>
                  <a:cubicBezTo>
                    <a:pt x="5735" y="4802"/>
                    <a:pt x="6144" y="4644"/>
                    <a:pt x="6459" y="4392"/>
                  </a:cubicBezTo>
                  <a:cubicBezTo>
                    <a:pt x="6459" y="4392"/>
                    <a:pt x="8507" y="2502"/>
                    <a:pt x="9169" y="1872"/>
                  </a:cubicBezTo>
                  <a:cubicBezTo>
                    <a:pt x="9169" y="1872"/>
                    <a:pt x="9547" y="1399"/>
                    <a:pt x="9547" y="1021"/>
                  </a:cubicBezTo>
                  <a:cubicBezTo>
                    <a:pt x="9641" y="454"/>
                    <a:pt x="9169" y="13"/>
                    <a:pt x="8602" y="13"/>
                  </a:cubicBezTo>
                  <a:cubicBezTo>
                    <a:pt x="8413" y="13"/>
                    <a:pt x="7751" y="202"/>
                    <a:pt x="6711" y="1777"/>
                  </a:cubicBezTo>
                  <a:cubicBezTo>
                    <a:pt x="6333" y="2376"/>
                    <a:pt x="5766" y="2754"/>
                    <a:pt x="5199" y="2754"/>
                  </a:cubicBezTo>
                  <a:lnTo>
                    <a:pt x="2710" y="2754"/>
                  </a:lnTo>
                  <a:cubicBezTo>
                    <a:pt x="2584" y="2754"/>
                    <a:pt x="2458" y="2849"/>
                    <a:pt x="2395" y="2975"/>
                  </a:cubicBezTo>
                  <a:cubicBezTo>
                    <a:pt x="2333" y="3099"/>
                    <a:pt x="2223" y="3152"/>
                    <a:pt x="2110" y="3152"/>
                  </a:cubicBezTo>
                  <a:cubicBezTo>
                    <a:pt x="1880" y="3152"/>
                    <a:pt x="1638" y="2934"/>
                    <a:pt x="1765" y="2660"/>
                  </a:cubicBezTo>
                  <a:cubicBezTo>
                    <a:pt x="1923" y="2344"/>
                    <a:pt x="2238" y="2092"/>
                    <a:pt x="2616" y="2092"/>
                  </a:cubicBezTo>
                  <a:lnTo>
                    <a:pt x="5231" y="2092"/>
                  </a:lnTo>
                  <a:cubicBezTo>
                    <a:pt x="6081" y="2061"/>
                    <a:pt x="6081" y="706"/>
                    <a:pt x="5136" y="706"/>
                  </a:cubicBezTo>
                  <a:lnTo>
                    <a:pt x="3844" y="706"/>
                  </a:lnTo>
                  <a:cubicBezTo>
                    <a:pt x="3116" y="220"/>
                    <a:pt x="2412" y="1"/>
                    <a:pt x="1750" y="1"/>
                  </a:cubicBezTo>
                  <a:close/>
                </a:path>
              </a:pathLst>
            </a:custGeom>
            <a:solidFill>
              <a:srgbClr val="BF1F26"/>
            </a:solidFill>
            <a:ln>
              <a:noFill/>
            </a:ln>
          </p:spPr>
          <p:txBody>
            <a:bodyPr spcFirstLastPara="1" wrap="square" lIns="92450" tIns="92450" rIns="92450" bIns="92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20"/>
                <a:buFont typeface="Calibri"/>
                <a:buNone/>
              </a:pPr>
              <a:endParaRPr sz="182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1" name="Google Shape;57;p13">
            <a:extLst>
              <a:ext uri="{FF2B5EF4-FFF2-40B4-BE49-F238E27FC236}">
                <a16:creationId xmlns:a16="http://schemas.microsoft.com/office/drawing/2014/main" id="{9E7ACF0B-370C-60D7-911F-6DDFCB891F1A}"/>
              </a:ext>
            </a:extLst>
          </p:cNvPr>
          <p:cNvSpPr txBox="1"/>
          <p:nvPr/>
        </p:nvSpPr>
        <p:spPr>
          <a:xfrm>
            <a:off x="596836" y="915785"/>
            <a:ext cx="4539151" cy="303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350" tIns="34650" rIns="69350" bIns="346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16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Regional Economy and Labor Force Overview</a:t>
            </a:r>
            <a:endParaRPr sz="1516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" name="Picture 64" descr="A screenshot of a graph&#10;&#10;AI-generated content may be incorrect.">
            <a:extLst>
              <a:ext uri="{FF2B5EF4-FFF2-40B4-BE49-F238E27FC236}">
                <a16:creationId xmlns:a16="http://schemas.microsoft.com/office/drawing/2014/main" id="{DAEBD249-185C-8D8A-9238-569EA349D13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6807"/>
          <a:stretch>
            <a:fillRect/>
          </a:stretch>
        </p:blipFill>
        <p:spPr>
          <a:xfrm>
            <a:off x="767103" y="4682262"/>
            <a:ext cx="4475727" cy="1012020"/>
          </a:xfrm>
          <a:prstGeom prst="rect">
            <a:avLst/>
          </a:prstGeom>
        </p:spPr>
      </p:pic>
      <p:sp>
        <p:nvSpPr>
          <p:cNvPr id="66" name="Rectangle 65">
            <a:extLst>
              <a:ext uri="{FF2B5EF4-FFF2-40B4-BE49-F238E27FC236}">
                <a16:creationId xmlns:a16="http://schemas.microsoft.com/office/drawing/2014/main" id="{11BCF22F-E946-492B-3A60-A5B130F0BFB5}"/>
              </a:ext>
            </a:extLst>
          </p:cNvPr>
          <p:cNvSpPr/>
          <p:nvPr/>
        </p:nvSpPr>
        <p:spPr>
          <a:xfrm>
            <a:off x="479879" y="849157"/>
            <a:ext cx="5027786" cy="55023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Google Shape;96;p13">
            <a:extLst>
              <a:ext uri="{FF2B5EF4-FFF2-40B4-BE49-F238E27FC236}">
                <a16:creationId xmlns:a16="http://schemas.microsoft.com/office/drawing/2014/main" id="{8DE559BF-09BD-CFEB-4EE1-FA00BEA214FE}"/>
              </a:ext>
            </a:extLst>
          </p:cNvPr>
          <p:cNvSpPr txBox="1"/>
          <p:nvPr/>
        </p:nvSpPr>
        <p:spPr>
          <a:xfrm>
            <a:off x="720058" y="3806646"/>
            <a:ext cx="4547428" cy="408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350" tIns="34650" rIns="69350" bIns="34650" anchor="t" anchorCtr="0">
            <a:spAutoFit/>
          </a:bodyPr>
          <a:lstStyle/>
          <a:p>
            <a:pPr marL="130037" marR="0" lvl="0" indent="-130038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0"/>
              <a:buFont typeface="Arial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GDP (2024, USD): US$##.## bn </a:t>
            </a:r>
          </a:p>
          <a:p>
            <a:pPr marL="130037" marR="0" lvl="0" indent="-130038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0"/>
              <a:buFont typeface="Arial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Regional Share of GDP vs National (##%) </a:t>
            </a:r>
            <a:endParaRPr sz="11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" name="Google Shape;112;p13">
            <a:extLst>
              <a:ext uri="{FF2B5EF4-FFF2-40B4-BE49-F238E27FC236}">
                <a16:creationId xmlns:a16="http://schemas.microsoft.com/office/drawing/2014/main" id="{B5C9BF68-FF24-690E-6E77-56F9955100DB}"/>
              </a:ext>
            </a:extLst>
          </p:cNvPr>
          <p:cNvCxnSpPr>
            <a:cxnSpLocks/>
          </p:cNvCxnSpPr>
          <p:nvPr/>
        </p:nvCxnSpPr>
        <p:spPr>
          <a:xfrm>
            <a:off x="330215" y="6487758"/>
            <a:ext cx="11136855" cy="0"/>
          </a:xfrm>
          <a:prstGeom prst="straightConnector1">
            <a:avLst/>
          </a:prstGeom>
          <a:noFill/>
          <a:ln w="21675" cap="flat" cmpd="sng">
            <a:solidFill>
              <a:srgbClr val="60111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9" name="Google Shape;113;p13">
            <a:extLst>
              <a:ext uri="{FF2B5EF4-FFF2-40B4-BE49-F238E27FC236}">
                <a16:creationId xmlns:a16="http://schemas.microsoft.com/office/drawing/2014/main" id="{4A863668-6758-8824-4391-035CB6B76C39}"/>
              </a:ext>
            </a:extLst>
          </p:cNvPr>
          <p:cNvSpPr txBox="1"/>
          <p:nvPr/>
        </p:nvSpPr>
        <p:spPr>
          <a:xfrm>
            <a:off x="330215" y="6537138"/>
            <a:ext cx="10308288" cy="326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350" tIns="34650" rIns="69350" bIns="346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34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Reference: FX applied USD: PHP: 1: 55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34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Sources: [link], [report]</a:t>
            </a:r>
            <a:endParaRPr sz="834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57;p13">
            <a:extLst>
              <a:ext uri="{FF2B5EF4-FFF2-40B4-BE49-F238E27FC236}">
                <a16:creationId xmlns:a16="http://schemas.microsoft.com/office/drawing/2014/main" id="{B00A8AF8-790B-078A-4A3D-DEE67867E0F1}"/>
              </a:ext>
            </a:extLst>
          </p:cNvPr>
          <p:cNvSpPr txBox="1"/>
          <p:nvPr/>
        </p:nvSpPr>
        <p:spPr>
          <a:xfrm>
            <a:off x="5897480" y="894416"/>
            <a:ext cx="4539151" cy="303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350" tIns="34650" rIns="69350" bIns="346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16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Talent Supply and Demand Drivers</a:t>
            </a:r>
            <a:endParaRPr sz="1516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91;p13">
            <a:extLst>
              <a:ext uri="{FF2B5EF4-FFF2-40B4-BE49-F238E27FC236}">
                <a16:creationId xmlns:a16="http://schemas.microsoft.com/office/drawing/2014/main" id="{D3EAFDD3-C9BF-C150-9D2F-CCC90907C67D}"/>
              </a:ext>
            </a:extLst>
          </p:cNvPr>
          <p:cNvSpPr/>
          <p:nvPr/>
        </p:nvSpPr>
        <p:spPr>
          <a:xfrm>
            <a:off x="6029326" y="3642494"/>
            <a:ext cx="188081" cy="176358"/>
          </a:xfrm>
          <a:prstGeom prst="ellipse">
            <a:avLst/>
          </a:prstGeom>
          <a:solidFill>
            <a:srgbClr val="F58820"/>
          </a:solidFill>
          <a:ln>
            <a:noFill/>
          </a:ln>
        </p:spPr>
        <p:txBody>
          <a:bodyPr spcFirstLastPara="1" wrap="square" lIns="69350" tIns="34650" rIns="69350" bIns="346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1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92;p13">
            <a:extLst>
              <a:ext uri="{FF2B5EF4-FFF2-40B4-BE49-F238E27FC236}">
                <a16:creationId xmlns:a16="http://schemas.microsoft.com/office/drawing/2014/main" id="{459ED272-CAF0-2455-DE01-7B56D9AAA0C6}"/>
              </a:ext>
            </a:extLst>
          </p:cNvPr>
          <p:cNvSpPr txBox="1"/>
          <p:nvPr/>
        </p:nvSpPr>
        <p:spPr>
          <a:xfrm>
            <a:off x="6213626" y="3608688"/>
            <a:ext cx="2028037" cy="239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350" tIns="34650" rIns="69350" bIns="346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HEI</a:t>
            </a:r>
            <a:endParaRPr sz="11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93;p13">
            <a:extLst>
              <a:ext uri="{FF2B5EF4-FFF2-40B4-BE49-F238E27FC236}">
                <a16:creationId xmlns:a16="http://schemas.microsoft.com/office/drawing/2014/main" id="{06B96FAA-8EA6-A6BF-859B-902818D29C33}"/>
              </a:ext>
            </a:extLst>
          </p:cNvPr>
          <p:cNvSpPr txBox="1"/>
          <p:nvPr/>
        </p:nvSpPr>
        <p:spPr>
          <a:xfrm>
            <a:off x="6029326" y="3832876"/>
            <a:ext cx="2141769" cy="408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350" tIns="34650" rIns="69350" bIns="34650" anchor="t" anchorCtr="0">
            <a:spAutoFit/>
          </a:bodyPr>
          <a:lstStyle/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0000"/>
                </a:solidFill>
              </a:rPr>
              <a:t>## HEIs, producing </a:t>
            </a:r>
            <a:r>
              <a:rPr lang="en-US" sz="1100" b="1" dirty="0">
                <a:solidFill>
                  <a:srgbClr val="000000"/>
                </a:solidFill>
              </a:rPr>
              <a:t>##,### </a:t>
            </a:r>
            <a:r>
              <a:rPr lang="en-US" sz="1100" dirty="0">
                <a:solidFill>
                  <a:srgbClr val="000000"/>
                </a:solidFill>
              </a:rPr>
              <a:t>of graduates every year</a:t>
            </a:r>
            <a:endParaRPr sz="1100" dirty="0">
              <a:solidFill>
                <a:srgbClr val="000000"/>
              </a:solidFill>
            </a:endParaRPr>
          </a:p>
        </p:txBody>
      </p:sp>
      <p:sp>
        <p:nvSpPr>
          <p:cNvPr id="78" name="Google Shape;60;p13">
            <a:extLst>
              <a:ext uri="{FF2B5EF4-FFF2-40B4-BE49-F238E27FC236}">
                <a16:creationId xmlns:a16="http://schemas.microsoft.com/office/drawing/2014/main" id="{91C8F279-FDB8-9D4A-D9AF-713CED9B81EA}"/>
              </a:ext>
            </a:extLst>
          </p:cNvPr>
          <p:cNvSpPr txBox="1"/>
          <p:nvPr/>
        </p:nvSpPr>
        <p:spPr>
          <a:xfrm>
            <a:off x="476687" y="4328432"/>
            <a:ext cx="2615483" cy="285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350" tIns="34650" rIns="69350" bIns="3465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dirty="0"/>
              <a:t>LABOR FORCE (LF)</a:t>
            </a:r>
            <a:endParaRPr sz="14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66;p13">
            <a:extLst>
              <a:ext uri="{FF2B5EF4-FFF2-40B4-BE49-F238E27FC236}">
                <a16:creationId xmlns:a16="http://schemas.microsoft.com/office/drawing/2014/main" id="{AFCF2813-3AC6-F55B-E033-10FDD1A3FA63}"/>
              </a:ext>
            </a:extLst>
          </p:cNvPr>
          <p:cNvSpPr/>
          <p:nvPr/>
        </p:nvSpPr>
        <p:spPr>
          <a:xfrm>
            <a:off x="720058" y="4342556"/>
            <a:ext cx="245550" cy="230244"/>
          </a:xfrm>
          <a:custGeom>
            <a:avLst/>
            <a:gdLst/>
            <a:ahLst/>
            <a:cxnLst/>
            <a:rect l="l" t="t" r="r" b="b"/>
            <a:pathLst>
              <a:path w="11504" h="11504" extrusionOk="0">
                <a:moveTo>
                  <a:pt x="1" y="1"/>
                </a:moveTo>
                <a:lnTo>
                  <a:pt x="1" y="11503"/>
                </a:lnTo>
                <a:lnTo>
                  <a:pt x="11503" y="11503"/>
                </a:lnTo>
                <a:lnTo>
                  <a:pt x="11503" y="10241"/>
                </a:lnTo>
                <a:lnTo>
                  <a:pt x="10908" y="10241"/>
                </a:lnTo>
                <a:lnTo>
                  <a:pt x="10908" y="10789"/>
                </a:lnTo>
                <a:lnTo>
                  <a:pt x="10146" y="10789"/>
                </a:lnTo>
                <a:lnTo>
                  <a:pt x="10146" y="5026"/>
                </a:lnTo>
                <a:lnTo>
                  <a:pt x="8288" y="6383"/>
                </a:lnTo>
                <a:lnTo>
                  <a:pt x="7312" y="5931"/>
                </a:lnTo>
                <a:lnTo>
                  <a:pt x="5883" y="7574"/>
                </a:lnTo>
                <a:lnTo>
                  <a:pt x="4740" y="7002"/>
                </a:lnTo>
                <a:lnTo>
                  <a:pt x="3192" y="8907"/>
                </a:lnTo>
                <a:lnTo>
                  <a:pt x="2168" y="8526"/>
                </a:lnTo>
                <a:lnTo>
                  <a:pt x="763" y="10003"/>
                </a:lnTo>
                <a:lnTo>
                  <a:pt x="763" y="9027"/>
                </a:lnTo>
                <a:lnTo>
                  <a:pt x="1977" y="7717"/>
                </a:lnTo>
                <a:lnTo>
                  <a:pt x="3001" y="8098"/>
                </a:lnTo>
                <a:lnTo>
                  <a:pt x="4573" y="6169"/>
                </a:lnTo>
                <a:lnTo>
                  <a:pt x="5692" y="6740"/>
                </a:lnTo>
                <a:lnTo>
                  <a:pt x="7097" y="5097"/>
                </a:lnTo>
                <a:lnTo>
                  <a:pt x="8169" y="5597"/>
                </a:lnTo>
                <a:lnTo>
                  <a:pt x="10098" y="4240"/>
                </a:lnTo>
                <a:lnTo>
                  <a:pt x="10098" y="2192"/>
                </a:lnTo>
                <a:lnTo>
                  <a:pt x="8884" y="2954"/>
                </a:lnTo>
                <a:lnTo>
                  <a:pt x="7669" y="2716"/>
                </a:lnTo>
                <a:lnTo>
                  <a:pt x="5526" y="4811"/>
                </a:lnTo>
                <a:lnTo>
                  <a:pt x="4549" y="4478"/>
                </a:lnTo>
                <a:lnTo>
                  <a:pt x="2668" y="6502"/>
                </a:lnTo>
                <a:lnTo>
                  <a:pt x="1811" y="5954"/>
                </a:lnTo>
                <a:lnTo>
                  <a:pt x="739" y="7193"/>
                </a:lnTo>
                <a:lnTo>
                  <a:pt x="739" y="692"/>
                </a:lnTo>
                <a:lnTo>
                  <a:pt x="1263" y="692"/>
                </a:lnTo>
                <a:lnTo>
                  <a:pt x="1263" y="1"/>
                </a:lnTo>
                <a:close/>
              </a:path>
            </a:pathLst>
          </a:custGeom>
          <a:solidFill>
            <a:srgbClr val="BF1F26"/>
          </a:solidFill>
          <a:ln>
            <a:noFill/>
          </a:ln>
        </p:spPr>
        <p:txBody>
          <a:bodyPr spcFirstLastPara="1" wrap="square" lIns="92450" tIns="92450" rIns="92450" bIns="92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20"/>
              <a:buFont typeface="Calibri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59;p13">
            <a:extLst>
              <a:ext uri="{FF2B5EF4-FFF2-40B4-BE49-F238E27FC236}">
                <a16:creationId xmlns:a16="http://schemas.microsoft.com/office/drawing/2014/main" id="{1A437250-E6AA-B79D-12AB-13C4D504EF74}"/>
              </a:ext>
            </a:extLst>
          </p:cNvPr>
          <p:cNvSpPr/>
          <p:nvPr/>
        </p:nvSpPr>
        <p:spPr>
          <a:xfrm>
            <a:off x="8596492" y="1429585"/>
            <a:ext cx="3202217" cy="25263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530" dist="28897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69350" tIns="34650" rIns="69350" bIns="346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60;p13">
            <a:extLst>
              <a:ext uri="{FF2B5EF4-FFF2-40B4-BE49-F238E27FC236}">
                <a16:creationId xmlns:a16="http://schemas.microsoft.com/office/drawing/2014/main" id="{84FD2312-E656-3BC1-DD73-7DB07893ABED}"/>
              </a:ext>
            </a:extLst>
          </p:cNvPr>
          <p:cNvSpPr txBox="1"/>
          <p:nvPr/>
        </p:nvSpPr>
        <p:spPr>
          <a:xfrm>
            <a:off x="9376674" y="1387783"/>
            <a:ext cx="1885228" cy="285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350" tIns="34650" rIns="69350" bIns="3465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dirty="0"/>
              <a:t>DEMAND</a:t>
            </a:r>
            <a:endParaRPr sz="14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" name="Google Shape;61;p13">
            <a:extLst>
              <a:ext uri="{FF2B5EF4-FFF2-40B4-BE49-F238E27FC236}">
                <a16:creationId xmlns:a16="http://schemas.microsoft.com/office/drawing/2014/main" id="{76050EAA-4744-4D19-3C0B-866378B25F75}"/>
              </a:ext>
            </a:extLst>
          </p:cNvPr>
          <p:cNvGrpSpPr/>
          <p:nvPr/>
        </p:nvGrpSpPr>
        <p:grpSpPr>
          <a:xfrm>
            <a:off x="9589385" y="1421382"/>
            <a:ext cx="208868" cy="208018"/>
            <a:chOff x="6459594" y="2439037"/>
            <a:chExt cx="342519" cy="341125"/>
          </a:xfrm>
        </p:grpSpPr>
        <p:sp>
          <p:nvSpPr>
            <p:cNvPr id="16" name="Google Shape;62;p13">
              <a:extLst>
                <a:ext uri="{FF2B5EF4-FFF2-40B4-BE49-F238E27FC236}">
                  <a16:creationId xmlns:a16="http://schemas.microsoft.com/office/drawing/2014/main" id="{141BD3FC-3CD3-7421-9071-E809C985E005}"/>
                </a:ext>
              </a:extLst>
            </p:cNvPr>
            <p:cNvSpPr/>
            <p:nvPr/>
          </p:nvSpPr>
          <p:spPr>
            <a:xfrm>
              <a:off x="6473709" y="2452469"/>
              <a:ext cx="146898" cy="146898"/>
            </a:xfrm>
            <a:custGeom>
              <a:avLst/>
              <a:gdLst/>
              <a:ahLst/>
              <a:cxnLst/>
              <a:rect l="l" t="t" r="r" b="b"/>
              <a:pathLst>
                <a:path w="4954" h="4954" extrusionOk="0">
                  <a:moveTo>
                    <a:pt x="4954" y="0"/>
                  </a:moveTo>
                  <a:cubicBezTo>
                    <a:pt x="2287" y="191"/>
                    <a:pt x="191" y="2286"/>
                    <a:pt x="0" y="4954"/>
                  </a:cubicBezTo>
                  <a:lnTo>
                    <a:pt x="4954" y="4954"/>
                  </a:lnTo>
                  <a:lnTo>
                    <a:pt x="4954" y="0"/>
                  </a:lnTo>
                  <a:close/>
                </a:path>
              </a:pathLst>
            </a:custGeom>
            <a:solidFill>
              <a:srgbClr val="BF1F26"/>
            </a:solidFill>
            <a:ln>
              <a:noFill/>
            </a:ln>
          </p:spPr>
          <p:txBody>
            <a:bodyPr spcFirstLastPara="1" wrap="square" lIns="92450" tIns="92450" rIns="92450" bIns="92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20"/>
                <a:buFont typeface="Calibri"/>
                <a:buNone/>
              </a:pPr>
              <a:endParaRPr sz="182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63;p13">
              <a:extLst>
                <a:ext uri="{FF2B5EF4-FFF2-40B4-BE49-F238E27FC236}">
                  <a16:creationId xmlns:a16="http://schemas.microsoft.com/office/drawing/2014/main" id="{BE68CDB9-3A56-112E-8351-627C77A44685}"/>
                </a:ext>
              </a:extLst>
            </p:cNvPr>
            <p:cNvSpPr/>
            <p:nvPr/>
          </p:nvSpPr>
          <p:spPr>
            <a:xfrm>
              <a:off x="6641782" y="2439037"/>
              <a:ext cx="160331" cy="161043"/>
            </a:xfrm>
            <a:custGeom>
              <a:avLst/>
              <a:gdLst/>
              <a:ahLst/>
              <a:cxnLst/>
              <a:rect l="l" t="t" r="r" b="b"/>
              <a:pathLst>
                <a:path w="5407" h="5431" extrusionOk="0">
                  <a:moveTo>
                    <a:pt x="2810" y="2120"/>
                  </a:moveTo>
                  <a:lnTo>
                    <a:pt x="2810" y="2811"/>
                  </a:lnTo>
                  <a:lnTo>
                    <a:pt x="977" y="2811"/>
                  </a:lnTo>
                  <a:lnTo>
                    <a:pt x="977" y="2120"/>
                  </a:lnTo>
                  <a:close/>
                  <a:moveTo>
                    <a:pt x="2810" y="3740"/>
                  </a:moveTo>
                  <a:lnTo>
                    <a:pt x="2810" y="4406"/>
                  </a:lnTo>
                  <a:lnTo>
                    <a:pt x="977" y="4406"/>
                  </a:lnTo>
                  <a:lnTo>
                    <a:pt x="977" y="3740"/>
                  </a:lnTo>
                  <a:close/>
                  <a:moveTo>
                    <a:pt x="0" y="1"/>
                  </a:moveTo>
                  <a:lnTo>
                    <a:pt x="0" y="5431"/>
                  </a:lnTo>
                  <a:lnTo>
                    <a:pt x="5406" y="5431"/>
                  </a:lnTo>
                  <a:cubicBezTo>
                    <a:pt x="5239" y="2501"/>
                    <a:pt x="2882" y="144"/>
                    <a:pt x="0" y="1"/>
                  </a:cubicBezTo>
                  <a:close/>
                </a:path>
              </a:pathLst>
            </a:custGeom>
            <a:solidFill>
              <a:srgbClr val="BF1F26"/>
            </a:solidFill>
            <a:ln>
              <a:noFill/>
            </a:ln>
          </p:spPr>
          <p:txBody>
            <a:bodyPr spcFirstLastPara="1" wrap="square" lIns="92450" tIns="92450" rIns="92450" bIns="92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20"/>
                <a:buFont typeface="Calibri"/>
                <a:buNone/>
              </a:pPr>
              <a:endParaRPr sz="182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64;p13">
              <a:extLst>
                <a:ext uri="{FF2B5EF4-FFF2-40B4-BE49-F238E27FC236}">
                  <a16:creationId xmlns:a16="http://schemas.microsoft.com/office/drawing/2014/main" id="{1CA3D730-2748-EE68-09FB-70DACBCE5B2C}"/>
                </a:ext>
              </a:extLst>
            </p:cNvPr>
            <p:cNvSpPr/>
            <p:nvPr/>
          </p:nvSpPr>
          <p:spPr>
            <a:xfrm>
              <a:off x="6641782" y="2619119"/>
              <a:ext cx="146187" cy="146898"/>
            </a:xfrm>
            <a:custGeom>
              <a:avLst/>
              <a:gdLst/>
              <a:ahLst/>
              <a:cxnLst/>
              <a:rect l="l" t="t" r="r" b="b"/>
              <a:pathLst>
                <a:path w="4930" h="4954" extrusionOk="0">
                  <a:moveTo>
                    <a:pt x="0" y="0"/>
                  </a:moveTo>
                  <a:lnTo>
                    <a:pt x="0" y="4954"/>
                  </a:lnTo>
                  <a:cubicBezTo>
                    <a:pt x="2644" y="4763"/>
                    <a:pt x="4763" y="2668"/>
                    <a:pt x="4930" y="0"/>
                  </a:cubicBezTo>
                  <a:close/>
                </a:path>
              </a:pathLst>
            </a:custGeom>
            <a:solidFill>
              <a:srgbClr val="BF1F26"/>
            </a:solidFill>
            <a:ln>
              <a:noFill/>
            </a:ln>
          </p:spPr>
          <p:txBody>
            <a:bodyPr spcFirstLastPara="1" wrap="square" lIns="92450" tIns="92450" rIns="92450" bIns="92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20"/>
                <a:buFont typeface="Calibri"/>
                <a:buNone/>
              </a:pPr>
              <a:endParaRPr sz="182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65;p13">
              <a:extLst>
                <a:ext uri="{FF2B5EF4-FFF2-40B4-BE49-F238E27FC236}">
                  <a16:creationId xmlns:a16="http://schemas.microsoft.com/office/drawing/2014/main" id="{3D4BA24B-A59E-5998-7576-530012F3C91A}"/>
                </a:ext>
              </a:extLst>
            </p:cNvPr>
            <p:cNvSpPr/>
            <p:nvPr/>
          </p:nvSpPr>
          <p:spPr>
            <a:xfrm>
              <a:off x="6459594" y="2619119"/>
              <a:ext cx="161013" cy="161043"/>
            </a:xfrm>
            <a:custGeom>
              <a:avLst/>
              <a:gdLst/>
              <a:ahLst/>
              <a:cxnLst/>
              <a:rect l="l" t="t" r="r" b="b"/>
              <a:pathLst>
                <a:path w="5430" h="5431" extrusionOk="0">
                  <a:moveTo>
                    <a:pt x="4430" y="1001"/>
                  </a:moveTo>
                  <a:lnTo>
                    <a:pt x="4430" y="1668"/>
                  </a:lnTo>
                  <a:lnTo>
                    <a:pt x="2596" y="1668"/>
                  </a:lnTo>
                  <a:lnTo>
                    <a:pt x="2596" y="1001"/>
                  </a:lnTo>
                  <a:close/>
                  <a:moveTo>
                    <a:pt x="4430" y="2620"/>
                  </a:moveTo>
                  <a:lnTo>
                    <a:pt x="4430" y="3311"/>
                  </a:lnTo>
                  <a:lnTo>
                    <a:pt x="2596" y="3311"/>
                  </a:lnTo>
                  <a:lnTo>
                    <a:pt x="2596" y="2620"/>
                  </a:lnTo>
                  <a:close/>
                  <a:moveTo>
                    <a:pt x="0" y="0"/>
                  </a:moveTo>
                  <a:cubicBezTo>
                    <a:pt x="191" y="2930"/>
                    <a:pt x="2501" y="5240"/>
                    <a:pt x="5430" y="5430"/>
                  </a:cubicBezTo>
                  <a:lnTo>
                    <a:pt x="5430" y="0"/>
                  </a:lnTo>
                  <a:close/>
                </a:path>
              </a:pathLst>
            </a:custGeom>
            <a:solidFill>
              <a:srgbClr val="BF1F26"/>
            </a:solidFill>
            <a:ln>
              <a:noFill/>
            </a:ln>
          </p:spPr>
          <p:txBody>
            <a:bodyPr spcFirstLastPara="1" wrap="square" lIns="92450" tIns="92450" rIns="92450" bIns="92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20"/>
                <a:buFont typeface="Calibri"/>
                <a:buNone/>
              </a:pPr>
              <a:endParaRPr sz="182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05" name="Picture 104" descr="A graph of sales growth&#10;&#10;AI-generated content may be incorrect.">
            <a:extLst>
              <a:ext uri="{FF2B5EF4-FFF2-40B4-BE49-F238E27FC236}">
                <a16:creationId xmlns:a16="http://schemas.microsoft.com/office/drawing/2014/main" id="{F0CA5597-D686-7EC3-507C-360C7EFBAC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3824" y="2747231"/>
            <a:ext cx="2268078" cy="1644528"/>
          </a:xfrm>
          <a:prstGeom prst="rect">
            <a:avLst/>
          </a:prstGeom>
        </p:spPr>
      </p:pic>
      <p:sp>
        <p:nvSpPr>
          <p:cNvPr id="106" name="Google Shape;91;p13">
            <a:extLst>
              <a:ext uri="{FF2B5EF4-FFF2-40B4-BE49-F238E27FC236}">
                <a16:creationId xmlns:a16="http://schemas.microsoft.com/office/drawing/2014/main" id="{F98432FF-2B10-416F-DF15-1CD2F2A6BE5E}"/>
              </a:ext>
            </a:extLst>
          </p:cNvPr>
          <p:cNvSpPr/>
          <p:nvPr/>
        </p:nvSpPr>
        <p:spPr>
          <a:xfrm>
            <a:off x="8687832" y="1940396"/>
            <a:ext cx="188081" cy="176358"/>
          </a:xfrm>
          <a:prstGeom prst="ellipse">
            <a:avLst/>
          </a:prstGeom>
          <a:solidFill>
            <a:srgbClr val="F58820"/>
          </a:solidFill>
          <a:ln>
            <a:noFill/>
          </a:ln>
        </p:spPr>
        <p:txBody>
          <a:bodyPr spcFirstLastPara="1" wrap="square" lIns="69350" tIns="34650" rIns="69350" bIns="346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1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92;p13">
            <a:extLst>
              <a:ext uri="{FF2B5EF4-FFF2-40B4-BE49-F238E27FC236}">
                <a16:creationId xmlns:a16="http://schemas.microsoft.com/office/drawing/2014/main" id="{C9AAFBE5-E53C-5B49-BAB5-530BFD654956}"/>
              </a:ext>
            </a:extLst>
          </p:cNvPr>
          <p:cNvSpPr txBox="1"/>
          <p:nvPr/>
        </p:nvSpPr>
        <p:spPr>
          <a:xfrm>
            <a:off x="8822199" y="1925658"/>
            <a:ext cx="2028037" cy="239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350" tIns="34650" rIns="69350" bIns="346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Admin &amp; Support (##% LF)</a:t>
            </a:r>
            <a:endParaRPr sz="11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91;p13">
            <a:extLst>
              <a:ext uri="{FF2B5EF4-FFF2-40B4-BE49-F238E27FC236}">
                <a16:creationId xmlns:a16="http://schemas.microsoft.com/office/drawing/2014/main" id="{847F05F6-8642-2DEE-C64B-47A069F5E7D7}"/>
              </a:ext>
            </a:extLst>
          </p:cNvPr>
          <p:cNvSpPr/>
          <p:nvPr/>
        </p:nvSpPr>
        <p:spPr>
          <a:xfrm>
            <a:off x="8691613" y="2219970"/>
            <a:ext cx="188081" cy="176358"/>
          </a:xfrm>
          <a:prstGeom prst="ellipse">
            <a:avLst/>
          </a:prstGeom>
          <a:solidFill>
            <a:srgbClr val="F58820"/>
          </a:solidFill>
          <a:ln>
            <a:noFill/>
          </a:ln>
        </p:spPr>
        <p:txBody>
          <a:bodyPr spcFirstLastPara="1" wrap="square" lIns="69350" tIns="34650" rIns="69350" bIns="346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1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92;p13">
            <a:extLst>
              <a:ext uri="{FF2B5EF4-FFF2-40B4-BE49-F238E27FC236}">
                <a16:creationId xmlns:a16="http://schemas.microsoft.com/office/drawing/2014/main" id="{C4DA1F0C-195E-5A10-1094-14C38C09C2B9}"/>
              </a:ext>
            </a:extLst>
          </p:cNvPr>
          <p:cNvSpPr txBox="1"/>
          <p:nvPr/>
        </p:nvSpPr>
        <p:spPr>
          <a:xfrm>
            <a:off x="8875913" y="2186164"/>
            <a:ext cx="2841463" cy="239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350" tIns="34650" rIns="69350" bIns="346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Retail, F&amp;B, Hospitality (##% of LF)</a:t>
            </a:r>
            <a:endParaRPr sz="11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96;p13">
            <a:extLst>
              <a:ext uri="{FF2B5EF4-FFF2-40B4-BE49-F238E27FC236}">
                <a16:creationId xmlns:a16="http://schemas.microsoft.com/office/drawing/2014/main" id="{C0027865-8C30-41DC-F932-BB995FD0E2A9}"/>
              </a:ext>
            </a:extLst>
          </p:cNvPr>
          <p:cNvSpPr txBox="1"/>
          <p:nvPr/>
        </p:nvSpPr>
        <p:spPr>
          <a:xfrm>
            <a:off x="8682577" y="2603817"/>
            <a:ext cx="4547428" cy="239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350" tIns="34650" rIns="69350" bIns="34650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0"/>
            </a:pPr>
            <a:r>
              <a:rPr lang="en-US" sz="1100" u="sng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YoY Change in Demand per Top Sectors</a:t>
            </a:r>
            <a:endParaRPr sz="1100" u="sng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68;p13">
            <a:extLst>
              <a:ext uri="{FF2B5EF4-FFF2-40B4-BE49-F238E27FC236}">
                <a16:creationId xmlns:a16="http://schemas.microsoft.com/office/drawing/2014/main" id="{EFA0ECCB-3929-1D00-6A8F-94A0DF434A93}"/>
              </a:ext>
            </a:extLst>
          </p:cNvPr>
          <p:cNvSpPr/>
          <p:nvPr/>
        </p:nvSpPr>
        <p:spPr>
          <a:xfrm>
            <a:off x="8593936" y="1780683"/>
            <a:ext cx="3202217" cy="2700903"/>
          </a:xfrm>
          <a:prstGeom prst="rect">
            <a:avLst/>
          </a:prstGeom>
          <a:noFill/>
          <a:ln w="14450" cap="flat" cmpd="sng">
            <a:solidFill>
              <a:srgbClr val="BFBFBF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69350" tIns="34650" rIns="69350" bIns="346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Slide Number Placeholder 115">
            <a:extLst>
              <a:ext uri="{FF2B5EF4-FFF2-40B4-BE49-F238E27FC236}">
                <a16:creationId xmlns:a16="http://schemas.microsoft.com/office/drawing/2014/main" id="{7E613197-1EBC-DF20-A4ED-BF851C231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8585" y="6434260"/>
            <a:ext cx="2743200" cy="365125"/>
          </a:xfrm>
        </p:spPr>
        <p:txBody>
          <a:bodyPr/>
          <a:lstStyle/>
          <a:p>
            <a:fld id="{50B6FB21-2085-AB4E-A540-3FC8A1AE1B59}" type="slidenum">
              <a:rPr lang="en-US" smtClean="0"/>
              <a:t>3</a:t>
            </a:fld>
            <a:endParaRPr lang="en-US" dirty="0"/>
          </a:p>
        </p:txBody>
      </p:sp>
      <p:sp>
        <p:nvSpPr>
          <p:cNvPr id="117" name="Google Shape;96;p13">
            <a:extLst>
              <a:ext uri="{FF2B5EF4-FFF2-40B4-BE49-F238E27FC236}">
                <a16:creationId xmlns:a16="http://schemas.microsoft.com/office/drawing/2014/main" id="{C25CDD15-70C9-8B1D-1D6A-A4E5D4520204}"/>
              </a:ext>
            </a:extLst>
          </p:cNvPr>
          <p:cNvSpPr txBox="1"/>
          <p:nvPr/>
        </p:nvSpPr>
        <p:spPr>
          <a:xfrm>
            <a:off x="856469" y="5652865"/>
            <a:ext cx="3328997" cy="408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350" tIns="34650" rIns="69350" bIns="34650" anchor="t" anchorCtr="0">
            <a:spAutoFit/>
          </a:bodyPr>
          <a:lstStyle/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Unemployment Rate: #.#%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Median age: ##</a:t>
            </a:r>
            <a:endParaRPr sz="11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230776A5-7C55-4B79-0464-12A35A88135F}"/>
              </a:ext>
            </a:extLst>
          </p:cNvPr>
          <p:cNvSpPr/>
          <p:nvPr/>
        </p:nvSpPr>
        <p:spPr>
          <a:xfrm>
            <a:off x="4185466" y="4756883"/>
            <a:ext cx="989410" cy="43642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30454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</TotalTime>
  <Words>392</Words>
  <Application>Microsoft Office PowerPoint</Application>
  <PresentationFormat>Widescreen</PresentationFormat>
  <Paragraphs>68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Office Theme</vt:lpstr>
      <vt:lpstr>NCR Analysis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Raymond Martin Castro</dc:creator>
  <cp:lastModifiedBy>Raymond Martin Castro</cp:lastModifiedBy>
  <cp:revision>7</cp:revision>
  <dcterms:created xsi:type="dcterms:W3CDTF">2025-10-09T01:47:10Z</dcterms:created>
  <dcterms:modified xsi:type="dcterms:W3CDTF">2025-10-10T01:58:22Z</dcterms:modified>
</cp:coreProperties>
</file>