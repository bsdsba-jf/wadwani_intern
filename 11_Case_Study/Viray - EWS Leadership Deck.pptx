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ssue" id="{52484B1D-84C7-7B9C-5936-C5DA373E96AF}">
          <p14:sldIdLst>
            <p14:sldId id="256"/>
          </p14:sldIdLst>
        </p14:section>
        <p14:section name="Pacing model" id="{66519AAD-D142-8773-5005-117BFF11E61A}">
          <p14:sldIdLst>
            <p14:sldId id="257"/>
          </p14:sldIdLst>
        </p14:section>
        <p14:section name="Thresholds" id="{332B8ABF-C8B4-B12D-FF80-9B93B9ED5CE7}">
          <p14:sldIdLst>
            <p14:sldId id="258"/>
          </p14:sldIdLst>
        </p14:section>
        <p14:section name="Solution" id="{4019342A-C5F8-B3D8-B205-F9A23A22F071}">
          <p14:sldIdLst>
            <p14:sldId id="259"/>
          </p14:sldIdLst>
        </p14:section>
        <p14:section name="Outcome linkage" id="{0249B5DB-A3C5-461F-9D6E-4D712A3AC0C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>
        <p:scale>
          <a:sx n="149" d="100"/>
          <a:sy n="149" d="100"/>
        </p:scale>
        <p:origin x="4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6B"/>
                </a:solidFill>
                <a:latin typeface="+mn-lt"/>
              </a:defRPr>
            </a:pPr>
            <a:r>
              <a:rPr lang="en-PH" sz="1200" b="0" i="0" u="none" strike="noStrike">
                <a:solidFill>
                  <a:srgbClr val="1B2A6B"/>
                </a:solidFill>
                <a:latin typeface="+mn-lt"/>
              </a:rPr>
              <a:t>Average lesson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Early finishers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Quiz 7 checkpoint</c:v>
                </c:pt>
                <c:pt idx="1">
                  <c:v>Quiz 14 checkpoint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41.8</c:v>
                </c:pt>
                <c:pt idx="1">
                  <c:v>44.27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42-0645-8D7F-3B2B13AF18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students</c:v>
                </c:pt>
              </c:strCache>
            </c:strRef>
          </c:tx>
          <c:spPr>
            <a:solidFill>
              <a:srgbClr val="1B2A6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Quiz 7 checkpoint</c:v>
                </c:pt>
                <c:pt idx="1">
                  <c:v>Quiz 14 checkpoint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49.78</c:v>
                </c:pt>
                <c:pt idx="1">
                  <c:v>50.48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42-0645-8D7F-3B2B13AF18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9D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814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scores were relatively similar between early and other students; the gap shows up in lesson scores. Cohen's d: -0.51 (7 quizzes), -0.41 (14 quizzes).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25367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</a:rPr>
              <a:t>UDFI Philippines  |  Impact Measurement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D1F2"/>
                </a:solidFill>
              </a:rPr>
              <a:t>JOB READY PROGRAM  |  UDFI PHILIPPINES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are finishing the Job Ready Program too quickly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3B0"/>
                </a:solidFill>
              </a:rPr>
              <a:t>Problem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How do we tell whether a student is learning too quickly, at the cost of understanding?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3B0"/>
                </a:solidFill>
              </a:rPr>
              <a:t>Response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 Early Warning System that alerts teachers when a student completes too many quizzes too quickly, and shows relationship managers which teachers need support.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594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2,290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325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F2"/>
                </a:solidFill>
              </a:rPr>
              <a:t>students enrolled in the Job Ready Program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057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 (10%)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F2"/>
                </a:solidFill>
              </a:rPr>
              <a:t>completed all 14 quizzes in under 11 days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days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4251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F2"/>
                </a:solidFill>
              </a:rPr>
              <a:t>expected course duration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F33AE3-8405-7C01-4283-6FC9B59D5BE6}"/>
              </a:ext>
            </a:extLst>
          </p:cNvPr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 finish quizzes in burst, so a simple gap rule would raise false alarms. </a:t>
            </a:r>
            <a:endParaRPr lang="en-US" sz="2600" dirty="0"/>
          </a:p>
        </p:txBody>
      </p:sp>
      <p:sp>
        <p:nvSpPr>
          <p:cNvPr id="5" name="Threshold card 1">
            <a:extLst>
              <a:ext uri="{FF2B5EF4-FFF2-40B4-BE49-F238E27FC236}">
                <a16:creationId xmlns:a16="http://schemas.microsoft.com/office/drawing/2014/main" id="{93D24E6C-3E5E-3A9B-8117-97285CF2DF59}"/>
              </a:ext>
            </a:extLst>
          </p:cNvPr>
          <p:cNvSpPr/>
          <p:nvPr/>
        </p:nvSpPr>
        <p:spPr>
          <a:xfrm>
            <a:off x="5572396" y="1280160"/>
            <a:ext cx="3108960" cy="997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4429753-D083-9E07-A7E6-F83E678F364B}"/>
              </a:ext>
            </a:extLst>
          </p:cNvPr>
          <p:cNvSpPr txBox="1"/>
          <p:nvPr/>
        </p:nvSpPr>
        <p:spPr>
          <a:xfrm>
            <a:off x="5755276" y="1918833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tx2"/>
                </a:solidFill>
              </a:rPr>
              <a:t>Median time to complete one quiz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66BDAF5-E6AF-8049-CF6C-1CB9D03CCF57}"/>
              </a:ext>
            </a:extLst>
          </p:cNvPr>
          <p:cNvSpPr txBox="1"/>
          <p:nvPr/>
        </p:nvSpPr>
        <p:spPr>
          <a:xfrm>
            <a:off x="5755276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days</a:t>
            </a:r>
            <a:endParaRPr lang="en-US" sz="2400" dirty="0"/>
          </a:p>
        </p:txBody>
      </p:sp>
      <p:sp>
        <p:nvSpPr>
          <p:cNvPr id="8" name="Threshold card 1">
            <a:extLst>
              <a:ext uri="{FF2B5EF4-FFF2-40B4-BE49-F238E27FC236}">
                <a16:creationId xmlns:a16="http://schemas.microsoft.com/office/drawing/2014/main" id="{0F4ACE43-6435-CBB2-8B52-741AEEFB5451}"/>
              </a:ext>
            </a:extLst>
          </p:cNvPr>
          <p:cNvSpPr/>
          <p:nvPr/>
        </p:nvSpPr>
        <p:spPr>
          <a:xfrm>
            <a:off x="5572396" y="2420346"/>
            <a:ext cx="3108960" cy="997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E93A005-45F0-2DAF-7585-7239CE614CCC}"/>
              </a:ext>
            </a:extLst>
          </p:cNvPr>
          <p:cNvSpPr txBox="1"/>
          <p:nvPr/>
        </p:nvSpPr>
        <p:spPr>
          <a:xfrm>
            <a:off x="5755276" y="305901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tx2"/>
                </a:solidFill>
              </a:rPr>
              <a:t>Median time to complete all quizzes</a:t>
            </a:r>
            <a:endParaRPr lang="en-US" sz="11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3237438-89D5-7FEB-A294-B2916D0A9849}"/>
              </a:ext>
            </a:extLst>
          </p:cNvPr>
          <p:cNvSpPr txBox="1"/>
          <p:nvPr/>
        </p:nvSpPr>
        <p:spPr>
          <a:xfrm>
            <a:off x="5755276" y="242034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 days</a:t>
            </a:r>
            <a:endParaRPr lang="en-US" sz="2400" dirty="0"/>
          </a:p>
        </p:txBody>
      </p:sp>
      <p:sp>
        <p:nvSpPr>
          <p:cNvPr id="11" name="Threshold card 1">
            <a:extLst>
              <a:ext uri="{FF2B5EF4-FFF2-40B4-BE49-F238E27FC236}">
                <a16:creationId xmlns:a16="http://schemas.microsoft.com/office/drawing/2014/main" id="{4C829A24-F113-3716-B2B6-7C8AFF04F911}"/>
              </a:ext>
            </a:extLst>
          </p:cNvPr>
          <p:cNvSpPr/>
          <p:nvPr/>
        </p:nvSpPr>
        <p:spPr>
          <a:xfrm>
            <a:off x="5572396" y="3560532"/>
            <a:ext cx="3108960" cy="99704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498EEBF-72E5-E992-4896-1D6945E11CF2}"/>
              </a:ext>
            </a:extLst>
          </p:cNvPr>
          <p:cNvSpPr txBox="1"/>
          <p:nvPr/>
        </p:nvSpPr>
        <p:spPr>
          <a:xfrm>
            <a:off x="5755276" y="419920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chemeClr val="tx2"/>
                </a:solidFill>
              </a:rPr>
              <a:t>Typically land together around day 21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80AEDCA-E98C-5BC2-9187-F711D82DC502}"/>
              </a:ext>
            </a:extLst>
          </p:cNvPr>
          <p:cNvSpPr txBox="1"/>
          <p:nvPr/>
        </p:nvSpPr>
        <p:spPr>
          <a:xfrm>
            <a:off x="5755276" y="35605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Quizzes 10-12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D7FF97-D3F5-0EE5-271B-BCD42E5CF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39" y="1486485"/>
            <a:ext cx="4925465" cy="2941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finishers score lower on lessons, so Quiz 7 and Quiz 14 become our checkpoints</a:t>
            </a:r>
            <a:endParaRPr lang="en-US" sz="2600" dirty="0"/>
          </a:p>
        </p:txBody>
      </p:sp>
      <p:sp>
        <p:nvSpPr>
          <p:cNvPr id="3" name="Threshold card 1"/>
          <p:cNvSpPr/>
          <p:nvPr/>
        </p:nvSpPr>
        <p:spPr>
          <a:xfrm>
            <a:off x="457200" y="1280160"/>
            <a:ext cx="31089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QUIZ 7 CHECKPOINT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quizzes </a:t>
            </a: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2 days</a:t>
            </a:r>
            <a:endParaRPr lang="en-US" sz="2400" dirty="0"/>
          </a:p>
        </p:txBody>
      </p:sp>
      <p:sp>
        <p:nvSpPr>
          <p:cNvPr id="6" name="Threshold card 2"/>
          <p:cNvSpPr/>
          <p:nvPr/>
        </p:nvSpPr>
        <p:spPr>
          <a:xfrm>
            <a:off x="457200" y="2651760"/>
            <a:ext cx="31089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2"/>
                </a:solidFill>
              </a:rPr>
              <a:t>QUIZ 14 CHECKPOINT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358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quizzes </a:t>
            </a: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5 days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2"/>
                </a:solidFill>
              </a:rPr>
              <a:t>Thresholds are set empirically from historical completion percentiles. Students inside either window are flagged as early.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931920" y="123444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Effect card 1"/>
          <p:cNvSpPr/>
          <p:nvPr/>
        </p:nvSpPr>
        <p:spPr>
          <a:xfrm>
            <a:off x="3931920" y="3657600"/>
            <a:ext cx="228600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06908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−0.51</a:t>
            </a:r>
            <a:r>
              <a:rPr lang="en-US" sz="1200" dirty="0">
                <a:solidFill>
                  <a:schemeClr val="tx1"/>
                </a:solidFill>
              </a:rPr>
              <a:t>   p = 0.0139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Moderate effect at Quiz 7</a:t>
            </a:r>
            <a:endParaRPr lang="en-US" sz="1600" dirty="0"/>
          </a:p>
        </p:txBody>
      </p:sp>
      <p:sp>
        <p:nvSpPr>
          <p:cNvPr id="13" name="Effect card 2"/>
          <p:cNvSpPr/>
          <p:nvPr/>
        </p:nvSpPr>
        <p:spPr>
          <a:xfrm>
            <a:off x="6400800" y="3657600"/>
            <a:ext cx="228600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537960" y="3703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−0.41</a:t>
            </a:r>
            <a:r>
              <a:rPr lang="en-US" sz="1200" dirty="0">
                <a:solidFill>
                  <a:schemeClr val="tx1"/>
                </a:solidFill>
              </a:rPr>
              <a:t>   p = 0.0047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Moderate effect at Quiz 14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Instructors review flagged students, and relationship managers act on patterns.</a:t>
            </a:r>
            <a:endParaRPr lang="en-US" sz="2600" dirty="0"/>
          </a:p>
        </p:txBody>
      </p:sp>
      <p:sp>
        <p:nvSpPr>
          <p:cNvPr id="3" name="Icon circle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Alerts for teach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for Faculty Instructors</a:t>
            </a:r>
            <a:endParaRPr lang="en-US" sz="1600" dirty="0"/>
          </a:p>
        </p:txBody>
      </p:sp>
      <p:sp>
        <p:nvSpPr>
          <p:cNvPr id="6" name="Screenshot frame"/>
          <p:cNvSpPr/>
          <p:nvPr/>
        </p:nvSpPr>
        <p:spPr>
          <a:xfrm>
            <a:off x="636075" y="1783080"/>
            <a:ext cx="3474720" cy="1776845"/>
          </a:xfrm>
          <a:prstGeom prst="rect">
            <a:avLst/>
          </a:prstGeom>
          <a:solidFill>
            <a:schemeClr val="bg2"/>
          </a:solidFill>
          <a:ln w="9525">
            <a:solidFill>
              <a:srgbClr val="D9DD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ototype dashboard: Alerts for teach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795" y="1828800"/>
            <a:ext cx="3395749" cy="16978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678797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 faculty instructor can check across the batch to see the overall health of the cohort, which would be based on the score of the quizzes.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They can also check in with the student on how they are doing and whether support is needed. They can see the a student’s journey compared to a regular student.</a:t>
            </a:r>
            <a:endParaRPr lang="en-US" sz="1100" dirty="0"/>
          </a:p>
        </p:txBody>
      </p:sp>
      <p:sp>
        <p:nvSpPr>
          <p:cNvPr id="9" name="Icon circle"/>
          <p:cNvSpPr/>
          <p:nvPr/>
        </p:nvSpPr>
        <p:spPr>
          <a:xfrm>
            <a:off x="466344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Assist from relationship manag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37160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636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for Relationship Managers</a:t>
            </a:r>
            <a:endParaRPr lang="en-US" sz="1600" dirty="0"/>
          </a:p>
        </p:txBody>
      </p:sp>
      <p:sp>
        <p:nvSpPr>
          <p:cNvPr id="12" name="Screenshot frame"/>
          <p:cNvSpPr/>
          <p:nvPr/>
        </p:nvSpPr>
        <p:spPr>
          <a:xfrm>
            <a:off x="4842315" y="1783080"/>
            <a:ext cx="3474720" cy="1776845"/>
          </a:xfrm>
          <a:prstGeom prst="rect">
            <a:avLst/>
          </a:prstGeom>
          <a:solidFill>
            <a:schemeClr val="bg2"/>
          </a:solidFill>
          <a:ln w="9525">
            <a:solidFill>
              <a:srgbClr val="D9DD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ototype dashboard: Assist from relationship manag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88035" y="1828800"/>
            <a:ext cx="3395749" cy="169787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63440" y="3678797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For </a:t>
            </a:r>
            <a:r>
              <a:rPr lang="en-US" sz="1100" dirty="0"/>
              <a:t>the</a:t>
            </a:r>
            <a:r>
              <a:rPr lang="en-US" sz="1100" dirty="0">
                <a:solidFill>
                  <a:schemeClr val="tx1"/>
                </a:solidFill>
              </a:rPr>
              <a:t> relationship manager, they can compare the institution-wide KPIs. If several teachers at one institution showing abnormal completion points to a program implementation issue, then the </a:t>
            </a:r>
            <a:r>
              <a:rPr lang="en-US" sz="1100" dirty="0"/>
              <a:t>relationship manager can </a:t>
            </a:r>
            <a:r>
              <a:rPr lang="en-US" sz="1100" dirty="0">
                <a:solidFill>
                  <a:schemeClr val="tx1"/>
                </a:solidFill>
              </a:rPr>
              <a:t>step in to support those teachers.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 is a flag, not a verdict: Outcome Linkage and Governance</a:t>
            </a:r>
            <a:endParaRPr lang="en-US" sz="2600" dirty="0"/>
          </a:p>
        </p:txBody>
      </p:sp>
      <p:sp>
        <p:nvSpPr>
          <p:cNvPr id="3" name="Card Graduation"/>
          <p:cNvSpPr/>
          <p:nvPr/>
        </p:nvSpPr>
        <p:spPr>
          <a:xfrm>
            <a:off x="457200" y="1280160"/>
            <a:ext cx="2560320" cy="3337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 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radu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 completers stay eligible if they meet program requirements.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EWS flags unusual pacing, not failure.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Lessons and transformation rate are checked alongside quizzes.</a:t>
            </a:r>
            <a:endParaRPr lang="en-US" sz="1300" dirty="0"/>
          </a:p>
        </p:txBody>
      </p:sp>
      <p:sp>
        <p:nvSpPr>
          <p:cNvPr id="8" name="Card Scalable verification"/>
          <p:cNvSpPr/>
          <p:nvPr/>
        </p:nvSpPr>
        <p:spPr>
          <a:xfrm>
            <a:off x="3291840" y="1280160"/>
            <a:ext cx="2560320" cy="3337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 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Scalable verific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verification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603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relationship manager stays the primary coordinator.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Teachers review the students flagged in their batches.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Relationship managers monitor patterns across teachers and institutions.</a:t>
            </a:r>
            <a:endParaRPr lang="en-US" sz="1300" dirty="0"/>
          </a:p>
        </p:txBody>
      </p:sp>
      <p:sp>
        <p:nvSpPr>
          <p:cNvPr id="13" name="Card Governance"/>
          <p:cNvSpPr/>
          <p:nvPr/>
        </p:nvSpPr>
        <p:spPr>
          <a:xfrm>
            <a:off x="6126480" y="1280160"/>
            <a:ext cx="2560320" cy="3337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 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Governa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5603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Teachers see only their own batches; managers only their institutions.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Thresholds are empirical, so review them with every new batch.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DFI EWS">
  <a:themeElements>
    <a:clrScheme name="UDFI EWS">
      <a:dk1>
        <a:srgbClr val="1F2433"/>
      </a:dk1>
      <a:lt1>
        <a:srgbClr val="FFFFFF"/>
      </a:lt1>
      <a:dk2>
        <a:srgbClr val="1B2A6B"/>
      </a:dk2>
      <a:lt2>
        <a:srgbClr val="F2F4F9"/>
      </a:lt2>
      <a:accent1>
        <a:srgbClr val="C8102E"/>
      </a:accent1>
      <a:accent2>
        <a:srgbClr val="1B2A6B"/>
      </a:accent2>
      <a:accent3>
        <a:srgbClr val="8A93B8"/>
      </a:accent3>
      <a:accent4>
        <a:srgbClr val="2F3F8F"/>
      </a:accent4>
      <a:accent5>
        <a:srgbClr val="5B6482"/>
      </a:accent5>
      <a:accent6>
        <a:srgbClr val="D9DDEB"/>
      </a:accent6>
      <a:hlink>
        <a:srgbClr val="1B2A6B"/>
      </a:hlink>
      <a:folHlink>
        <a:srgbClr val="5B6482"/>
      </a:folHlink>
    </a:clrScheme>
    <a:fontScheme name="UDFI EW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462</Words>
  <Application>Microsoft Macintosh PowerPoint</Application>
  <PresentationFormat>On-screen Show (16:9)</PresentationFormat>
  <Paragraphs>56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UDFI EWS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Completion Warning System</dc:title>
  <dc:subject>PptxGenJS Presentation</dc:subject>
  <dc:creator>Impact Measurement, UDFI Philippines</dc:creator>
  <cp:lastModifiedBy>Viray, John Y</cp:lastModifiedBy>
  <cp:revision>2</cp:revision>
  <dcterms:created xsi:type="dcterms:W3CDTF">2026-10-20T00:05:05Z</dcterms:created>
  <dcterms:modified xsi:type="dcterms:W3CDTF">2026-10-20T00:18:09Z</dcterms:modified>
</cp:coreProperties>
</file>